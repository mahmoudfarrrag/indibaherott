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5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96F62-62C6-41AA-ABAA-065C953B950C}" type="datetimeFigureOut">
              <a:rPr lang="en-GB" smtClean="0"/>
              <a:t>03/10/2026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B91EF9-8801-49F0-8378-87F726235463}" type="slidenum">
              <a:rPr lang="en-GB" smtClean="0"/>
              <a:t>‹#›</a:t>
            </a:fld>
            <a:endParaRPr lang="en-GB"/>
          </a:p>
        </p:txBody>
      </p:sp>
    </p:spTree>
    <p:extLst>
      <p:ext uri="{BB962C8B-B14F-4D97-AF65-F5344CB8AC3E}">
        <p14:creationId xmlns:p14="http://schemas.microsoft.com/office/powerpoint/2010/main" val="371315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Good morning. Today I will present two complementary technologies for rehabilitation, sports medicine and musculoskeletal clinics: INDIBA CT9 and ASA Laser HIRO TT. My focus is not only the devices themselves, but how a Product Specialist connects each technology to the right patient, the right workflow and a realistic business case.</a:t>
            </a:r>
          </a:p>
        </p:txBody>
      </p:sp>
      <p:sp>
        <p:nvSpPr>
          <p:cNvPr id="4" name="Slide Number Placeholder 3"/>
          <p:cNvSpPr>
            <a:spLocks noGrp="1"/>
          </p:cNvSpPr>
          <p:nvPr>
            <p:ph type="sldNum" sz="quarter" idx="5"/>
          </p:nvPr>
        </p:nvSpPr>
        <p:spPr/>
        <p:txBody>
          <a:bodyPr/>
          <a:lstStyle/>
          <a:p>
            <a:fld id="{72B91EF9-8801-49F0-8378-87F726235463}" type="slidenum">
              <a:rPr lang="en-GB" smtClean="0"/>
              <a:t>1</a:t>
            </a:fld>
            <a:endParaRPr lang="en-GB"/>
          </a:p>
        </p:txBody>
      </p:sp>
    </p:spTree>
    <p:extLst>
      <p:ext uri="{BB962C8B-B14F-4D97-AF65-F5344CB8AC3E}">
        <p14:creationId xmlns:p14="http://schemas.microsoft.com/office/powerpoint/2010/main" val="815400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My commercial thesis is simple. CT9 broadens a clinic's everyday capability because it is versatile and easy to integrate. HIRO TT deepens and differentiates the offer through high-intensity pulsed laser therapy and SmartCooler. My role is to understand the clinic's priority patient group, then recommend the technology that fits the clinical workflow and the business goal.</a:t>
            </a:r>
          </a:p>
        </p:txBody>
      </p:sp>
      <p:sp>
        <p:nvSpPr>
          <p:cNvPr id="4" name="Slide Number Placeholder 3"/>
          <p:cNvSpPr>
            <a:spLocks noGrp="1"/>
          </p:cNvSpPr>
          <p:nvPr>
            <p:ph type="sldNum" sz="quarter" idx="5"/>
          </p:nvPr>
        </p:nvSpPr>
        <p:spPr/>
        <p:txBody>
          <a:bodyPr/>
          <a:lstStyle/>
          <a:p>
            <a:fld id="{72B91EF9-8801-49F0-8378-87F726235463}" type="slidenum">
              <a:rPr lang="en-GB" smtClean="0"/>
              <a:t>2</a:t>
            </a:fld>
            <a:endParaRPr lang="en-GB"/>
          </a:p>
        </p:txBody>
      </p:sp>
    </p:spTree>
    <p:extLst>
      <p:ext uri="{BB962C8B-B14F-4D97-AF65-F5344CB8AC3E}">
        <p14:creationId xmlns:p14="http://schemas.microsoft.com/office/powerpoint/2010/main" val="3237719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INDIBA CT9 is a monopolar radiofrequency platform operating at a stable 448 kilohertz frequency. I would describe it as versatile rather than narrow. It offers thermal and non-thermal modes and can be combined with manual therapy, exercise and active rehabilitation. For a clinic, the value is broad utilization: several therapists can use it across different body areas and treatment pathways. I would stay within approved indications and explain that the device supports the clinician's overall rehabilitation plan.</a:t>
            </a:r>
          </a:p>
        </p:txBody>
      </p:sp>
      <p:sp>
        <p:nvSpPr>
          <p:cNvPr id="4" name="Slide Number Placeholder 3"/>
          <p:cNvSpPr>
            <a:spLocks noGrp="1"/>
          </p:cNvSpPr>
          <p:nvPr>
            <p:ph type="sldNum" sz="quarter" idx="5"/>
          </p:nvPr>
        </p:nvSpPr>
        <p:spPr/>
        <p:txBody>
          <a:bodyPr/>
          <a:lstStyle/>
          <a:p>
            <a:fld id="{72B91EF9-8801-49F0-8378-87F726235463}" type="slidenum">
              <a:rPr lang="en-GB" smtClean="0"/>
              <a:t>3</a:t>
            </a:fld>
            <a:endParaRPr lang="en-GB"/>
          </a:p>
        </p:txBody>
      </p:sp>
    </p:spTree>
    <p:extLst>
      <p:ext uri="{BB962C8B-B14F-4D97-AF65-F5344CB8AC3E}">
        <p14:creationId xmlns:p14="http://schemas.microsoft.com/office/powerpoint/2010/main" val="4003059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ASA HIRO TT is built around Hilterapia: a high-intensity pulsed Nd:YAG laser approach. The key sales story is depth and intensity, balanced by SmartCooler thermal exchange to support comfort and control. The memorable proof points are up to 15,000 watts per square centimeter, pulse durations up to 100 microseconds, and a SmartCooler range of 18 to 28 degrees Celsius. I would position HIRO TT when the clinic wants a focused, premium intervention for acute pain, deeper musculoskeletal targets or demanding sports cases.</a:t>
            </a:r>
          </a:p>
        </p:txBody>
      </p:sp>
      <p:sp>
        <p:nvSpPr>
          <p:cNvPr id="4" name="Slide Number Placeholder 3"/>
          <p:cNvSpPr>
            <a:spLocks noGrp="1"/>
          </p:cNvSpPr>
          <p:nvPr>
            <p:ph type="sldNum" sz="quarter" idx="5"/>
          </p:nvPr>
        </p:nvSpPr>
        <p:spPr/>
        <p:txBody>
          <a:bodyPr/>
          <a:lstStyle/>
          <a:p>
            <a:fld id="{72B91EF9-8801-49F0-8378-87F726235463}" type="slidenum">
              <a:rPr lang="en-GB" smtClean="0"/>
              <a:t>4</a:t>
            </a:fld>
            <a:endParaRPr lang="en-GB"/>
          </a:p>
        </p:txBody>
      </p:sp>
    </p:spTree>
    <p:extLst>
      <p:ext uri="{BB962C8B-B14F-4D97-AF65-F5344CB8AC3E}">
        <p14:creationId xmlns:p14="http://schemas.microsoft.com/office/powerpoint/2010/main" val="3888947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I would present the two technologies as complementary. CT9 can help settle symptoms, prepare tissue and integrate with manual therapy or exercise. HIRO TT can add a more focused, deeper intervention when appropriate. The patient then progresses through movement, exercise and measurable goals. This is more persuasive than presenting either device as a universal answer.</a:t>
            </a:r>
          </a:p>
        </p:txBody>
      </p:sp>
      <p:sp>
        <p:nvSpPr>
          <p:cNvPr id="4" name="Slide Number Placeholder 3"/>
          <p:cNvSpPr>
            <a:spLocks noGrp="1"/>
          </p:cNvSpPr>
          <p:nvPr>
            <p:ph type="sldNum" sz="quarter" idx="5"/>
          </p:nvPr>
        </p:nvSpPr>
        <p:spPr/>
        <p:txBody>
          <a:bodyPr/>
          <a:lstStyle/>
          <a:p>
            <a:fld id="{72B91EF9-8801-49F0-8378-87F726235463}" type="slidenum">
              <a:rPr lang="en-GB" smtClean="0"/>
              <a:t>5</a:t>
            </a:fld>
            <a:endParaRPr lang="en-GB"/>
          </a:p>
        </p:txBody>
      </p:sp>
    </p:spTree>
    <p:extLst>
      <p:ext uri="{BB962C8B-B14F-4D97-AF65-F5344CB8AC3E}">
        <p14:creationId xmlns:p14="http://schemas.microsoft.com/office/powerpoint/2010/main" val="467946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The clinical fit depends on the clinic. In sports rehabilitation, CT9 can support recovery and integration, while HIRO TT can add a focused option for demanding cases. In musculoskeletal and pain care, CT9 offers broad adjustability and HIRO TT offers intensity and depth. In a multi-specialty clinic, I would see CT9 as the utilization anchor and HIRO TT as the differentiated premium service line. My first discovery question would be: Which patient group do you most want to treat better over the next 12 months?</a:t>
            </a:r>
          </a:p>
        </p:txBody>
      </p:sp>
      <p:sp>
        <p:nvSpPr>
          <p:cNvPr id="4" name="Slide Number Placeholder 3"/>
          <p:cNvSpPr>
            <a:spLocks noGrp="1"/>
          </p:cNvSpPr>
          <p:nvPr>
            <p:ph type="sldNum" sz="quarter" idx="5"/>
          </p:nvPr>
        </p:nvSpPr>
        <p:spPr/>
        <p:txBody>
          <a:bodyPr/>
          <a:lstStyle/>
          <a:p>
            <a:fld id="{72B91EF9-8801-49F0-8378-87F726235463}" type="slidenum">
              <a:rPr lang="en-GB" smtClean="0"/>
              <a:t>6</a:t>
            </a:fld>
            <a:endParaRPr lang="en-GB"/>
          </a:p>
        </p:txBody>
      </p:sp>
    </p:spTree>
    <p:extLst>
      <p:ext uri="{BB962C8B-B14F-4D97-AF65-F5344CB8AC3E}">
        <p14:creationId xmlns:p14="http://schemas.microsoft.com/office/powerpoint/2010/main" val="3280789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The comparison is designed to support a recommendation. CT9 is the broader 448 kilohertz RF platform, with daily integration and multi-specialty utilization. HIRO TT is the more focused pulsed Nd:YAG HILT platform, with intensity, depth and differentiation. For the owner, the question is not which machine is universally better. The question is which clinical ambition, workflow and service-line economics the clinic wants to support.</a:t>
            </a:r>
          </a:p>
        </p:txBody>
      </p:sp>
      <p:sp>
        <p:nvSpPr>
          <p:cNvPr id="4" name="Slide Number Placeholder 3"/>
          <p:cNvSpPr>
            <a:spLocks noGrp="1"/>
          </p:cNvSpPr>
          <p:nvPr>
            <p:ph type="sldNum" sz="quarter" idx="5"/>
          </p:nvPr>
        </p:nvSpPr>
        <p:spPr/>
        <p:txBody>
          <a:bodyPr/>
          <a:lstStyle/>
          <a:p>
            <a:fld id="{72B91EF9-8801-49F0-8378-87F726235463}" type="slidenum">
              <a:rPr lang="en-GB" smtClean="0"/>
              <a:t>7</a:t>
            </a:fld>
            <a:endParaRPr lang="en-GB"/>
          </a:p>
        </p:txBody>
      </p:sp>
    </p:spTree>
    <p:extLst>
      <p:ext uri="{BB962C8B-B14F-4D97-AF65-F5344CB8AC3E}">
        <p14:creationId xmlns:p14="http://schemas.microsoft.com/office/powerpoint/2010/main" val="4093010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For the clinic owner, the value discussion should be practical. CT9 can support utilization across several clinicians and specialties. HIRO TT can strengthen differentiation through a focused, premium intervention. Both require workflow fit, training and a patient explanation the team can repeat. For ROI, I would start with the clinic's actual patient volume, define the service line, estimate realistic treatment frequency, and then look at utilization and contribution margin. I would never lead with a generic payback promise.</a:t>
            </a:r>
          </a:p>
        </p:txBody>
      </p:sp>
      <p:sp>
        <p:nvSpPr>
          <p:cNvPr id="4" name="Slide Number Placeholder 3"/>
          <p:cNvSpPr>
            <a:spLocks noGrp="1"/>
          </p:cNvSpPr>
          <p:nvPr>
            <p:ph type="sldNum" sz="quarter" idx="5"/>
          </p:nvPr>
        </p:nvSpPr>
        <p:spPr/>
        <p:txBody>
          <a:bodyPr/>
          <a:lstStyle/>
          <a:p>
            <a:fld id="{72B91EF9-8801-49F0-8378-87F726235463}" type="slidenum">
              <a:rPr lang="en-GB" smtClean="0"/>
              <a:t>8</a:t>
            </a:fld>
            <a:endParaRPr lang="en-GB"/>
          </a:p>
        </p:txBody>
      </p:sp>
    </p:spTree>
    <p:extLst>
      <p:ext uri="{BB962C8B-B14F-4D97-AF65-F5344CB8AC3E}">
        <p14:creationId xmlns:p14="http://schemas.microsoft.com/office/powerpoint/2010/main" val="1740481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Aptos" panose="020B0004020202020204" pitchFamily="34" charset="0"/>
              </a:rPr>
              <a:t>To close, CT9 expands the clinic's everyday capability. HIRO TT adds depth, intensity and a distinctive premium intervention. My role as a Product Specialist is to connect those capabilities to the right patient, the right workflow and the right business case. My next step with a customer would be simple: identify the priority patient group, demonstrate the best fit, and build the business case together. Thank you.</a:t>
            </a:r>
          </a:p>
        </p:txBody>
      </p:sp>
      <p:sp>
        <p:nvSpPr>
          <p:cNvPr id="4" name="Slide Number Placeholder 3"/>
          <p:cNvSpPr>
            <a:spLocks noGrp="1"/>
          </p:cNvSpPr>
          <p:nvPr>
            <p:ph type="sldNum" sz="quarter" idx="5"/>
          </p:nvPr>
        </p:nvSpPr>
        <p:spPr/>
        <p:txBody>
          <a:bodyPr/>
          <a:lstStyle/>
          <a:p>
            <a:fld id="{72B91EF9-8801-49F0-8378-87F726235463}" type="slidenum">
              <a:rPr lang="en-GB" smtClean="0"/>
              <a:t>9</a:t>
            </a:fld>
            <a:endParaRPr lang="en-GB"/>
          </a:p>
        </p:txBody>
      </p:sp>
    </p:spTree>
    <p:extLst>
      <p:ext uri="{BB962C8B-B14F-4D97-AF65-F5344CB8AC3E}">
        <p14:creationId xmlns:p14="http://schemas.microsoft.com/office/powerpoint/2010/main" val="631519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861F-B2E6-249C-A554-0B1E0E85BC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0D5082E-B08D-98BE-90B6-C896B3D0F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D083B8F-CF83-A5C7-5A97-36C8EAED5E21}"/>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EADC01E3-D2E2-0A2D-1E9F-0322100E7F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275D10-8BDF-DA90-8061-3F2864139D71}"/>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2975278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2087-C938-0ACD-C624-FC6FEC60CA5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91549FB-EB1B-233A-4F32-40C440A092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C17E7B6-E14C-B38A-C001-1B2FE295D3B7}"/>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0201DF86-B864-DA80-4DD6-4391DFAA1A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95824C-82A2-D546-C0FD-195C762FB17A}"/>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56781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CE4E-1AED-4ABF-7D40-F6EF8D7189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6B6F5A2-BD68-0FBD-7EBA-AF57B81951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4D81B1-DC28-31A0-B27C-033800FCB759}"/>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910F3D28-BE97-5A50-E1AD-681FB2CE99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578C8A-D4F0-F926-425D-C9ADCC796E8A}"/>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2751057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5074-D12E-E020-7FD4-09EEFA7A84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DB0444-042E-7AA4-81FC-CD20DB7B20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F6E485C-F5A1-3B8C-8342-2B65E6711E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21508C2-E861-189C-342F-74E5451B8D63}"/>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6" name="Footer Placeholder 5">
            <a:extLst>
              <a:ext uri="{FF2B5EF4-FFF2-40B4-BE49-F238E27FC236}">
                <a16:creationId xmlns:a16="http://schemas.microsoft.com/office/drawing/2014/main" id="{C231B2D9-A6E4-858C-601C-14BD0884CA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1C46D4-F7A9-98E5-5AA1-1FE02814C539}"/>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387072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D1BB-6895-0B51-708B-E1374AF1D98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4ADC625-9151-5C09-0DF0-A65C464BEA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C73454-142C-DB07-5D6A-534CC20533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76C8239-70C0-0E36-E190-F1A3069AC1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4E33B3-5E84-F472-AD2F-D8DDCF3E37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D4BA843-2B3C-6A1E-1AF1-508D5744C797}"/>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8" name="Footer Placeholder 7">
            <a:extLst>
              <a:ext uri="{FF2B5EF4-FFF2-40B4-BE49-F238E27FC236}">
                <a16:creationId xmlns:a16="http://schemas.microsoft.com/office/drawing/2014/main" id="{1F9683D6-3274-1616-FCE6-C8E5F0B80F7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943476D-1F82-2F82-DABA-0F1C52250326}"/>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1073594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9EFB-4D50-3740-9289-184FCD1F927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351B42A-98F5-6CBC-C421-906D2FD1E9D2}"/>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4" name="Footer Placeholder 3">
            <a:extLst>
              <a:ext uri="{FF2B5EF4-FFF2-40B4-BE49-F238E27FC236}">
                <a16:creationId xmlns:a16="http://schemas.microsoft.com/office/drawing/2014/main" id="{9F63C8C5-284E-33F4-3F5B-D194977F517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6D0265-850C-1BAB-5750-E1B42214EF59}"/>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3762191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3A5F-8D14-6C95-AC39-252AF5FAFCAD}"/>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3" name="Footer Placeholder 2">
            <a:extLst>
              <a:ext uri="{FF2B5EF4-FFF2-40B4-BE49-F238E27FC236}">
                <a16:creationId xmlns:a16="http://schemas.microsoft.com/office/drawing/2014/main" id="{3844FB25-4D8E-84AD-5415-CC1F473AD8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847AA5-BDA0-14EE-4E76-15760EA0D8AB}"/>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3508395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E49C8-0495-454B-216F-35EB6462A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1F407A2-B44C-58A7-9CC0-22077E08B4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01B1B40-405E-2C7D-CF74-58E3A8F1B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EB9EE7-B77E-05A3-81CF-F808E58653B8}"/>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6" name="Footer Placeholder 5">
            <a:extLst>
              <a:ext uri="{FF2B5EF4-FFF2-40B4-BE49-F238E27FC236}">
                <a16:creationId xmlns:a16="http://schemas.microsoft.com/office/drawing/2014/main" id="{AEAE70C3-CF82-1A33-67C0-83DA320CF3D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471779-E8E8-79A5-067D-EF6F6A0E00AC}"/>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179230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DB950-58BC-DDAF-45E5-309D47479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DEF57F3-C8DD-6CAA-771E-7689E10F8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0A47D91-67B3-377B-3ADA-750634E480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0BDF64-11FD-A848-6A0A-80E721C8B78A}"/>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6" name="Footer Placeholder 5">
            <a:extLst>
              <a:ext uri="{FF2B5EF4-FFF2-40B4-BE49-F238E27FC236}">
                <a16:creationId xmlns:a16="http://schemas.microsoft.com/office/drawing/2014/main" id="{D63CE276-F329-702D-42B2-E1356335261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5C8C3CE-5163-9B62-D249-A065B2DF196C}"/>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3883226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06B0-60E5-D297-2E3B-4C952E41DA9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B92B37-BF94-8209-2C29-2C206E9FC8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BA1FC0-424A-B383-3BC1-C24A0F5B144D}"/>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316D465D-AEB6-C20E-4B68-0CBD3AACDE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6F433-C9F7-AC95-B053-06A9315A1140}"/>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3071083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7151FF-546C-D657-B2A3-6C5C90A3CF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E6765E-F321-38FB-7149-8E773079A8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B3C520-E43C-181D-15DB-68048E42E9B2}"/>
              </a:ext>
            </a:extLst>
          </p:cNvPr>
          <p:cNvSpPr>
            <a:spLocks noGrp="1"/>
          </p:cNvSpPr>
          <p:nvPr>
            <p:ph type="dt" sz="half" idx="10"/>
          </p:nvPr>
        </p:nvSpPr>
        <p:spPr/>
        <p:txBody>
          <a:body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A829982B-DDBE-F32F-5808-2B6E7B67ED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3D7000-E363-2136-1879-90068BA58802}"/>
              </a:ext>
            </a:extLst>
          </p:cNvPr>
          <p:cNvSpPr>
            <a:spLocks noGrp="1"/>
          </p:cNvSpPr>
          <p:nvPr>
            <p:ph type="sldNum" sz="quarter" idx="12"/>
          </p:nvPr>
        </p:nvSpPr>
        <p:spPr/>
        <p:txBody>
          <a:bodyPr/>
          <a:lstStyle/>
          <a:p>
            <a:fld id="{E05025E2-7CCC-45CC-BB83-6DD21DA1638F}" type="slidenum">
              <a:rPr lang="en-GB" smtClean="0"/>
              <a:t>‹#›</a:t>
            </a:fld>
            <a:endParaRPr lang="en-GB"/>
          </a:p>
        </p:txBody>
      </p:sp>
    </p:spTree>
    <p:extLst>
      <p:ext uri="{BB962C8B-B14F-4D97-AF65-F5344CB8AC3E}">
        <p14:creationId xmlns:p14="http://schemas.microsoft.com/office/powerpoint/2010/main" val="79484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EBC82F-8CA0-8042-D387-247822DA1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18966B-930C-9EFB-33D1-60FA7FE8B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8E0B37-2159-A7E9-F87A-2E0B5D0C37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C7C2B7-D018-4DDD-8414-C0E94DA0C757}" type="datetimeFigureOut">
              <a:rPr lang="en-GB" smtClean="0"/>
              <a:t>03/10/2026</a:t>
            </a:fld>
            <a:endParaRPr lang="en-GB"/>
          </a:p>
        </p:txBody>
      </p:sp>
      <p:sp>
        <p:nvSpPr>
          <p:cNvPr id="5" name="Footer Placeholder 4">
            <a:extLst>
              <a:ext uri="{FF2B5EF4-FFF2-40B4-BE49-F238E27FC236}">
                <a16:creationId xmlns:a16="http://schemas.microsoft.com/office/drawing/2014/main" id="{2F940B3E-E877-2133-C32A-6363829EBB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1833F47-5FCA-185B-BFF6-EA6540310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5025E2-7CCC-45CC-BB83-6DD21DA1638F}" type="slidenum">
              <a:rPr lang="en-GB" smtClean="0"/>
              <a:t>‹#›</a:t>
            </a:fld>
            <a:endParaRPr lang="en-GB"/>
          </a:p>
        </p:txBody>
      </p:sp>
    </p:spTree>
    <p:extLst>
      <p:ext uri="{BB962C8B-B14F-4D97-AF65-F5344CB8AC3E}">
        <p14:creationId xmlns:p14="http://schemas.microsoft.com/office/powerpoint/2010/main" val="3185587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1B74D3-FF07-7CB5-7F41-96BE7B17EC50}"/>
              </a:ext>
            </a:extLst>
          </p:cNvPr>
          <p:cNvSpPr/>
          <p:nvPr/>
        </p:nvSpPr>
        <p:spPr>
          <a:xfrm>
            <a:off x="0" y="0"/>
            <a:ext cx="12192000" cy="6858000"/>
          </a:xfrm>
          <a:prstGeom prst="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4ED468A-0220-1D0E-9E20-DA53180758D9}"/>
              </a:ext>
            </a:extLst>
          </p:cNvPr>
          <p:cNvSpPr/>
          <p:nvPr/>
        </p:nvSpPr>
        <p:spPr>
          <a:xfrm>
            <a:off x="0" y="0"/>
            <a:ext cx="101600" cy="68580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8424785-7D53-7BFB-A9F6-3FF1ECF09335}"/>
              </a:ext>
            </a:extLst>
          </p:cNvPr>
          <p:cNvSpPr/>
          <p:nvPr/>
        </p:nvSpPr>
        <p:spPr>
          <a:xfrm>
            <a:off x="8305800" y="0"/>
            <a:ext cx="3886200" cy="68580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Image 0" descr="G:\herott\assets\hiro-treatment.jpg">
            <a:extLst>
              <a:ext uri="{FF2B5EF4-FFF2-40B4-BE49-F238E27FC236}">
                <a16:creationId xmlns:a16="http://schemas.microsoft.com/office/drawing/2014/main" id="{CA47D0DF-B8E7-52D8-8FB2-FE41DCB73987}"/>
              </a:ext>
            </a:extLst>
          </p:cNvPr>
          <p:cNvPicPr>
            <a:picLocks noChangeAspect="1"/>
          </p:cNvPicPr>
          <p:nvPr/>
        </p:nvPicPr>
        <p:blipFill>
          <a:blip r:embed="rId3">
            <a:alphaModFix amt="96000"/>
          </a:blip>
          <a:srcRect/>
          <a:stretch/>
        </p:blipFill>
        <p:spPr>
          <a:xfrm>
            <a:off x="8636000" y="660400"/>
            <a:ext cx="5012636" cy="4521200"/>
          </a:xfrm>
          <a:prstGeom prst="rect">
            <a:avLst/>
          </a:prstGeom>
        </p:spPr>
      </p:pic>
      <p:sp>
        <p:nvSpPr>
          <p:cNvPr id="6" name="TextBox 5">
            <a:extLst>
              <a:ext uri="{FF2B5EF4-FFF2-40B4-BE49-F238E27FC236}">
                <a16:creationId xmlns:a16="http://schemas.microsoft.com/office/drawing/2014/main" id="{CB490384-2BCE-8943-FB8E-F5C91E47D770}"/>
              </a:ext>
            </a:extLst>
          </p:cNvPr>
          <p:cNvSpPr txBox="1"/>
          <p:nvPr/>
        </p:nvSpPr>
        <p:spPr>
          <a:xfrm>
            <a:off x="762000" y="685800"/>
            <a:ext cx="3810000" cy="276999"/>
          </a:xfrm>
          <a:prstGeom prst="rect">
            <a:avLst/>
          </a:prstGeom>
          <a:noFill/>
        </p:spPr>
        <p:txBody>
          <a:bodyPr vert="horz" wrap="square" lIns="0" tIns="0" rIns="0" bIns="0" rtlCol="0" anchor="t">
            <a:noAutofit/>
          </a:bodyPr>
          <a:lstStyle/>
          <a:p>
            <a:r>
              <a:rPr lang="en-GB" sz="1000" b="1">
                <a:solidFill>
                  <a:srgbClr val="12B8C4"/>
                </a:solidFill>
                <a:latin typeface="Aptos" panose="020B0004020202020204" pitchFamily="34" charset="0"/>
              </a:rPr>
              <a:t>MEDICAL DEVICE SALES INTERVIEW</a:t>
            </a:r>
          </a:p>
        </p:txBody>
      </p:sp>
      <p:sp>
        <p:nvSpPr>
          <p:cNvPr id="7" name="TextBox 6">
            <a:extLst>
              <a:ext uri="{FF2B5EF4-FFF2-40B4-BE49-F238E27FC236}">
                <a16:creationId xmlns:a16="http://schemas.microsoft.com/office/drawing/2014/main" id="{003812AC-8E45-B6C7-5D2A-6EBC70E4851F}"/>
              </a:ext>
            </a:extLst>
          </p:cNvPr>
          <p:cNvSpPr txBox="1"/>
          <p:nvPr/>
        </p:nvSpPr>
        <p:spPr>
          <a:xfrm>
            <a:off x="762000" y="1651000"/>
            <a:ext cx="6413500" cy="276999"/>
          </a:xfrm>
          <a:prstGeom prst="rect">
            <a:avLst/>
          </a:prstGeom>
          <a:noFill/>
        </p:spPr>
        <p:txBody>
          <a:bodyPr vert="horz" wrap="square" lIns="0" tIns="0" rIns="0" bIns="0" rtlCol="0" anchor="t">
            <a:noAutofit/>
          </a:bodyPr>
          <a:lstStyle/>
          <a:p>
            <a:r>
              <a:rPr lang="en-GB" sz="3100" b="1">
                <a:solidFill>
                  <a:srgbClr val="FFFFFF"/>
                </a:solidFill>
                <a:latin typeface="Aptos" panose="020B0004020202020204" pitchFamily="34" charset="0"/>
              </a:rPr>
              <a:t>Two technologies.</a:t>
            </a:r>
          </a:p>
        </p:txBody>
      </p:sp>
      <p:sp>
        <p:nvSpPr>
          <p:cNvPr id="8" name="TextBox 7">
            <a:extLst>
              <a:ext uri="{FF2B5EF4-FFF2-40B4-BE49-F238E27FC236}">
                <a16:creationId xmlns:a16="http://schemas.microsoft.com/office/drawing/2014/main" id="{92CCA1C7-EA00-E32C-A3B5-ED536A7518EB}"/>
              </a:ext>
            </a:extLst>
          </p:cNvPr>
          <p:cNvSpPr txBox="1"/>
          <p:nvPr/>
        </p:nvSpPr>
        <p:spPr>
          <a:xfrm>
            <a:off x="762000" y="2247900"/>
            <a:ext cx="7112000" cy="276999"/>
          </a:xfrm>
          <a:prstGeom prst="rect">
            <a:avLst/>
          </a:prstGeom>
          <a:noFill/>
        </p:spPr>
        <p:txBody>
          <a:bodyPr vert="horz" wrap="square" lIns="0" tIns="0" rIns="0" bIns="0" rtlCol="0" anchor="t">
            <a:noAutofit/>
          </a:bodyPr>
          <a:lstStyle/>
          <a:p>
            <a:r>
              <a:rPr lang="en-GB" sz="3100" b="1">
                <a:solidFill>
                  <a:srgbClr val="12B8C4"/>
                </a:solidFill>
                <a:latin typeface="Aptos" panose="020B0004020202020204" pitchFamily="34" charset="0"/>
              </a:rPr>
              <a:t>One stronger clinical story.</a:t>
            </a:r>
          </a:p>
        </p:txBody>
      </p:sp>
      <p:sp>
        <p:nvSpPr>
          <p:cNvPr id="9" name="TextBox 8">
            <a:extLst>
              <a:ext uri="{FF2B5EF4-FFF2-40B4-BE49-F238E27FC236}">
                <a16:creationId xmlns:a16="http://schemas.microsoft.com/office/drawing/2014/main" id="{9D02490D-B9FC-6177-2EB3-3E01EAAE7DDE}"/>
              </a:ext>
            </a:extLst>
          </p:cNvPr>
          <p:cNvSpPr txBox="1"/>
          <p:nvPr/>
        </p:nvSpPr>
        <p:spPr>
          <a:xfrm>
            <a:off x="762000" y="3225800"/>
            <a:ext cx="7112000" cy="276999"/>
          </a:xfrm>
          <a:prstGeom prst="rect">
            <a:avLst/>
          </a:prstGeom>
          <a:noFill/>
        </p:spPr>
        <p:txBody>
          <a:bodyPr vert="horz" wrap="square" lIns="0" tIns="0" rIns="0" bIns="0" rtlCol="0" anchor="t">
            <a:noAutofit/>
          </a:bodyPr>
          <a:lstStyle/>
          <a:p>
            <a:r>
              <a:rPr lang="en-GB" b="1">
                <a:solidFill>
                  <a:srgbClr val="FFFFFF"/>
                </a:solidFill>
                <a:latin typeface="Aptos" panose="020B0004020202020204" pitchFamily="34" charset="0"/>
              </a:rPr>
              <a:t>INDIBA CT9 and ASA Laser HIRO TT</a:t>
            </a:r>
          </a:p>
        </p:txBody>
      </p:sp>
      <p:sp>
        <p:nvSpPr>
          <p:cNvPr id="10" name="TextBox 9">
            <a:extLst>
              <a:ext uri="{FF2B5EF4-FFF2-40B4-BE49-F238E27FC236}">
                <a16:creationId xmlns:a16="http://schemas.microsoft.com/office/drawing/2014/main" id="{8916DD71-04F4-25B7-1EF1-DDD50EAFA3A7}"/>
              </a:ext>
            </a:extLst>
          </p:cNvPr>
          <p:cNvSpPr txBox="1"/>
          <p:nvPr/>
        </p:nvSpPr>
        <p:spPr>
          <a:xfrm>
            <a:off x="762000" y="3810000"/>
            <a:ext cx="6350000" cy="276999"/>
          </a:xfrm>
          <a:prstGeom prst="rect">
            <a:avLst/>
          </a:prstGeom>
          <a:noFill/>
        </p:spPr>
        <p:txBody>
          <a:bodyPr vert="horz" wrap="square" lIns="0" tIns="0" rIns="0" bIns="0" rtlCol="0" anchor="t">
            <a:noAutofit/>
          </a:bodyPr>
          <a:lstStyle/>
          <a:p>
            <a:r>
              <a:rPr lang="en-GB" sz="1500">
                <a:solidFill>
                  <a:srgbClr val="D9E6F0"/>
                </a:solidFill>
                <a:latin typeface="Aptos" panose="020B0004020202020204" pitchFamily="34" charset="0"/>
              </a:rPr>
              <a:t>A concise portfolio conversation for rehabilitation, sports medicine and musculoskeletal clinics.</a:t>
            </a:r>
          </a:p>
        </p:txBody>
      </p:sp>
      <p:sp>
        <p:nvSpPr>
          <p:cNvPr id="11" name="Rectangle 10">
            <a:extLst>
              <a:ext uri="{FF2B5EF4-FFF2-40B4-BE49-F238E27FC236}">
                <a16:creationId xmlns:a16="http://schemas.microsoft.com/office/drawing/2014/main" id="{682490C5-C313-C1B2-0866-E1118CEC13ED}"/>
              </a:ext>
            </a:extLst>
          </p:cNvPr>
          <p:cNvSpPr/>
          <p:nvPr/>
        </p:nvSpPr>
        <p:spPr>
          <a:xfrm>
            <a:off x="762000" y="5105400"/>
            <a:ext cx="5461000" cy="254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223B05E8-B79D-940D-181C-16042ED76D78}"/>
              </a:ext>
            </a:extLst>
          </p:cNvPr>
          <p:cNvSpPr txBox="1"/>
          <p:nvPr/>
        </p:nvSpPr>
        <p:spPr>
          <a:xfrm>
            <a:off x="762000" y="5410200"/>
            <a:ext cx="6223000" cy="276999"/>
          </a:xfrm>
          <a:prstGeom prst="rect">
            <a:avLst/>
          </a:prstGeom>
          <a:noFill/>
        </p:spPr>
        <p:txBody>
          <a:bodyPr vert="horz" wrap="square" lIns="0" tIns="0" rIns="0" bIns="0" rtlCol="0" anchor="t">
            <a:noAutofit/>
          </a:bodyPr>
          <a:lstStyle/>
          <a:p>
            <a:r>
              <a:rPr lang="en-GB" sz="1100">
                <a:solidFill>
                  <a:srgbClr val="D9E6F0"/>
                </a:solidFill>
                <a:latin typeface="Aptos" panose="020B0004020202020204" pitchFamily="34" charset="0"/>
              </a:rPr>
              <a:t>Clinical logic  •  Commercial relevance  •  Confident next step</a:t>
            </a:r>
          </a:p>
        </p:txBody>
      </p:sp>
      <p:sp>
        <p:nvSpPr>
          <p:cNvPr id="13" name="TextBox 12">
            <a:extLst>
              <a:ext uri="{FF2B5EF4-FFF2-40B4-BE49-F238E27FC236}">
                <a16:creationId xmlns:a16="http://schemas.microsoft.com/office/drawing/2014/main" id="{86556FF3-4CCC-D200-A2E1-7AEA6CA3F65C}"/>
              </a:ext>
            </a:extLst>
          </p:cNvPr>
          <p:cNvSpPr txBox="1"/>
          <p:nvPr/>
        </p:nvSpPr>
        <p:spPr>
          <a:xfrm>
            <a:off x="762000" y="6083300"/>
            <a:ext cx="3810000" cy="276999"/>
          </a:xfrm>
          <a:prstGeom prst="rect">
            <a:avLst/>
          </a:prstGeom>
          <a:noFill/>
        </p:spPr>
        <p:txBody>
          <a:bodyPr vert="horz" wrap="square" lIns="0" tIns="0" rIns="0" bIns="0" rtlCol="0" anchor="t">
            <a:noAutofit/>
          </a:bodyPr>
          <a:lstStyle/>
          <a:p>
            <a:r>
              <a:rPr lang="en-GB" sz="1000">
                <a:solidFill>
                  <a:srgbClr val="AACBCD"/>
                </a:solidFill>
                <a:latin typeface="Aptos" panose="020B0004020202020204" pitchFamily="34" charset="0"/>
              </a:rPr>
              <a:t>Product Specialist interview</a:t>
            </a:r>
          </a:p>
        </p:txBody>
      </p:sp>
    </p:spTree>
    <p:extLst>
      <p:ext uri="{BB962C8B-B14F-4D97-AF65-F5344CB8AC3E}">
        <p14:creationId xmlns:p14="http://schemas.microsoft.com/office/powerpoint/2010/main" val="252185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6CF24-A928-014A-E7A0-E00134178C4F}"/>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THE PORTFOLIO THESIS</a:t>
            </a:r>
          </a:p>
        </p:txBody>
      </p:sp>
      <p:sp>
        <p:nvSpPr>
          <p:cNvPr id="3" name="TextBox 2">
            <a:extLst>
              <a:ext uri="{FF2B5EF4-FFF2-40B4-BE49-F238E27FC236}">
                <a16:creationId xmlns:a16="http://schemas.microsoft.com/office/drawing/2014/main" id="{124A56F8-067A-F0F4-8725-501F92D67C23}"/>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Two technologies, two buying cases</a:t>
            </a:r>
          </a:p>
        </p:txBody>
      </p:sp>
      <p:sp>
        <p:nvSpPr>
          <p:cNvPr id="4" name="TextBox 3">
            <a:extLst>
              <a:ext uri="{FF2B5EF4-FFF2-40B4-BE49-F238E27FC236}">
                <a16:creationId xmlns:a16="http://schemas.microsoft.com/office/drawing/2014/main" id="{B288D405-66CE-C74E-E556-18E26AEA994A}"/>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Start with the clinic need, then match the modality.</a:t>
            </a:r>
          </a:p>
        </p:txBody>
      </p:sp>
      <p:sp>
        <p:nvSpPr>
          <p:cNvPr id="5" name="TextBox 4">
            <a:extLst>
              <a:ext uri="{FF2B5EF4-FFF2-40B4-BE49-F238E27FC236}">
                <a16:creationId xmlns:a16="http://schemas.microsoft.com/office/drawing/2014/main" id="{B91F9797-91FA-FDC0-D446-283D1F4264D0}"/>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CC5A7E65-21BD-E92A-BC0F-F46117ACCD48}"/>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2</a:t>
            </a:r>
          </a:p>
        </p:txBody>
      </p:sp>
      <p:sp>
        <p:nvSpPr>
          <p:cNvPr id="7" name="Rectangle 6">
            <a:extLst>
              <a:ext uri="{FF2B5EF4-FFF2-40B4-BE49-F238E27FC236}">
                <a16:creationId xmlns:a16="http://schemas.microsoft.com/office/drawing/2014/main" id="{84201430-704A-77D4-C9CA-162D66ED3544}"/>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74F78123-0321-C95F-1FE5-1A0B1FC1ECC7}"/>
              </a:ext>
            </a:extLst>
          </p:cNvPr>
          <p:cNvSpPr/>
          <p:nvPr/>
        </p:nvSpPr>
        <p:spPr>
          <a:xfrm>
            <a:off x="635000" y="1841500"/>
            <a:ext cx="3302000" cy="2984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A3ADDE5-97A2-08DC-2FBE-984505810D28}"/>
              </a:ext>
            </a:extLst>
          </p:cNvPr>
          <p:cNvSpPr/>
          <p:nvPr/>
        </p:nvSpPr>
        <p:spPr>
          <a:xfrm>
            <a:off x="635000" y="1841500"/>
            <a:ext cx="76200" cy="2984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907CF524-2A07-A57F-7D78-333006E18F1D}"/>
              </a:ext>
            </a:extLst>
          </p:cNvPr>
          <p:cNvSpPr txBox="1"/>
          <p:nvPr/>
        </p:nvSpPr>
        <p:spPr>
          <a:xfrm>
            <a:off x="88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INDIBA CT9</a:t>
            </a:r>
          </a:p>
        </p:txBody>
      </p:sp>
      <p:sp>
        <p:nvSpPr>
          <p:cNvPr id="11" name="TextBox 10">
            <a:extLst>
              <a:ext uri="{FF2B5EF4-FFF2-40B4-BE49-F238E27FC236}">
                <a16:creationId xmlns:a16="http://schemas.microsoft.com/office/drawing/2014/main" id="{06D38CB8-9D5F-AC67-D081-7202EC9365DD}"/>
              </a:ext>
            </a:extLst>
          </p:cNvPr>
          <p:cNvSpPr txBox="1"/>
          <p:nvPr/>
        </p:nvSpPr>
        <p:spPr>
          <a:xfrm>
            <a:off x="88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Versatile 448 kHz radiofrequency platform
• Broad daily utilization
• Integrates with manual therapy
• Supports multiple specialties</a:t>
            </a:r>
          </a:p>
        </p:txBody>
      </p:sp>
      <p:sp>
        <p:nvSpPr>
          <p:cNvPr id="12" name="Rectangle: Rounded Corners 11">
            <a:extLst>
              <a:ext uri="{FF2B5EF4-FFF2-40B4-BE49-F238E27FC236}">
                <a16:creationId xmlns:a16="http://schemas.microsoft.com/office/drawing/2014/main" id="{70E7EA8C-9F8E-2706-43E7-398892277BC4}"/>
              </a:ext>
            </a:extLst>
          </p:cNvPr>
          <p:cNvSpPr/>
          <p:nvPr/>
        </p:nvSpPr>
        <p:spPr>
          <a:xfrm>
            <a:off x="4445000" y="1841500"/>
            <a:ext cx="3302000" cy="2984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9580A3F-6C48-7682-D83B-E674E9C1A83B}"/>
              </a:ext>
            </a:extLst>
          </p:cNvPr>
          <p:cNvSpPr/>
          <p:nvPr/>
        </p:nvSpPr>
        <p:spPr>
          <a:xfrm>
            <a:off x="4445000" y="1841500"/>
            <a:ext cx="76200" cy="29845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9D8F95C5-9B85-E7F1-8C4A-0B6ABED0CD4A}"/>
              </a:ext>
            </a:extLst>
          </p:cNvPr>
          <p:cNvSpPr txBox="1"/>
          <p:nvPr/>
        </p:nvSpPr>
        <p:spPr>
          <a:xfrm>
            <a:off x="469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ASA HIRO TT</a:t>
            </a:r>
          </a:p>
        </p:txBody>
      </p:sp>
      <p:sp>
        <p:nvSpPr>
          <p:cNvPr id="15" name="TextBox 14">
            <a:extLst>
              <a:ext uri="{FF2B5EF4-FFF2-40B4-BE49-F238E27FC236}">
                <a16:creationId xmlns:a16="http://schemas.microsoft.com/office/drawing/2014/main" id="{FA7870EB-74E6-A7FB-9CF6-4028D93D134E}"/>
              </a:ext>
            </a:extLst>
          </p:cNvPr>
          <p:cNvSpPr txBox="1"/>
          <p:nvPr/>
        </p:nvSpPr>
        <p:spPr>
          <a:xfrm>
            <a:off x="469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High-intensity pulsed Nd:YAG Hilterapia
• Depth and focused intensity
• SmartCooler for comfort and control
• Differentiated premium intervention</a:t>
            </a:r>
          </a:p>
        </p:txBody>
      </p:sp>
      <p:sp>
        <p:nvSpPr>
          <p:cNvPr id="16" name="Rectangle: Rounded Corners 15">
            <a:extLst>
              <a:ext uri="{FF2B5EF4-FFF2-40B4-BE49-F238E27FC236}">
                <a16:creationId xmlns:a16="http://schemas.microsoft.com/office/drawing/2014/main" id="{04C31144-DFEC-5823-E46F-D8785A23F4B3}"/>
              </a:ext>
            </a:extLst>
          </p:cNvPr>
          <p:cNvSpPr/>
          <p:nvPr/>
        </p:nvSpPr>
        <p:spPr>
          <a:xfrm>
            <a:off x="8255000" y="1841500"/>
            <a:ext cx="3302000" cy="2984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C4EE87E3-E9FE-CCEB-4B10-C18AE89A7722}"/>
              </a:ext>
            </a:extLst>
          </p:cNvPr>
          <p:cNvSpPr/>
          <p:nvPr/>
        </p:nvSpPr>
        <p:spPr>
          <a:xfrm>
            <a:off x="8255000" y="1841500"/>
            <a:ext cx="76200" cy="2984500"/>
          </a:xfrm>
          <a:prstGeom prst="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F96657B-CDBE-76D2-CD6E-14B94C79BF5C}"/>
              </a:ext>
            </a:extLst>
          </p:cNvPr>
          <p:cNvSpPr txBox="1"/>
          <p:nvPr/>
        </p:nvSpPr>
        <p:spPr>
          <a:xfrm>
            <a:off x="850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My role</a:t>
            </a:r>
          </a:p>
        </p:txBody>
      </p:sp>
      <p:sp>
        <p:nvSpPr>
          <p:cNvPr id="19" name="TextBox 18">
            <a:extLst>
              <a:ext uri="{FF2B5EF4-FFF2-40B4-BE49-F238E27FC236}">
                <a16:creationId xmlns:a16="http://schemas.microsoft.com/office/drawing/2014/main" id="{E35EE60A-0491-B39E-09D9-3509ED937F94}"/>
              </a:ext>
            </a:extLst>
          </p:cNvPr>
          <p:cNvSpPr txBox="1"/>
          <p:nvPr/>
        </p:nvSpPr>
        <p:spPr>
          <a:xfrm>
            <a:off x="850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Translate technology into a clear treatment pathway
• Discover the patient group
• Demonstrate the clinical fit
• Build the business case</a:t>
            </a:r>
          </a:p>
        </p:txBody>
      </p:sp>
      <p:sp>
        <p:nvSpPr>
          <p:cNvPr id="20" name="TextBox 19">
            <a:extLst>
              <a:ext uri="{FF2B5EF4-FFF2-40B4-BE49-F238E27FC236}">
                <a16:creationId xmlns:a16="http://schemas.microsoft.com/office/drawing/2014/main" id="{26391D54-F98D-4073-95A0-A0F205811AED}"/>
              </a:ext>
            </a:extLst>
          </p:cNvPr>
          <p:cNvSpPr txBox="1"/>
          <p:nvPr/>
        </p:nvSpPr>
        <p:spPr>
          <a:xfrm>
            <a:off x="635000" y="5359400"/>
            <a:ext cx="1651000" cy="276999"/>
          </a:xfrm>
          <a:prstGeom prst="rect">
            <a:avLst/>
          </a:prstGeom>
          <a:noFill/>
        </p:spPr>
        <p:txBody>
          <a:bodyPr vert="horz" wrap="square" lIns="0" tIns="0" rIns="0" bIns="0" rtlCol="0" anchor="t">
            <a:noAutofit/>
          </a:bodyPr>
          <a:lstStyle/>
          <a:p>
            <a:r>
              <a:rPr lang="en-GB" sz="1100" b="1">
                <a:solidFill>
                  <a:srgbClr val="12B8C4"/>
                </a:solidFill>
                <a:latin typeface="Aptos" panose="020B0004020202020204" pitchFamily="34" charset="0"/>
              </a:rPr>
              <a:t>Memory hook</a:t>
            </a:r>
          </a:p>
        </p:txBody>
      </p:sp>
      <p:sp>
        <p:nvSpPr>
          <p:cNvPr id="21" name="TextBox 20">
            <a:extLst>
              <a:ext uri="{FF2B5EF4-FFF2-40B4-BE49-F238E27FC236}">
                <a16:creationId xmlns:a16="http://schemas.microsoft.com/office/drawing/2014/main" id="{16029638-F72F-2F3B-DC22-4E280BE93C3E}"/>
              </a:ext>
            </a:extLst>
          </p:cNvPr>
          <p:cNvSpPr txBox="1"/>
          <p:nvPr/>
        </p:nvSpPr>
        <p:spPr>
          <a:xfrm>
            <a:off x="635000" y="5689600"/>
            <a:ext cx="9652000" cy="276999"/>
          </a:xfrm>
          <a:prstGeom prst="rect">
            <a:avLst/>
          </a:prstGeom>
          <a:noFill/>
        </p:spPr>
        <p:txBody>
          <a:bodyPr vert="horz" wrap="square" lIns="0" tIns="0" rIns="0" bIns="0" rtlCol="0" anchor="t">
            <a:noAutofit/>
          </a:bodyPr>
          <a:lstStyle/>
          <a:p>
            <a:r>
              <a:rPr lang="en-GB" sz="2000" b="1">
                <a:solidFill>
                  <a:srgbClr val="0B2239"/>
                </a:solidFill>
                <a:latin typeface="Aptos" panose="020B0004020202020204" pitchFamily="34" charset="0"/>
              </a:rPr>
              <a:t>CT9 broadens the offer. HIRO TT deepens and differentiates it.</a:t>
            </a:r>
          </a:p>
        </p:txBody>
      </p:sp>
    </p:spTree>
    <p:extLst>
      <p:ext uri="{BB962C8B-B14F-4D97-AF65-F5344CB8AC3E}">
        <p14:creationId xmlns:p14="http://schemas.microsoft.com/office/powerpoint/2010/main" val="1308307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21AFCD-613F-3FAC-CC9D-C45993D4C617}"/>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PLATFORM 01</a:t>
            </a:r>
          </a:p>
        </p:txBody>
      </p:sp>
      <p:sp>
        <p:nvSpPr>
          <p:cNvPr id="3" name="TextBox 2">
            <a:extLst>
              <a:ext uri="{FF2B5EF4-FFF2-40B4-BE49-F238E27FC236}">
                <a16:creationId xmlns:a16="http://schemas.microsoft.com/office/drawing/2014/main" id="{64E58E41-15EE-10E1-8B0F-32D0AEEA94F5}"/>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INDIBA CT9: versatile RF for daily clinical use</a:t>
            </a:r>
          </a:p>
        </p:txBody>
      </p:sp>
      <p:sp>
        <p:nvSpPr>
          <p:cNvPr id="4" name="TextBox 3">
            <a:extLst>
              <a:ext uri="{FF2B5EF4-FFF2-40B4-BE49-F238E27FC236}">
                <a16:creationId xmlns:a16="http://schemas.microsoft.com/office/drawing/2014/main" id="{2A640899-FB6D-F55B-561B-F6E3A688BAA6}"/>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A broad platform that can sit inside the whole rehabilitation pathway.</a:t>
            </a:r>
          </a:p>
        </p:txBody>
      </p:sp>
      <p:sp>
        <p:nvSpPr>
          <p:cNvPr id="5" name="TextBox 4">
            <a:extLst>
              <a:ext uri="{FF2B5EF4-FFF2-40B4-BE49-F238E27FC236}">
                <a16:creationId xmlns:a16="http://schemas.microsoft.com/office/drawing/2014/main" id="{87CF3942-88A8-A2E7-9E2A-82A6301A0101}"/>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ADA12E10-39AC-1C4A-C9D6-A515891BFA49}"/>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3</a:t>
            </a:r>
          </a:p>
        </p:txBody>
      </p:sp>
      <p:sp>
        <p:nvSpPr>
          <p:cNvPr id="7" name="Rectangle 6">
            <a:extLst>
              <a:ext uri="{FF2B5EF4-FFF2-40B4-BE49-F238E27FC236}">
                <a16:creationId xmlns:a16="http://schemas.microsoft.com/office/drawing/2014/main" id="{01F37A5A-82D4-5EE0-C476-DF1D675FB99C}"/>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2B8904B8-AF39-37EF-0A77-0842DB49D6A1}"/>
              </a:ext>
            </a:extLst>
          </p:cNvPr>
          <p:cNvSpPr/>
          <p:nvPr/>
        </p:nvSpPr>
        <p:spPr>
          <a:xfrm>
            <a:off x="635000" y="1778000"/>
            <a:ext cx="4572000" cy="4089400"/>
          </a:xfrm>
          <a:prstGeom prst="round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Image 0" descr="G:\herott\assets\ct9-device.png">
            <a:extLst>
              <a:ext uri="{FF2B5EF4-FFF2-40B4-BE49-F238E27FC236}">
                <a16:creationId xmlns:a16="http://schemas.microsoft.com/office/drawing/2014/main" id="{C3EF4A98-386E-EAFA-447C-045EE85D5094}"/>
              </a:ext>
            </a:extLst>
          </p:cNvPr>
          <p:cNvPicPr>
            <a:picLocks noChangeAspect="1"/>
          </p:cNvPicPr>
          <p:nvPr/>
        </p:nvPicPr>
        <p:blipFill>
          <a:blip r:embed="rId3"/>
          <a:srcRect/>
          <a:stretch/>
        </p:blipFill>
        <p:spPr>
          <a:xfrm>
            <a:off x="787400" y="1930399"/>
            <a:ext cx="4865915" cy="3784600"/>
          </a:xfrm>
          <a:prstGeom prst="rect">
            <a:avLst/>
          </a:prstGeom>
        </p:spPr>
      </p:pic>
      <p:sp>
        <p:nvSpPr>
          <p:cNvPr id="10" name="TextBox 9">
            <a:extLst>
              <a:ext uri="{FF2B5EF4-FFF2-40B4-BE49-F238E27FC236}">
                <a16:creationId xmlns:a16="http://schemas.microsoft.com/office/drawing/2014/main" id="{A120CF12-5A29-F052-CC2E-7EAF88688FD9}"/>
              </a:ext>
            </a:extLst>
          </p:cNvPr>
          <p:cNvSpPr txBox="1"/>
          <p:nvPr/>
        </p:nvSpPr>
        <p:spPr>
          <a:xfrm>
            <a:off x="965200" y="5461000"/>
            <a:ext cx="15240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MONOPOLAR RF</a:t>
            </a:r>
          </a:p>
        </p:txBody>
      </p:sp>
      <p:sp>
        <p:nvSpPr>
          <p:cNvPr id="11" name="TextBox 10">
            <a:extLst>
              <a:ext uri="{FF2B5EF4-FFF2-40B4-BE49-F238E27FC236}">
                <a16:creationId xmlns:a16="http://schemas.microsoft.com/office/drawing/2014/main" id="{31A72B71-AEAC-3595-25E3-2FEE455A83F1}"/>
              </a:ext>
            </a:extLst>
          </p:cNvPr>
          <p:cNvSpPr txBox="1"/>
          <p:nvPr/>
        </p:nvSpPr>
        <p:spPr>
          <a:xfrm>
            <a:off x="3048000" y="5461000"/>
            <a:ext cx="1270000" cy="276999"/>
          </a:xfrm>
          <a:prstGeom prst="rect">
            <a:avLst/>
          </a:prstGeom>
          <a:noFill/>
        </p:spPr>
        <p:txBody>
          <a:bodyPr vert="horz" wrap="square" lIns="0" tIns="0" rIns="0" bIns="0" rtlCol="0" anchor="t">
            <a:noAutofit/>
          </a:bodyPr>
          <a:lstStyle/>
          <a:p>
            <a:r>
              <a:rPr lang="en-GB" sz="1600" b="1">
                <a:solidFill>
                  <a:srgbClr val="12B8C4"/>
                </a:solidFill>
                <a:latin typeface="Aptos" panose="020B0004020202020204" pitchFamily="34" charset="0"/>
              </a:rPr>
              <a:t>448 kHz</a:t>
            </a:r>
          </a:p>
        </p:txBody>
      </p:sp>
      <p:sp>
        <p:nvSpPr>
          <p:cNvPr id="12" name="TextBox 11">
            <a:extLst>
              <a:ext uri="{FF2B5EF4-FFF2-40B4-BE49-F238E27FC236}">
                <a16:creationId xmlns:a16="http://schemas.microsoft.com/office/drawing/2014/main" id="{AE604302-86A3-4E3E-8AA7-E36F4322FA70}"/>
              </a:ext>
            </a:extLst>
          </p:cNvPr>
          <p:cNvSpPr txBox="1"/>
          <p:nvPr/>
        </p:nvSpPr>
        <p:spPr>
          <a:xfrm>
            <a:off x="5778500" y="1841500"/>
            <a:ext cx="3175000" cy="276999"/>
          </a:xfrm>
          <a:prstGeom prst="rect">
            <a:avLst/>
          </a:prstGeom>
          <a:noFill/>
        </p:spPr>
        <p:txBody>
          <a:bodyPr vert="horz" wrap="square" lIns="0" tIns="0" rIns="0" bIns="0" rtlCol="0" anchor="t">
            <a:noAutofit/>
          </a:bodyPr>
          <a:lstStyle/>
          <a:p>
            <a:r>
              <a:rPr lang="en-GB" sz="1100" b="1">
                <a:solidFill>
                  <a:srgbClr val="12B8C4"/>
                </a:solidFill>
                <a:latin typeface="Aptos" panose="020B0004020202020204" pitchFamily="34" charset="0"/>
              </a:rPr>
              <a:t>How I would explain it</a:t>
            </a:r>
          </a:p>
        </p:txBody>
      </p:sp>
      <p:sp>
        <p:nvSpPr>
          <p:cNvPr id="13" name="TextBox 12">
            <a:extLst>
              <a:ext uri="{FF2B5EF4-FFF2-40B4-BE49-F238E27FC236}">
                <a16:creationId xmlns:a16="http://schemas.microsoft.com/office/drawing/2014/main" id="{BBE6DB95-65AD-3003-92FE-DDF7A1869176}"/>
              </a:ext>
            </a:extLst>
          </p:cNvPr>
          <p:cNvSpPr txBox="1"/>
          <p:nvPr/>
        </p:nvSpPr>
        <p:spPr>
          <a:xfrm>
            <a:off x="5778500" y="2247900"/>
            <a:ext cx="5334000" cy="276999"/>
          </a:xfrm>
          <a:prstGeom prst="rect">
            <a:avLst/>
          </a:prstGeom>
          <a:noFill/>
        </p:spPr>
        <p:txBody>
          <a:bodyPr vert="horz" wrap="square" lIns="0" tIns="0" rIns="0" bIns="0" rtlCol="0" anchor="t">
            <a:noAutofit/>
          </a:bodyPr>
          <a:lstStyle/>
          <a:p>
            <a:r>
              <a:rPr lang="en-GB" sz="2100" b="1">
                <a:solidFill>
                  <a:srgbClr val="0B2239"/>
                </a:solidFill>
                <a:latin typeface="Aptos" panose="020B0004020202020204" pitchFamily="34" charset="0"/>
              </a:rPr>
              <a:t>“A platform you can use across the patient journey.”</a:t>
            </a:r>
          </a:p>
        </p:txBody>
      </p:sp>
      <p:sp>
        <p:nvSpPr>
          <p:cNvPr id="14" name="TextBox 13">
            <a:extLst>
              <a:ext uri="{FF2B5EF4-FFF2-40B4-BE49-F238E27FC236}">
                <a16:creationId xmlns:a16="http://schemas.microsoft.com/office/drawing/2014/main" id="{501CD490-E2E5-7A50-E4AF-796213F4B22B}"/>
              </a:ext>
            </a:extLst>
          </p:cNvPr>
          <p:cNvSpPr txBox="1"/>
          <p:nvPr/>
        </p:nvSpPr>
        <p:spPr>
          <a:xfrm>
            <a:off x="5778500" y="3302000"/>
            <a:ext cx="190500" cy="276999"/>
          </a:xfrm>
          <a:prstGeom prst="rect">
            <a:avLst/>
          </a:prstGeom>
          <a:noFill/>
        </p:spPr>
        <p:txBody>
          <a:bodyPr vert="horz" wrap="square" lIns="0" tIns="0" rIns="0" bIns="0" rtlCol="0" anchor="t">
            <a:noAutofit/>
          </a:bodyPr>
          <a:lstStyle/>
          <a:p>
            <a:r>
              <a:rPr lang="en-GB" sz="1600" b="1">
                <a:solidFill>
                  <a:srgbClr val="12B8C4"/>
                </a:solidFill>
                <a:latin typeface="Aptos" panose="020B0004020202020204" pitchFamily="34" charset="0"/>
              </a:rPr>
              <a:t>-</a:t>
            </a:r>
          </a:p>
        </p:txBody>
      </p:sp>
      <p:sp>
        <p:nvSpPr>
          <p:cNvPr id="15" name="TextBox 14">
            <a:extLst>
              <a:ext uri="{FF2B5EF4-FFF2-40B4-BE49-F238E27FC236}">
                <a16:creationId xmlns:a16="http://schemas.microsoft.com/office/drawing/2014/main" id="{7E36CBB9-D8B2-B6B6-C9E2-E39F66AF9E18}"/>
              </a:ext>
            </a:extLst>
          </p:cNvPr>
          <p:cNvSpPr txBox="1"/>
          <p:nvPr/>
        </p:nvSpPr>
        <p:spPr>
          <a:xfrm>
            <a:off x="6045200" y="3302000"/>
            <a:ext cx="5194300" cy="276999"/>
          </a:xfrm>
          <a:prstGeom prst="rect">
            <a:avLst/>
          </a:prstGeom>
          <a:noFill/>
        </p:spPr>
        <p:txBody>
          <a:bodyPr vert="horz" wrap="square" lIns="0" tIns="0" rIns="0" bIns="0" rtlCol="0" anchor="t">
            <a:noAutofit/>
          </a:bodyPr>
          <a:lstStyle/>
          <a:p>
            <a:r>
              <a:rPr lang="en-GB" sz="1300">
                <a:solidFill>
                  <a:srgbClr val="1F3448"/>
                </a:solidFill>
                <a:latin typeface="Aptos" panose="020B0004020202020204" pitchFamily="34" charset="0"/>
              </a:rPr>
              <a:t>Thermal and non-thermal treatment modes</a:t>
            </a:r>
          </a:p>
        </p:txBody>
      </p:sp>
      <p:sp>
        <p:nvSpPr>
          <p:cNvPr id="16" name="TextBox 15">
            <a:extLst>
              <a:ext uri="{FF2B5EF4-FFF2-40B4-BE49-F238E27FC236}">
                <a16:creationId xmlns:a16="http://schemas.microsoft.com/office/drawing/2014/main" id="{6356CA8D-B1FC-606A-7A31-7812B0C5FE21}"/>
              </a:ext>
            </a:extLst>
          </p:cNvPr>
          <p:cNvSpPr txBox="1"/>
          <p:nvPr/>
        </p:nvSpPr>
        <p:spPr>
          <a:xfrm>
            <a:off x="5778500" y="3746500"/>
            <a:ext cx="190500" cy="276999"/>
          </a:xfrm>
          <a:prstGeom prst="rect">
            <a:avLst/>
          </a:prstGeom>
          <a:noFill/>
        </p:spPr>
        <p:txBody>
          <a:bodyPr vert="horz" wrap="square" lIns="0" tIns="0" rIns="0" bIns="0" rtlCol="0" anchor="t">
            <a:noAutofit/>
          </a:bodyPr>
          <a:lstStyle/>
          <a:p>
            <a:r>
              <a:rPr lang="en-GB" sz="1600" b="1">
                <a:solidFill>
                  <a:srgbClr val="12B8C4"/>
                </a:solidFill>
                <a:latin typeface="Aptos" panose="020B0004020202020204" pitchFamily="34" charset="0"/>
              </a:rPr>
              <a:t>-</a:t>
            </a:r>
          </a:p>
        </p:txBody>
      </p:sp>
      <p:sp>
        <p:nvSpPr>
          <p:cNvPr id="17" name="TextBox 16">
            <a:extLst>
              <a:ext uri="{FF2B5EF4-FFF2-40B4-BE49-F238E27FC236}">
                <a16:creationId xmlns:a16="http://schemas.microsoft.com/office/drawing/2014/main" id="{53248A44-0F2A-B95F-5524-04AD60952545}"/>
              </a:ext>
            </a:extLst>
          </p:cNvPr>
          <p:cNvSpPr txBox="1"/>
          <p:nvPr/>
        </p:nvSpPr>
        <p:spPr>
          <a:xfrm>
            <a:off x="6045200" y="3746500"/>
            <a:ext cx="5194300" cy="276999"/>
          </a:xfrm>
          <a:prstGeom prst="rect">
            <a:avLst/>
          </a:prstGeom>
          <a:noFill/>
        </p:spPr>
        <p:txBody>
          <a:bodyPr vert="horz" wrap="square" lIns="0" tIns="0" rIns="0" bIns="0" rtlCol="0" anchor="t">
            <a:noAutofit/>
          </a:bodyPr>
          <a:lstStyle/>
          <a:p>
            <a:r>
              <a:rPr lang="en-GB" sz="1300">
                <a:solidFill>
                  <a:srgbClr val="1F3448"/>
                </a:solidFill>
                <a:latin typeface="Aptos" panose="020B0004020202020204" pitchFamily="34" charset="0"/>
              </a:rPr>
              <a:t>Can support pain modulation, circulation and tissue preparation</a:t>
            </a:r>
          </a:p>
        </p:txBody>
      </p:sp>
      <p:sp>
        <p:nvSpPr>
          <p:cNvPr id="18" name="TextBox 17">
            <a:extLst>
              <a:ext uri="{FF2B5EF4-FFF2-40B4-BE49-F238E27FC236}">
                <a16:creationId xmlns:a16="http://schemas.microsoft.com/office/drawing/2014/main" id="{657F461F-F8B2-6603-A98D-F90C1F5B1213}"/>
              </a:ext>
            </a:extLst>
          </p:cNvPr>
          <p:cNvSpPr txBox="1"/>
          <p:nvPr/>
        </p:nvSpPr>
        <p:spPr>
          <a:xfrm>
            <a:off x="5778500" y="4191000"/>
            <a:ext cx="190500" cy="276999"/>
          </a:xfrm>
          <a:prstGeom prst="rect">
            <a:avLst/>
          </a:prstGeom>
          <a:noFill/>
        </p:spPr>
        <p:txBody>
          <a:bodyPr vert="horz" wrap="square" lIns="0" tIns="0" rIns="0" bIns="0" rtlCol="0" anchor="t">
            <a:noAutofit/>
          </a:bodyPr>
          <a:lstStyle/>
          <a:p>
            <a:r>
              <a:rPr lang="en-GB" sz="1600" b="1">
                <a:solidFill>
                  <a:srgbClr val="12B8C4"/>
                </a:solidFill>
                <a:latin typeface="Aptos" panose="020B0004020202020204" pitchFamily="34" charset="0"/>
              </a:rPr>
              <a:t>-</a:t>
            </a:r>
          </a:p>
        </p:txBody>
      </p:sp>
      <p:sp>
        <p:nvSpPr>
          <p:cNvPr id="19" name="TextBox 18">
            <a:extLst>
              <a:ext uri="{FF2B5EF4-FFF2-40B4-BE49-F238E27FC236}">
                <a16:creationId xmlns:a16="http://schemas.microsoft.com/office/drawing/2014/main" id="{4E5AEBBE-F5F3-1833-EDB5-D6E9CCF73497}"/>
              </a:ext>
            </a:extLst>
          </p:cNvPr>
          <p:cNvSpPr txBox="1"/>
          <p:nvPr/>
        </p:nvSpPr>
        <p:spPr>
          <a:xfrm>
            <a:off x="6045200" y="4191000"/>
            <a:ext cx="5194300" cy="276999"/>
          </a:xfrm>
          <a:prstGeom prst="rect">
            <a:avLst/>
          </a:prstGeom>
          <a:noFill/>
        </p:spPr>
        <p:txBody>
          <a:bodyPr vert="horz" wrap="square" lIns="0" tIns="0" rIns="0" bIns="0" rtlCol="0" anchor="t">
            <a:noAutofit/>
          </a:bodyPr>
          <a:lstStyle/>
          <a:p>
            <a:r>
              <a:rPr lang="en-GB" sz="1300">
                <a:solidFill>
                  <a:srgbClr val="1F3448"/>
                </a:solidFill>
                <a:latin typeface="Aptos" panose="020B0004020202020204" pitchFamily="34" charset="0"/>
              </a:rPr>
              <a:t>Fits alongside manual therapy, exercise and active rehabilitation</a:t>
            </a:r>
          </a:p>
        </p:txBody>
      </p:sp>
      <p:sp>
        <p:nvSpPr>
          <p:cNvPr id="20" name="TextBox 19">
            <a:extLst>
              <a:ext uri="{FF2B5EF4-FFF2-40B4-BE49-F238E27FC236}">
                <a16:creationId xmlns:a16="http://schemas.microsoft.com/office/drawing/2014/main" id="{2F08BCB9-BF05-CAD0-464D-632676B9ED3C}"/>
              </a:ext>
            </a:extLst>
          </p:cNvPr>
          <p:cNvSpPr txBox="1"/>
          <p:nvPr/>
        </p:nvSpPr>
        <p:spPr>
          <a:xfrm>
            <a:off x="5778500" y="4635500"/>
            <a:ext cx="190500" cy="276999"/>
          </a:xfrm>
          <a:prstGeom prst="rect">
            <a:avLst/>
          </a:prstGeom>
          <a:noFill/>
        </p:spPr>
        <p:txBody>
          <a:bodyPr vert="horz" wrap="square" lIns="0" tIns="0" rIns="0" bIns="0" rtlCol="0" anchor="t">
            <a:noAutofit/>
          </a:bodyPr>
          <a:lstStyle/>
          <a:p>
            <a:r>
              <a:rPr lang="en-GB" sz="1600" b="1">
                <a:solidFill>
                  <a:srgbClr val="12B8C4"/>
                </a:solidFill>
                <a:latin typeface="Aptos" panose="020B0004020202020204" pitchFamily="34" charset="0"/>
              </a:rPr>
              <a:t>-</a:t>
            </a:r>
          </a:p>
        </p:txBody>
      </p:sp>
      <p:sp>
        <p:nvSpPr>
          <p:cNvPr id="21" name="TextBox 20">
            <a:extLst>
              <a:ext uri="{FF2B5EF4-FFF2-40B4-BE49-F238E27FC236}">
                <a16:creationId xmlns:a16="http://schemas.microsoft.com/office/drawing/2014/main" id="{5CF0ADD0-00CD-0713-BF3A-167545193FF8}"/>
              </a:ext>
            </a:extLst>
          </p:cNvPr>
          <p:cNvSpPr txBox="1"/>
          <p:nvPr/>
        </p:nvSpPr>
        <p:spPr>
          <a:xfrm>
            <a:off x="6045200" y="4635500"/>
            <a:ext cx="5194300" cy="276999"/>
          </a:xfrm>
          <a:prstGeom prst="rect">
            <a:avLst/>
          </a:prstGeom>
          <a:noFill/>
        </p:spPr>
        <p:txBody>
          <a:bodyPr vert="horz" wrap="square" lIns="0" tIns="0" rIns="0" bIns="0" rtlCol="0" anchor="t">
            <a:noAutofit/>
          </a:bodyPr>
          <a:lstStyle/>
          <a:p>
            <a:r>
              <a:rPr lang="en-GB" sz="1300">
                <a:solidFill>
                  <a:srgbClr val="1F3448"/>
                </a:solidFill>
                <a:latin typeface="Aptos" panose="020B0004020202020204" pitchFamily="34" charset="0"/>
              </a:rPr>
              <a:t>A versatile platform for repeatable, multi-specialty use</a:t>
            </a:r>
          </a:p>
        </p:txBody>
      </p:sp>
      <p:sp>
        <p:nvSpPr>
          <p:cNvPr id="22" name="TextBox 21">
            <a:extLst>
              <a:ext uri="{FF2B5EF4-FFF2-40B4-BE49-F238E27FC236}">
                <a16:creationId xmlns:a16="http://schemas.microsoft.com/office/drawing/2014/main" id="{F5E92D69-7567-3DF8-1ABB-C9756DEF0876}"/>
              </a:ext>
            </a:extLst>
          </p:cNvPr>
          <p:cNvSpPr txBox="1"/>
          <p:nvPr/>
        </p:nvSpPr>
        <p:spPr>
          <a:xfrm>
            <a:off x="5778500" y="5334000"/>
            <a:ext cx="5334000" cy="276999"/>
          </a:xfrm>
          <a:prstGeom prst="rect">
            <a:avLst/>
          </a:prstGeom>
          <a:noFill/>
        </p:spPr>
        <p:txBody>
          <a:bodyPr vert="horz" wrap="square" lIns="0" tIns="0" rIns="0" bIns="0" rtlCol="0" anchor="t">
            <a:noAutofit/>
          </a:bodyPr>
          <a:lstStyle/>
          <a:p>
            <a:r>
              <a:rPr lang="en-GB" sz="1300" b="1">
                <a:solidFill>
                  <a:srgbClr val="F47C6B"/>
                </a:solidFill>
                <a:latin typeface="Aptos" panose="020B0004020202020204" pitchFamily="34" charset="0"/>
              </a:rPr>
              <a:t>Commercial translation: broad utilization and strong staff adoption.</a:t>
            </a:r>
          </a:p>
        </p:txBody>
      </p:sp>
    </p:spTree>
    <p:extLst>
      <p:ext uri="{BB962C8B-B14F-4D97-AF65-F5344CB8AC3E}">
        <p14:creationId xmlns:p14="http://schemas.microsoft.com/office/powerpoint/2010/main" val="3165096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449180-03DF-361B-66E7-975502FE5D82}"/>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PLATFORM 02</a:t>
            </a:r>
          </a:p>
        </p:txBody>
      </p:sp>
      <p:sp>
        <p:nvSpPr>
          <p:cNvPr id="3" name="TextBox 2">
            <a:extLst>
              <a:ext uri="{FF2B5EF4-FFF2-40B4-BE49-F238E27FC236}">
                <a16:creationId xmlns:a16="http://schemas.microsoft.com/office/drawing/2014/main" id="{5B337647-6E0D-4E85-9546-7A98FA7E41BE}"/>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ASA HIRO TT: high-intensity laser with SmartCooler</a:t>
            </a:r>
          </a:p>
        </p:txBody>
      </p:sp>
      <p:sp>
        <p:nvSpPr>
          <p:cNvPr id="4" name="TextBox 3">
            <a:extLst>
              <a:ext uri="{FF2B5EF4-FFF2-40B4-BE49-F238E27FC236}">
                <a16:creationId xmlns:a16="http://schemas.microsoft.com/office/drawing/2014/main" id="{D2E21D3C-BC73-4074-AFD3-FAA09C3EE7B2}"/>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Hilterapia combines depth, intensity and a controlled patient experience.</a:t>
            </a:r>
          </a:p>
        </p:txBody>
      </p:sp>
      <p:sp>
        <p:nvSpPr>
          <p:cNvPr id="5" name="TextBox 4">
            <a:extLst>
              <a:ext uri="{FF2B5EF4-FFF2-40B4-BE49-F238E27FC236}">
                <a16:creationId xmlns:a16="http://schemas.microsoft.com/office/drawing/2014/main" id="{C17B123D-A85F-AE46-BE99-E7598ED5D211}"/>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12030EEF-04D4-93A3-C2FA-1E6FA0EB7997}"/>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4</a:t>
            </a:r>
          </a:p>
        </p:txBody>
      </p:sp>
      <p:sp>
        <p:nvSpPr>
          <p:cNvPr id="7" name="Rectangle 6">
            <a:extLst>
              <a:ext uri="{FF2B5EF4-FFF2-40B4-BE49-F238E27FC236}">
                <a16:creationId xmlns:a16="http://schemas.microsoft.com/office/drawing/2014/main" id="{21628D46-0EBF-E912-29F9-C3C29339011A}"/>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8931AAA5-6B5E-7250-BA23-B637D26C317F}"/>
              </a:ext>
            </a:extLst>
          </p:cNvPr>
          <p:cNvSpPr/>
          <p:nvPr/>
        </p:nvSpPr>
        <p:spPr>
          <a:xfrm>
            <a:off x="635000" y="1778000"/>
            <a:ext cx="4572000" cy="4089400"/>
          </a:xfrm>
          <a:prstGeom prst="roundRect">
            <a:avLst/>
          </a:prstGeom>
          <a:solidFill>
            <a:srgbClr val="5F5B6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Image 0" descr="G:\herott\assets\hiro-treatment.jpg">
            <a:extLst>
              <a:ext uri="{FF2B5EF4-FFF2-40B4-BE49-F238E27FC236}">
                <a16:creationId xmlns:a16="http://schemas.microsoft.com/office/drawing/2014/main" id="{E98850AA-24EB-CFBB-D9C2-77986DAD6264}"/>
              </a:ext>
            </a:extLst>
          </p:cNvPr>
          <p:cNvPicPr>
            <a:picLocks noChangeAspect="1"/>
          </p:cNvPicPr>
          <p:nvPr/>
        </p:nvPicPr>
        <p:blipFill>
          <a:blip r:embed="rId3">
            <a:alphaModFix amt="96000"/>
          </a:blip>
          <a:srcRect/>
          <a:stretch/>
        </p:blipFill>
        <p:spPr>
          <a:xfrm>
            <a:off x="787400" y="1930401"/>
            <a:ext cx="4195970" cy="3784600"/>
          </a:xfrm>
          <a:prstGeom prst="rect">
            <a:avLst/>
          </a:prstGeom>
        </p:spPr>
      </p:pic>
      <p:sp>
        <p:nvSpPr>
          <p:cNvPr id="10" name="TextBox 9">
            <a:extLst>
              <a:ext uri="{FF2B5EF4-FFF2-40B4-BE49-F238E27FC236}">
                <a16:creationId xmlns:a16="http://schemas.microsoft.com/office/drawing/2014/main" id="{3474423E-C1B6-871D-824F-81FC733A7F2A}"/>
              </a:ext>
            </a:extLst>
          </p:cNvPr>
          <p:cNvSpPr txBox="1"/>
          <p:nvPr/>
        </p:nvSpPr>
        <p:spPr>
          <a:xfrm>
            <a:off x="965200" y="5461000"/>
            <a:ext cx="15240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HILT® PULSE</a:t>
            </a:r>
          </a:p>
        </p:txBody>
      </p:sp>
      <p:sp>
        <p:nvSpPr>
          <p:cNvPr id="11" name="TextBox 10">
            <a:extLst>
              <a:ext uri="{FF2B5EF4-FFF2-40B4-BE49-F238E27FC236}">
                <a16:creationId xmlns:a16="http://schemas.microsoft.com/office/drawing/2014/main" id="{811E056B-1988-A2EC-6E03-CD16DA8CB2F4}"/>
              </a:ext>
            </a:extLst>
          </p:cNvPr>
          <p:cNvSpPr txBox="1"/>
          <p:nvPr/>
        </p:nvSpPr>
        <p:spPr>
          <a:xfrm>
            <a:off x="2946400" y="5461000"/>
            <a:ext cx="16510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SMARTCOOLER</a:t>
            </a:r>
          </a:p>
        </p:txBody>
      </p:sp>
      <p:sp>
        <p:nvSpPr>
          <p:cNvPr id="12" name="TextBox 11">
            <a:extLst>
              <a:ext uri="{FF2B5EF4-FFF2-40B4-BE49-F238E27FC236}">
                <a16:creationId xmlns:a16="http://schemas.microsoft.com/office/drawing/2014/main" id="{279A82CB-FB89-CB73-AC19-3D9B1D030187}"/>
              </a:ext>
            </a:extLst>
          </p:cNvPr>
          <p:cNvSpPr txBox="1"/>
          <p:nvPr/>
        </p:nvSpPr>
        <p:spPr>
          <a:xfrm>
            <a:off x="5778500" y="1841500"/>
            <a:ext cx="2794000" cy="276999"/>
          </a:xfrm>
          <a:prstGeom prst="rect">
            <a:avLst/>
          </a:prstGeom>
          <a:noFill/>
        </p:spPr>
        <p:txBody>
          <a:bodyPr vert="horz" wrap="square" lIns="0" tIns="0" rIns="0" bIns="0" rtlCol="0" anchor="t">
            <a:noAutofit/>
          </a:bodyPr>
          <a:lstStyle/>
          <a:p>
            <a:r>
              <a:rPr lang="en-GB" sz="1100" b="1">
                <a:solidFill>
                  <a:srgbClr val="F47C6B"/>
                </a:solidFill>
                <a:latin typeface="Aptos" panose="020B0004020202020204" pitchFamily="34" charset="0"/>
              </a:rPr>
              <a:t>Proof points</a:t>
            </a:r>
          </a:p>
        </p:txBody>
      </p:sp>
      <p:sp>
        <p:nvSpPr>
          <p:cNvPr id="13" name="Rectangle: Rounded Corners 12">
            <a:extLst>
              <a:ext uri="{FF2B5EF4-FFF2-40B4-BE49-F238E27FC236}">
                <a16:creationId xmlns:a16="http://schemas.microsoft.com/office/drawing/2014/main" id="{23AC78D9-2F94-A8A8-4ECD-C5BDE3F160EA}"/>
              </a:ext>
            </a:extLst>
          </p:cNvPr>
          <p:cNvSpPr/>
          <p:nvPr/>
        </p:nvSpPr>
        <p:spPr>
          <a:xfrm>
            <a:off x="5778500" y="2311400"/>
            <a:ext cx="2603500" cy="10414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B4E64D62-3243-19EA-7A7D-26C7761F0E8F}"/>
              </a:ext>
            </a:extLst>
          </p:cNvPr>
          <p:cNvSpPr/>
          <p:nvPr/>
        </p:nvSpPr>
        <p:spPr>
          <a:xfrm>
            <a:off x="5778500" y="2311400"/>
            <a:ext cx="76200" cy="1041400"/>
          </a:xfrm>
          <a:prstGeom prst="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55CCB01-7F3E-1151-20E4-4600BA7884C8}"/>
              </a:ext>
            </a:extLst>
          </p:cNvPr>
          <p:cNvSpPr txBox="1"/>
          <p:nvPr/>
        </p:nvSpPr>
        <p:spPr>
          <a:xfrm>
            <a:off x="6032500" y="2514600"/>
            <a:ext cx="2159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15,000 W/cm²</a:t>
            </a:r>
          </a:p>
        </p:txBody>
      </p:sp>
      <p:sp>
        <p:nvSpPr>
          <p:cNvPr id="16" name="TextBox 15">
            <a:extLst>
              <a:ext uri="{FF2B5EF4-FFF2-40B4-BE49-F238E27FC236}">
                <a16:creationId xmlns:a16="http://schemas.microsoft.com/office/drawing/2014/main" id="{B80C7482-31A8-8BC5-F9B7-72EB3A13B1AE}"/>
              </a:ext>
            </a:extLst>
          </p:cNvPr>
          <p:cNvSpPr txBox="1"/>
          <p:nvPr/>
        </p:nvSpPr>
        <p:spPr>
          <a:xfrm>
            <a:off x="6032500" y="2870200"/>
            <a:ext cx="2159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Maximum intensity</a:t>
            </a:r>
          </a:p>
        </p:txBody>
      </p:sp>
      <p:sp>
        <p:nvSpPr>
          <p:cNvPr id="17" name="Rectangle: Rounded Corners 16">
            <a:extLst>
              <a:ext uri="{FF2B5EF4-FFF2-40B4-BE49-F238E27FC236}">
                <a16:creationId xmlns:a16="http://schemas.microsoft.com/office/drawing/2014/main" id="{090243D0-1EC2-A48E-BDD9-69932869DCA1}"/>
              </a:ext>
            </a:extLst>
          </p:cNvPr>
          <p:cNvSpPr/>
          <p:nvPr/>
        </p:nvSpPr>
        <p:spPr>
          <a:xfrm>
            <a:off x="8636000" y="2311400"/>
            <a:ext cx="2603500" cy="10414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24F400D7-3ADF-AFD5-7EE3-952E09AEADC5}"/>
              </a:ext>
            </a:extLst>
          </p:cNvPr>
          <p:cNvSpPr/>
          <p:nvPr/>
        </p:nvSpPr>
        <p:spPr>
          <a:xfrm>
            <a:off x="8636000" y="2311400"/>
            <a:ext cx="76200" cy="1041400"/>
          </a:xfrm>
          <a:prstGeom prst="rect">
            <a:avLst/>
          </a:prstGeom>
          <a:solidFill>
            <a:srgbClr val="2D6C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8C07A006-C37D-A9C3-A489-70A1A1F579D3}"/>
              </a:ext>
            </a:extLst>
          </p:cNvPr>
          <p:cNvSpPr txBox="1"/>
          <p:nvPr/>
        </p:nvSpPr>
        <p:spPr>
          <a:xfrm>
            <a:off x="8890000" y="2514600"/>
            <a:ext cx="2159000" cy="276999"/>
          </a:xfrm>
          <a:prstGeom prst="rect">
            <a:avLst/>
          </a:prstGeom>
          <a:noFill/>
        </p:spPr>
        <p:txBody>
          <a:bodyPr vert="horz" wrap="square" lIns="0" tIns="0" rIns="0" bIns="0" rtlCol="0" anchor="t">
            <a:noAutofit/>
          </a:bodyPr>
          <a:lstStyle/>
          <a:p>
            <a:r>
              <a:rPr lang="el-GR" sz="1400" b="1">
                <a:solidFill>
                  <a:srgbClr val="0B2239"/>
                </a:solidFill>
                <a:latin typeface="Aptos" panose="020B0004020202020204" pitchFamily="34" charset="0"/>
              </a:rPr>
              <a:t>≤100 μ</a:t>
            </a:r>
            <a:r>
              <a:rPr lang="en-GB" sz="1400" b="1">
                <a:solidFill>
                  <a:srgbClr val="0B2239"/>
                </a:solidFill>
                <a:latin typeface="Aptos" panose="020B0004020202020204" pitchFamily="34" charset="0"/>
              </a:rPr>
              <a:t>s</a:t>
            </a:r>
          </a:p>
        </p:txBody>
      </p:sp>
      <p:sp>
        <p:nvSpPr>
          <p:cNvPr id="20" name="TextBox 19">
            <a:extLst>
              <a:ext uri="{FF2B5EF4-FFF2-40B4-BE49-F238E27FC236}">
                <a16:creationId xmlns:a16="http://schemas.microsoft.com/office/drawing/2014/main" id="{8F5B56CA-2121-04D1-8724-0DDCF64FE584}"/>
              </a:ext>
            </a:extLst>
          </p:cNvPr>
          <p:cNvSpPr txBox="1"/>
          <p:nvPr/>
        </p:nvSpPr>
        <p:spPr>
          <a:xfrm>
            <a:off x="8890000" y="2870200"/>
            <a:ext cx="2159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Pulse duration</a:t>
            </a:r>
          </a:p>
        </p:txBody>
      </p:sp>
      <p:sp>
        <p:nvSpPr>
          <p:cNvPr id="21" name="Rectangle: Rounded Corners 20">
            <a:extLst>
              <a:ext uri="{FF2B5EF4-FFF2-40B4-BE49-F238E27FC236}">
                <a16:creationId xmlns:a16="http://schemas.microsoft.com/office/drawing/2014/main" id="{9D6F7F94-54A9-86F5-D318-832818527287}"/>
              </a:ext>
            </a:extLst>
          </p:cNvPr>
          <p:cNvSpPr/>
          <p:nvPr/>
        </p:nvSpPr>
        <p:spPr>
          <a:xfrm>
            <a:off x="5778500" y="3581400"/>
            <a:ext cx="2603500" cy="10414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59EFACCB-9ABE-B839-098D-E50E3A88EB9F}"/>
              </a:ext>
            </a:extLst>
          </p:cNvPr>
          <p:cNvSpPr/>
          <p:nvPr/>
        </p:nvSpPr>
        <p:spPr>
          <a:xfrm>
            <a:off x="5778500" y="3581400"/>
            <a:ext cx="76200" cy="10414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2D884FDF-FC31-D00F-1D4D-BB6F5F391399}"/>
              </a:ext>
            </a:extLst>
          </p:cNvPr>
          <p:cNvSpPr txBox="1"/>
          <p:nvPr/>
        </p:nvSpPr>
        <p:spPr>
          <a:xfrm>
            <a:off x="6032500" y="3784600"/>
            <a:ext cx="2159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18–28°C</a:t>
            </a:r>
          </a:p>
        </p:txBody>
      </p:sp>
      <p:sp>
        <p:nvSpPr>
          <p:cNvPr id="24" name="TextBox 23">
            <a:extLst>
              <a:ext uri="{FF2B5EF4-FFF2-40B4-BE49-F238E27FC236}">
                <a16:creationId xmlns:a16="http://schemas.microsoft.com/office/drawing/2014/main" id="{1916DBD3-B3F1-805F-46A1-36DF9BAE7644}"/>
              </a:ext>
            </a:extLst>
          </p:cNvPr>
          <p:cNvSpPr txBox="1"/>
          <p:nvPr/>
        </p:nvSpPr>
        <p:spPr>
          <a:xfrm>
            <a:off x="6032500" y="4140200"/>
            <a:ext cx="2159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SmartCooler range</a:t>
            </a:r>
          </a:p>
        </p:txBody>
      </p:sp>
      <p:sp>
        <p:nvSpPr>
          <p:cNvPr id="25" name="Rectangle: Rounded Corners 24">
            <a:extLst>
              <a:ext uri="{FF2B5EF4-FFF2-40B4-BE49-F238E27FC236}">
                <a16:creationId xmlns:a16="http://schemas.microsoft.com/office/drawing/2014/main" id="{C91260D7-29A9-AB35-2945-A2A1986E6BB9}"/>
              </a:ext>
            </a:extLst>
          </p:cNvPr>
          <p:cNvSpPr/>
          <p:nvPr/>
        </p:nvSpPr>
        <p:spPr>
          <a:xfrm>
            <a:off x="8636000" y="3581400"/>
            <a:ext cx="2603500" cy="10414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E58F2DCC-9215-3CA2-698A-CFA03B986CAC}"/>
              </a:ext>
            </a:extLst>
          </p:cNvPr>
          <p:cNvSpPr/>
          <p:nvPr/>
        </p:nvSpPr>
        <p:spPr>
          <a:xfrm>
            <a:off x="8636000" y="3581400"/>
            <a:ext cx="76200" cy="10414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EE36F38D-99CE-6F6D-77FC-22F44499289B}"/>
              </a:ext>
            </a:extLst>
          </p:cNvPr>
          <p:cNvSpPr txBox="1"/>
          <p:nvPr/>
        </p:nvSpPr>
        <p:spPr>
          <a:xfrm>
            <a:off x="8890000" y="3784600"/>
            <a:ext cx="2159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10″ screen</a:t>
            </a:r>
          </a:p>
        </p:txBody>
      </p:sp>
      <p:sp>
        <p:nvSpPr>
          <p:cNvPr id="28" name="TextBox 27">
            <a:extLst>
              <a:ext uri="{FF2B5EF4-FFF2-40B4-BE49-F238E27FC236}">
                <a16:creationId xmlns:a16="http://schemas.microsoft.com/office/drawing/2014/main" id="{4D2368B6-8BD7-93E7-D5C8-E30D51545C14}"/>
              </a:ext>
            </a:extLst>
          </p:cNvPr>
          <p:cNvSpPr txBox="1"/>
          <p:nvPr/>
        </p:nvSpPr>
        <p:spPr>
          <a:xfrm>
            <a:off x="8890000" y="4140200"/>
            <a:ext cx="2159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Graphic touch interface</a:t>
            </a:r>
          </a:p>
        </p:txBody>
      </p:sp>
      <p:sp>
        <p:nvSpPr>
          <p:cNvPr id="29" name="TextBox 28">
            <a:extLst>
              <a:ext uri="{FF2B5EF4-FFF2-40B4-BE49-F238E27FC236}">
                <a16:creationId xmlns:a16="http://schemas.microsoft.com/office/drawing/2014/main" id="{585DD6F0-F74E-9F83-A143-626562546DCE}"/>
              </a:ext>
            </a:extLst>
          </p:cNvPr>
          <p:cNvSpPr txBox="1"/>
          <p:nvPr/>
        </p:nvSpPr>
        <p:spPr>
          <a:xfrm>
            <a:off x="5778500" y="5016500"/>
            <a:ext cx="1905000" cy="276999"/>
          </a:xfrm>
          <a:prstGeom prst="rect">
            <a:avLst/>
          </a:prstGeom>
          <a:noFill/>
        </p:spPr>
        <p:txBody>
          <a:bodyPr vert="horz" wrap="square" lIns="0" tIns="0" rIns="0" bIns="0" rtlCol="0" anchor="t">
            <a:noAutofit/>
          </a:bodyPr>
          <a:lstStyle/>
          <a:p>
            <a:r>
              <a:rPr lang="en-GB" sz="1100" b="1">
                <a:solidFill>
                  <a:srgbClr val="607386"/>
                </a:solidFill>
                <a:latin typeface="Aptos" panose="020B0004020202020204" pitchFamily="34" charset="0"/>
              </a:rPr>
              <a:t>Sales translation</a:t>
            </a:r>
          </a:p>
        </p:txBody>
      </p:sp>
      <p:sp>
        <p:nvSpPr>
          <p:cNvPr id="30" name="TextBox 29">
            <a:extLst>
              <a:ext uri="{FF2B5EF4-FFF2-40B4-BE49-F238E27FC236}">
                <a16:creationId xmlns:a16="http://schemas.microsoft.com/office/drawing/2014/main" id="{80D3078A-C8CE-DCF0-DA77-DD268C72EFCA}"/>
              </a:ext>
            </a:extLst>
          </p:cNvPr>
          <p:cNvSpPr txBox="1"/>
          <p:nvPr/>
        </p:nvSpPr>
        <p:spPr>
          <a:xfrm>
            <a:off x="5778500" y="5359400"/>
            <a:ext cx="5334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A focused, premium intervention for acute pain, deeper targets and demanding sports cases.</a:t>
            </a:r>
          </a:p>
        </p:txBody>
      </p:sp>
    </p:spTree>
    <p:extLst>
      <p:ext uri="{BB962C8B-B14F-4D97-AF65-F5344CB8AC3E}">
        <p14:creationId xmlns:p14="http://schemas.microsoft.com/office/powerpoint/2010/main" val="302605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E53696-AB7D-8704-AB47-95CA81E9378C}"/>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CLINICAL LOGIC</a:t>
            </a:r>
          </a:p>
        </p:txBody>
      </p:sp>
      <p:sp>
        <p:nvSpPr>
          <p:cNvPr id="3" name="TextBox 2">
            <a:extLst>
              <a:ext uri="{FF2B5EF4-FFF2-40B4-BE49-F238E27FC236}">
                <a16:creationId xmlns:a16="http://schemas.microsoft.com/office/drawing/2014/main" id="{15535771-77DA-E94A-8880-8C62B5478E6D}"/>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Different mechanisms, complementary roles</a:t>
            </a:r>
          </a:p>
        </p:txBody>
      </p:sp>
      <p:sp>
        <p:nvSpPr>
          <p:cNvPr id="4" name="TextBox 3">
            <a:extLst>
              <a:ext uri="{FF2B5EF4-FFF2-40B4-BE49-F238E27FC236}">
                <a16:creationId xmlns:a16="http://schemas.microsoft.com/office/drawing/2014/main" id="{96431888-B741-4EDA-EDD4-E7A70B2AAECE}"/>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The strongest story is a patient pathway, not a single session.</a:t>
            </a:r>
          </a:p>
        </p:txBody>
      </p:sp>
      <p:sp>
        <p:nvSpPr>
          <p:cNvPr id="5" name="TextBox 4">
            <a:extLst>
              <a:ext uri="{FF2B5EF4-FFF2-40B4-BE49-F238E27FC236}">
                <a16:creationId xmlns:a16="http://schemas.microsoft.com/office/drawing/2014/main" id="{D2935C75-F190-E87E-8910-21DF3E8B9A60}"/>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6C1044B4-9D6A-9B1B-3852-1D7FE9812636}"/>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5</a:t>
            </a:r>
          </a:p>
        </p:txBody>
      </p:sp>
      <p:sp>
        <p:nvSpPr>
          <p:cNvPr id="7" name="Rectangle 6">
            <a:extLst>
              <a:ext uri="{FF2B5EF4-FFF2-40B4-BE49-F238E27FC236}">
                <a16:creationId xmlns:a16="http://schemas.microsoft.com/office/drawing/2014/main" id="{4ECBDA6A-EF99-AC73-A4C8-BC9342612116}"/>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6508600B-8639-19EC-3615-C541F29D87B3}"/>
              </a:ext>
            </a:extLst>
          </p:cNvPr>
          <p:cNvSpPr/>
          <p:nvPr/>
        </p:nvSpPr>
        <p:spPr>
          <a:xfrm>
            <a:off x="635000" y="1841500"/>
            <a:ext cx="5080000" cy="33020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C2A9853F-617D-360E-1233-F02357A889C5}"/>
              </a:ext>
            </a:extLst>
          </p:cNvPr>
          <p:cNvSpPr/>
          <p:nvPr/>
        </p:nvSpPr>
        <p:spPr>
          <a:xfrm>
            <a:off x="635000" y="1841500"/>
            <a:ext cx="76200" cy="33020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404988D-39DC-6BC9-CC85-AB75447213BF}"/>
              </a:ext>
            </a:extLst>
          </p:cNvPr>
          <p:cNvSpPr txBox="1"/>
          <p:nvPr/>
        </p:nvSpPr>
        <p:spPr>
          <a:xfrm>
            <a:off x="889000" y="2044700"/>
            <a:ext cx="4635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INDIBA CT9 — settle and integrate</a:t>
            </a:r>
          </a:p>
        </p:txBody>
      </p:sp>
      <p:sp>
        <p:nvSpPr>
          <p:cNvPr id="11" name="TextBox 10">
            <a:extLst>
              <a:ext uri="{FF2B5EF4-FFF2-40B4-BE49-F238E27FC236}">
                <a16:creationId xmlns:a16="http://schemas.microsoft.com/office/drawing/2014/main" id="{1EA3BFA5-EBEE-ABD7-63DC-FED3FC0A2BE8}"/>
              </a:ext>
            </a:extLst>
          </p:cNvPr>
          <p:cNvSpPr txBox="1"/>
          <p:nvPr/>
        </p:nvSpPr>
        <p:spPr>
          <a:xfrm>
            <a:off x="889000" y="2400300"/>
            <a:ext cx="4635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 Adjustable thermal or subthermal support
• Comfort, preparation and circulation support
• Works naturally with hands-on care and exercise
• Broad platform for everyday rehabilitation</a:t>
            </a:r>
          </a:p>
        </p:txBody>
      </p:sp>
      <p:sp>
        <p:nvSpPr>
          <p:cNvPr id="12" name="Rectangle: Rounded Corners 11">
            <a:extLst>
              <a:ext uri="{FF2B5EF4-FFF2-40B4-BE49-F238E27FC236}">
                <a16:creationId xmlns:a16="http://schemas.microsoft.com/office/drawing/2014/main" id="{F65892EF-5019-14DE-F394-FF054B5425A7}"/>
              </a:ext>
            </a:extLst>
          </p:cNvPr>
          <p:cNvSpPr/>
          <p:nvPr/>
        </p:nvSpPr>
        <p:spPr>
          <a:xfrm>
            <a:off x="6477000" y="1841500"/>
            <a:ext cx="5080000" cy="33020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EE3CA3EE-C0AA-2228-9923-CB7197163EB1}"/>
              </a:ext>
            </a:extLst>
          </p:cNvPr>
          <p:cNvSpPr/>
          <p:nvPr/>
        </p:nvSpPr>
        <p:spPr>
          <a:xfrm>
            <a:off x="6477000" y="1841500"/>
            <a:ext cx="76200" cy="3302000"/>
          </a:xfrm>
          <a:prstGeom prst="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E4F6F084-C21E-2335-9FF2-ACE2185C7BDD}"/>
              </a:ext>
            </a:extLst>
          </p:cNvPr>
          <p:cNvSpPr txBox="1"/>
          <p:nvPr/>
        </p:nvSpPr>
        <p:spPr>
          <a:xfrm>
            <a:off x="6731000" y="2044700"/>
            <a:ext cx="4635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HIRO TT — target and differentiate</a:t>
            </a:r>
          </a:p>
        </p:txBody>
      </p:sp>
      <p:sp>
        <p:nvSpPr>
          <p:cNvPr id="15" name="TextBox 14">
            <a:extLst>
              <a:ext uri="{FF2B5EF4-FFF2-40B4-BE49-F238E27FC236}">
                <a16:creationId xmlns:a16="http://schemas.microsoft.com/office/drawing/2014/main" id="{0013189D-039A-C9A3-CF3E-7045C4E3A4EB}"/>
              </a:ext>
            </a:extLst>
          </p:cNvPr>
          <p:cNvSpPr txBox="1"/>
          <p:nvPr/>
        </p:nvSpPr>
        <p:spPr>
          <a:xfrm>
            <a:off x="6731000" y="2400300"/>
            <a:ext cx="4635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 High-intensity pulsed Nd:YAG
• Focused depth for selected cases
• SmartCooler supports comfort and control
• Clear premium story for patient and clinic</a:t>
            </a:r>
          </a:p>
        </p:txBody>
      </p:sp>
      <p:sp>
        <p:nvSpPr>
          <p:cNvPr id="16" name="Rectangle 15">
            <a:extLst>
              <a:ext uri="{FF2B5EF4-FFF2-40B4-BE49-F238E27FC236}">
                <a16:creationId xmlns:a16="http://schemas.microsoft.com/office/drawing/2014/main" id="{D3455014-2A7B-E28F-C20F-FFCF839DE906}"/>
              </a:ext>
            </a:extLst>
          </p:cNvPr>
          <p:cNvSpPr/>
          <p:nvPr/>
        </p:nvSpPr>
        <p:spPr>
          <a:xfrm>
            <a:off x="5080000" y="5461000"/>
            <a:ext cx="2032000" cy="381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51BE8CCF-46DA-698F-3B74-5C42DF02CF3A}"/>
              </a:ext>
            </a:extLst>
          </p:cNvPr>
          <p:cNvSpPr txBox="1"/>
          <p:nvPr/>
        </p:nvSpPr>
        <p:spPr>
          <a:xfrm>
            <a:off x="4000500" y="5664200"/>
            <a:ext cx="4191000" cy="276999"/>
          </a:xfrm>
          <a:prstGeom prst="rect">
            <a:avLst/>
          </a:prstGeom>
          <a:noFill/>
        </p:spPr>
        <p:txBody>
          <a:bodyPr vert="horz" wrap="square" lIns="0" tIns="0" rIns="0" bIns="0" rtlCol="0" anchor="t">
            <a:noAutofit/>
          </a:bodyPr>
          <a:lstStyle/>
          <a:p>
            <a:pPr algn="ctr"/>
            <a:r>
              <a:rPr lang="en-GB" sz="1500" b="1">
                <a:solidFill>
                  <a:srgbClr val="0B2239"/>
                </a:solidFill>
                <a:latin typeface="Aptos" panose="020B0004020202020204" pitchFamily="34" charset="0"/>
              </a:rPr>
              <a:t>SETTLE  -&gt;  TARGET  -&gt;  PROGRESS</a:t>
            </a:r>
          </a:p>
        </p:txBody>
      </p:sp>
    </p:spTree>
    <p:extLst>
      <p:ext uri="{BB962C8B-B14F-4D97-AF65-F5344CB8AC3E}">
        <p14:creationId xmlns:p14="http://schemas.microsoft.com/office/powerpoint/2010/main" val="712372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9B9978-9889-5871-3C22-532E77FFF27A}"/>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CLINICAL FIT</a:t>
            </a:r>
          </a:p>
        </p:txBody>
      </p:sp>
      <p:sp>
        <p:nvSpPr>
          <p:cNvPr id="3" name="TextBox 2">
            <a:extLst>
              <a:ext uri="{FF2B5EF4-FFF2-40B4-BE49-F238E27FC236}">
                <a16:creationId xmlns:a16="http://schemas.microsoft.com/office/drawing/2014/main" id="{51971D61-C289-743E-94D1-3E13CC55A1BA}"/>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Where each platform adds value</a:t>
            </a:r>
          </a:p>
        </p:txBody>
      </p:sp>
      <p:sp>
        <p:nvSpPr>
          <p:cNvPr id="4" name="TextBox 3">
            <a:extLst>
              <a:ext uri="{FF2B5EF4-FFF2-40B4-BE49-F238E27FC236}">
                <a16:creationId xmlns:a16="http://schemas.microsoft.com/office/drawing/2014/main" id="{42DC16AF-E2DD-041D-9957-85D7E9AD1F16}"/>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Use cases should always be discussed within approved indications and clinician judgment.</a:t>
            </a:r>
          </a:p>
        </p:txBody>
      </p:sp>
      <p:sp>
        <p:nvSpPr>
          <p:cNvPr id="5" name="TextBox 4">
            <a:extLst>
              <a:ext uri="{FF2B5EF4-FFF2-40B4-BE49-F238E27FC236}">
                <a16:creationId xmlns:a16="http://schemas.microsoft.com/office/drawing/2014/main" id="{206FA0A4-AC31-F742-2EB7-CB282E8DFA08}"/>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C190E02F-D819-DFC0-D965-63C547FF46D4}"/>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6</a:t>
            </a:r>
          </a:p>
        </p:txBody>
      </p:sp>
      <p:sp>
        <p:nvSpPr>
          <p:cNvPr id="7" name="Rectangle 6">
            <a:extLst>
              <a:ext uri="{FF2B5EF4-FFF2-40B4-BE49-F238E27FC236}">
                <a16:creationId xmlns:a16="http://schemas.microsoft.com/office/drawing/2014/main" id="{78B1E822-D72B-046D-3582-39D353F5EC0C}"/>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22BC9E27-4D6B-E3E0-4F9C-D9100F347E06}"/>
              </a:ext>
            </a:extLst>
          </p:cNvPr>
          <p:cNvSpPr/>
          <p:nvPr/>
        </p:nvSpPr>
        <p:spPr>
          <a:xfrm>
            <a:off x="635000" y="1841500"/>
            <a:ext cx="3302000" cy="33020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F55E60A7-1B50-D491-7DDB-03B77DCF6064}"/>
              </a:ext>
            </a:extLst>
          </p:cNvPr>
          <p:cNvSpPr/>
          <p:nvPr/>
        </p:nvSpPr>
        <p:spPr>
          <a:xfrm>
            <a:off x="635000" y="1841500"/>
            <a:ext cx="76200" cy="33020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2C38E913-5884-8B66-E956-589A65E18C1C}"/>
              </a:ext>
            </a:extLst>
          </p:cNvPr>
          <p:cNvSpPr txBox="1"/>
          <p:nvPr/>
        </p:nvSpPr>
        <p:spPr>
          <a:xfrm>
            <a:off x="88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Sports rehabilitation</a:t>
            </a:r>
          </a:p>
        </p:txBody>
      </p:sp>
      <p:sp>
        <p:nvSpPr>
          <p:cNvPr id="11" name="TextBox 10">
            <a:extLst>
              <a:ext uri="{FF2B5EF4-FFF2-40B4-BE49-F238E27FC236}">
                <a16:creationId xmlns:a16="http://schemas.microsoft.com/office/drawing/2014/main" id="{0543CC2A-5F10-CA11-C1F4-215D679DC0A1}"/>
              </a:ext>
            </a:extLst>
          </p:cNvPr>
          <p:cNvSpPr txBox="1"/>
          <p:nvPr/>
        </p:nvSpPr>
        <p:spPr>
          <a:xfrm>
            <a:off x="88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CT9: recovery support and treatment integration
HIRO TT: focused intervention for demanding cases
Outcome: a pathway from acute complaint to return to play</a:t>
            </a:r>
          </a:p>
        </p:txBody>
      </p:sp>
      <p:sp>
        <p:nvSpPr>
          <p:cNvPr id="12" name="Rectangle: Rounded Corners 11">
            <a:extLst>
              <a:ext uri="{FF2B5EF4-FFF2-40B4-BE49-F238E27FC236}">
                <a16:creationId xmlns:a16="http://schemas.microsoft.com/office/drawing/2014/main" id="{D525D16F-DB99-7C27-B08B-39F3BBCD7BE7}"/>
              </a:ext>
            </a:extLst>
          </p:cNvPr>
          <p:cNvSpPr/>
          <p:nvPr/>
        </p:nvSpPr>
        <p:spPr>
          <a:xfrm>
            <a:off x="4445000" y="1841500"/>
            <a:ext cx="3302000" cy="33020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AC5BDD7-F48C-51AC-EDCA-A7B6BC0014AC}"/>
              </a:ext>
            </a:extLst>
          </p:cNvPr>
          <p:cNvSpPr/>
          <p:nvPr/>
        </p:nvSpPr>
        <p:spPr>
          <a:xfrm>
            <a:off x="4445000" y="1841500"/>
            <a:ext cx="76200" cy="3302000"/>
          </a:xfrm>
          <a:prstGeom prst="rect">
            <a:avLst/>
          </a:prstGeom>
          <a:solidFill>
            <a:srgbClr val="2D6C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DEDE54CE-4A2D-1E1F-5D1E-DA8CB4FAAF2F}"/>
              </a:ext>
            </a:extLst>
          </p:cNvPr>
          <p:cNvSpPr txBox="1"/>
          <p:nvPr/>
        </p:nvSpPr>
        <p:spPr>
          <a:xfrm>
            <a:off x="469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MSK and pain care</a:t>
            </a:r>
          </a:p>
        </p:txBody>
      </p:sp>
      <p:sp>
        <p:nvSpPr>
          <p:cNvPr id="15" name="TextBox 14">
            <a:extLst>
              <a:ext uri="{FF2B5EF4-FFF2-40B4-BE49-F238E27FC236}">
                <a16:creationId xmlns:a16="http://schemas.microsoft.com/office/drawing/2014/main" id="{E3FE84A0-D750-052F-4582-C2DC3307C812}"/>
              </a:ext>
            </a:extLst>
          </p:cNvPr>
          <p:cNvSpPr txBox="1"/>
          <p:nvPr/>
        </p:nvSpPr>
        <p:spPr>
          <a:xfrm>
            <a:off x="469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CT9: broad, adjustable support
HIRO TT: deeper, targeted option
Outcome: a treatment story patients can understand</a:t>
            </a:r>
          </a:p>
        </p:txBody>
      </p:sp>
      <p:sp>
        <p:nvSpPr>
          <p:cNvPr id="16" name="Rectangle: Rounded Corners 15">
            <a:extLst>
              <a:ext uri="{FF2B5EF4-FFF2-40B4-BE49-F238E27FC236}">
                <a16:creationId xmlns:a16="http://schemas.microsoft.com/office/drawing/2014/main" id="{6C8C57D9-46EA-3336-8375-919AFFA965D8}"/>
              </a:ext>
            </a:extLst>
          </p:cNvPr>
          <p:cNvSpPr/>
          <p:nvPr/>
        </p:nvSpPr>
        <p:spPr>
          <a:xfrm>
            <a:off x="8255000" y="1841500"/>
            <a:ext cx="3302000" cy="33020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38B440A4-C0B8-DF6A-BE4A-3A4F50E5D58A}"/>
              </a:ext>
            </a:extLst>
          </p:cNvPr>
          <p:cNvSpPr/>
          <p:nvPr/>
        </p:nvSpPr>
        <p:spPr>
          <a:xfrm>
            <a:off x="8255000" y="1841500"/>
            <a:ext cx="76200" cy="33020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A4116332-8170-B403-3917-012971982972}"/>
              </a:ext>
            </a:extLst>
          </p:cNvPr>
          <p:cNvSpPr txBox="1"/>
          <p:nvPr/>
        </p:nvSpPr>
        <p:spPr>
          <a:xfrm>
            <a:off x="850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Multi-specialty clinic</a:t>
            </a:r>
          </a:p>
        </p:txBody>
      </p:sp>
      <p:sp>
        <p:nvSpPr>
          <p:cNvPr id="19" name="TextBox 18">
            <a:extLst>
              <a:ext uri="{FF2B5EF4-FFF2-40B4-BE49-F238E27FC236}">
                <a16:creationId xmlns:a16="http://schemas.microsoft.com/office/drawing/2014/main" id="{8D17CAE4-E773-EE9C-7087-9875CB7DAF7B}"/>
              </a:ext>
            </a:extLst>
          </p:cNvPr>
          <p:cNvSpPr txBox="1"/>
          <p:nvPr/>
        </p:nvSpPr>
        <p:spPr>
          <a:xfrm>
            <a:off x="850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CT9: utilization anchor across the team
HIRO TT: distinctive premium service line
Outcome: more ways to serve and differentiate</a:t>
            </a:r>
          </a:p>
        </p:txBody>
      </p:sp>
      <p:sp>
        <p:nvSpPr>
          <p:cNvPr id="20" name="TextBox 19">
            <a:extLst>
              <a:ext uri="{FF2B5EF4-FFF2-40B4-BE49-F238E27FC236}">
                <a16:creationId xmlns:a16="http://schemas.microsoft.com/office/drawing/2014/main" id="{4CC7271A-2536-7088-E0BC-55061D79CF25}"/>
              </a:ext>
            </a:extLst>
          </p:cNvPr>
          <p:cNvSpPr txBox="1"/>
          <p:nvPr/>
        </p:nvSpPr>
        <p:spPr>
          <a:xfrm>
            <a:off x="635000" y="5651500"/>
            <a:ext cx="10668000" cy="276999"/>
          </a:xfrm>
          <a:prstGeom prst="rect">
            <a:avLst/>
          </a:prstGeom>
          <a:noFill/>
        </p:spPr>
        <p:txBody>
          <a:bodyPr vert="horz" wrap="square" lIns="0" tIns="0" rIns="0" bIns="0" rtlCol="0" anchor="t">
            <a:noAutofit/>
          </a:bodyPr>
          <a:lstStyle/>
          <a:p>
            <a:r>
              <a:rPr lang="en-GB" sz="1500" b="1">
                <a:solidFill>
                  <a:srgbClr val="0B2239"/>
                </a:solidFill>
                <a:latin typeface="Aptos" panose="020B0004020202020204" pitchFamily="34" charset="0"/>
              </a:rPr>
              <a:t>Discovery question: Which patient group do you most want to treat better over the next 12 months?</a:t>
            </a:r>
          </a:p>
        </p:txBody>
      </p:sp>
    </p:spTree>
    <p:extLst>
      <p:ext uri="{BB962C8B-B14F-4D97-AF65-F5344CB8AC3E}">
        <p14:creationId xmlns:p14="http://schemas.microsoft.com/office/powerpoint/2010/main" val="929382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49B10-D123-334B-C08A-D2DE8EAA120F}"/>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COMPARISON</a:t>
            </a:r>
          </a:p>
        </p:txBody>
      </p:sp>
      <p:sp>
        <p:nvSpPr>
          <p:cNvPr id="3" name="TextBox 2">
            <a:extLst>
              <a:ext uri="{FF2B5EF4-FFF2-40B4-BE49-F238E27FC236}">
                <a16:creationId xmlns:a16="http://schemas.microsoft.com/office/drawing/2014/main" id="{A641EEE7-F815-C7E2-1458-BB61D18B05CA}"/>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Match the technology to the buying case</a:t>
            </a:r>
          </a:p>
        </p:txBody>
      </p:sp>
      <p:sp>
        <p:nvSpPr>
          <p:cNvPr id="4" name="TextBox 3">
            <a:extLst>
              <a:ext uri="{FF2B5EF4-FFF2-40B4-BE49-F238E27FC236}">
                <a16:creationId xmlns:a16="http://schemas.microsoft.com/office/drawing/2014/main" id="{6B87BE20-42A9-6636-CF14-9FF45E3AB949}"/>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The goal is not to choose a winner; it is to choose the right fit.</a:t>
            </a:r>
          </a:p>
        </p:txBody>
      </p:sp>
      <p:sp>
        <p:nvSpPr>
          <p:cNvPr id="5" name="TextBox 4">
            <a:extLst>
              <a:ext uri="{FF2B5EF4-FFF2-40B4-BE49-F238E27FC236}">
                <a16:creationId xmlns:a16="http://schemas.microsoft.com/office/drawing/2014/main" id="{B0000FE9-A4B4-95C4-0495-3B68D308D878}"/>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4D1A0536-01B3-1CF3-3A80-76DC97E29E47}"/>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7</a:t>
            </a:r>
          </a:p>
        </p:txBody>
      </p:sp>
      <p:sp>
        <p:nvSpPr>
          <p:cNvPr id="7" name="Rectangle 6">
            <a:extLst>
              <a:ext uri="{FF2B5EF4-FFF2-40B4-BE49-F238E27FC236}">
                <a16:creationId xmlns:a16="http://schemas.microsoft.com/office/drawing/2014/main" id="{18192E0E-2271-14D2-0569-8550A9302DD5}"/>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6ADB570A-D5F9-8C3E-0649-6454707CE7F7}"/>
              </a:ext>
            </a:extLst>
          </p:cNvPr>
          <p:cNvSpPr/>
          <p:nvPr/>
        </p:nvSpPr>
        <p:spPr>
          <a:xfrm>
            <a:off x="635000" y="1803400"/>
            <a:ext cx="2222500" cy="431800"/>
          </a:xfrm>
          <a:prstGeom prst="round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A0A268D-9784-3DD9-6E2D-0E14DD2AEBA0}"/>
              </a:ext>
            </a:extLst>
          </p:cNvPr>
          <p:cNvSpPr txBox="1"/>
          <p:nvPr/>
        </p:nvSpPr>
        <p:spPr>
          <a:xfrm>
            <a:off x="762000" y="1917700"/>
            <a:ext cx="19685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Decision lens</a:t>
            </a:r>
          </a:p>
        </p:txBody>
      </p:sp>
      <p:sp>
        <p:nvSpPr>
          <p:cNvPr id="10" name="Rectangle: Rounded Corners 9">
            <a:extLst>
              <a:ext uri="{FF2B5EF4-FFF2-40B4-BE49-F238E27FC236}">
                <a16:creationId xmlns:a16="http://schemas.microsoft.com/office/drawing/2014/main" id="{448A34D1-E12C-B1A1-2393-E76A73CC02FC}"/>
              </a:ext>
            </a:extLst>
          </p:cNvPr>
          <p:cNvSpPr/>
          <p:nvPr/>
        </p:nvSpPr>
        <p:spPr>
          <a:xfrm>
            <a:off x="3111500" y="1803400"/>
            <a:ext cx="2603500" cy="431800"/>
          </a:xfrm>
          <a:prstGeom prst="round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BC41693-5FF3-E76A-5BA2-E4E9CA54138F}"/>
              </a:ext>
            </a:extLst>
          </p:cNvPr>
          <p:cNvSpPr txBox="1"/>
          <p:nvPr/>
        </p:nvSpPr>
        <p:spPr>
          <a:xfrm>
            <a:off x="3238500" y="1917700"/>
            <a:ext cx="23495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INDIBA CT9</a:t>
            </a:r>
          </a:p>
        </p:txBody>
      </p:sp>
      <p:sp>
        <p:nvSpPr>
          <p:cNvPr id="12" name="Rectangle: Rounded Corners 11">
            <a:extLst>
              <a:ext uri="{FF2B5EF4-FFF2-40B4-BE49-F238E27FC236}">
                <a16:creationId xmlns:a16="http://schemas.microsoft.com/office/drawing/2014/main" id="{C62A809E-1580-DE2F-95BD-0EB5B4018EE6}"/>
              </a:ext>
            </a:extLst>
          </p:cNvPr>
          <p:cNvSpPr/>
          <p:nvPr/>
        </p:nvSpPr>
        <p:spPr>
          <a:xfrm>
            <a:off x="5842000" y="1803400"/>
            <a:ext cx="2603500" cy="431800"/>
          </a:xfrm>
          <a:prstGeom prst="round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DC48ABD-DE04-7D3D-1BC9-FB9B50FF0EEE}"/>
              </a:ext>
            </a:extLst>
          </p:cNvPr>
          <p:cNvSpPr txBox="1"/>
          <p:nvPr/>
        </p:nvSpPr>
        <p:spPr>
          <a:xfrm>
            <a:off x="5969000" y="1917700"/>
            <a:ext cx="23495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ASA HIRO TT</a:t>
            </a:r>
          </a:p>
        </p:txBody>
      </p:sp>
      <p:sp>
        <p:nvSpPr>
          <p:cNvPr id="14" name="Rectangle: Rounded Corners 13">
            <a:extLst>
              <a:ext uri="{FF2B5EF4-FFF2-40B4-BE49-F238E27FC236}">
                <a16:creationId xmlns:a16="http://schemas.microsoft.com/office/drawing/2014/main" id="{681AD7EF-4C49-1713-ECD7-680DA47811E9}"/>
              </a:ext>
            </a:extLst>
          </p:cNvPr>
          <p:cNvSpPr/>
          <p:nvPr/>
        </p:nvSpPr>
        <p:spPr>
          <a:xfrm>
            <a:off x="8572500" y="1803400"/>
            <a:ext cx="2984500" cy="431800"/>
          </a:xfrm>
          <a:prstGeom prst="round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D1D0CEE-EE74-A109-7E01-D5AA0418483F}"/>
              </a:ext>
            </a:extLst>
          </p:cNvPr>
          <p:cNvSpPr txBox="1"/>
          <p:nvPr/>
        </p:nvSpPr>
        <p:spPr>
          <a:xfrm>
            <a:off x="8699500" y="1917700"/>
            <a:ext cx="2730500" cy="276999"/>
          </a:xfrm>
          <a:prstGeom prst="rect">
            <a:avLst/>
          </a:prstGeom>
          <a:noFill/>
        </p:spPr>
        <p:txBody>
          <a:bodyPr vert="horz" wrap="square" lIns="0" tIns="0" rIns="0" bIns="0" rtlCol="0" anchor="t">
            <a:noAutofit/>
          </a:bodyPr>
          <a:lstStyle/>
          <a:p>
            <a:r>
              <a:rPr lang="en-GB" sz="1000" b="1">
                <a:solidFill>
                  <a:srgbClr val="FFFFFF"/>
                </a:solidFill>
                <a:latin typeface="Aptos" panose="020B0004020202020204" pitchFamily="34" charset="0"/>
              </a:rPr>
              <a:t>Clinic implication</a:t>
            </a:r>
          </a:p>
        </p:txBody>
      </p:sp>
      <p:sp>
        <p:nvSpPr>
          <p:cNvPr id="16" name="Rectangle 15">
            <a:extLst>
              <a:ext uri="{FF2B5EF4-FFF2-40B4-BE49-F238E27FC236}">
                <a16:creationId xmlns:a16="http://schemas.microsoft.com/office/drawing/2014/main" id="{890560AF-BD21-CA64-192A-C92692CF9707}"/>
              </a:ext>
            </a:extLst>
          </p:cNvPr>
          <p:cNvSpPr/>
          <p:nvPr/>
        </p:nvSpPr>
        <p:spPr>
          <a:xfrm>
            <a:off x="635000" y="2235200"/>
            <a:ext cx="2222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5F1D73B7-77DD-733A-0EF3-744F17E5C7F0}"/>
              </a:ext>
            </a:extLst>
          </p:cNvPr>
          <p:cNvSpPr txBox="1"/>
          <p:nvPr/>
        </p:nvSpPr>
        <p:spPr>
          <a:xfrm>
            <a:off x="762000" y="2387600"/>
            <a:ext cx="1968500" cy="276999"/>
          </a:xfrm>
          <a:prstGeom prst="rect">
            <a:avLst/>
          </a:prstGeom>
          <a:noFill/>
        </p:spPr>
        <p:txBody>
          <a:bodyPr vert="horz" wrap="square" lIns="0" tIns="0" rIns="0" bIns="0" rtlCol="0" anchor="t">
            <a:noAutofit/>
          </a:bodyPr>
          <a:lstStyle/>
          <a:p>
            <a:r>
              <a:rPr lang="en-GB" sz="1050" b="1">
                <a:solidFill>
                  <a:srgbClr val="0B2239"/>
                </a:solidFill>
                <a:latin typeface="Aptos" panose="020B0004020202020204" pitchFamily="34" charset="0"/>
              </a:rPr>
              <a:t>Core modality</a:t>
            </a:r>
          </a:p>
        </p:txBody>
      </p:sp>
      <p:sp>
        <p:nvSpPr>
          <p:cNvPr id="18" name="Rectangle 17">
            <a:extLst>
              <a:ext uri="{FF2B5EF4-FFF2-40B4-BE49-F238E27FC236}">
                <a16:creationId xmlns:a16="http://schemas.microsoft.com/office/drawing/2014/main" id="{C739387B-E3A6-8A6C-397A-5EAE45EA2781}"/>
              </a:ext>
            </a:extLst>
          </p:cNvPr>
          <p:cNvSpPr/>
          <p:nvPr/>
        </p:nvSpPr>
        <p:spPr>
          <a:xfrm>
            <a:off x="3111500" y="2235200"/>
            <a:ext cx="2603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71AFB147-5EB4-E1E2-4782-2383B1B34D16}"/>
              </a:ext>
            </a:extLst>
          </p:cNvPr>
          <p:cNvSpPr txBox="1"/>
          <p:nvPr/>
        </p:nvSpPr>
        <p:spPr>
          <a:xfrm>
            <a:off x="3238500" y="23876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448 kHz monopolar RF</a:t>
            </a:r>
          </a:p>
        </p:txBody>
      </p:sp>
      <p:sp>
        <p:nvSpPr>
          <p:cNvPr id="20" name="Rectangle 19">
            <a:extLst>
              <a:ext uri="{FF2B5EF4-FFF2-40B4-BE49-F238E27FC236}">
                <a16:creationId xmlns:a16="http://schemas.microsoft.com/office/drawing/2014/main" id="{249C20B9-636F-30AE-91D2-BA032A0F170D}"/>
              </a:ext>
            </a:extLst>
          </p:cNvPr>
          <p:cNvSpPr/>
          <p:nvPr/>
        </p:nvSpPr>
        <p:spPr>
          <a:xfrm>
            <a:off x="5842000" y="2235200"/>
            <a:ext cx="2603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C1FE0A22-B4E8-F147-A875-68778CE1E405}"/>
              </a:ext>
            </a:extLst>
          </p:cNvPr>
          <p:cNvSpPr txBox="1"/>
          <p:nvPr/>
        </p:nvSpPr>
        <p:spPr>
          <a:xfrm>
            <a:off x="5969000" y="23876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Pulsed Nd:YAG HILT</a:t>
            </a:r>
          </a:p>
        </p:txBody>
      </p:sp>
      <p:sp>
        <p:nvSpPr>
          <p:cNvPr id="22" name="Rectangle 21">
            <a:extLst>
              <a:ext uri="{FF2B5EF4-FFF2-40B4-BE49-F238E27FC236}">
                <a16:creationId xmlns:a16="http://schemas.microsoft.com/office/drawing/2014/main" id="{D485B3BA-DA7B-18AF-2AF7-44AE2C96AD05}"/>
              </a:ext>
            </a:extLst>
          </p:cNvPr>
          <p:cNvSpPr/>
          <p:nvPr/>
        </p:nvSpPr>
        <p:spPr>
          <a:xfrm>
            <a:off x="8572500" y="2235200"/>
            <a:ext cx="2984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6D9E5533-34A5-DE69-3CE9-DDEA90B69A09}"/>
              </a:ext>
            </a:extLst>
          </p:cNvPr>
          <p:cNvSpPr txBox="1"/>
          <p:nvPr/>
        </p:nvSpPr>
        <p:spPr>
          <a:xfrm>
            <a:off x="8699500" y="2387600"/>
            <a:ext cx="2730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Different mechanisms for different clinical asks</a:t>
            </a:r>
          </a:p>
        </p:txBody>
      </p:sp>
      <p:sp>
        <p:nvSpPr>
          <p:cNvPr id="24" name="Rectangle 23">
            <a:extLst>
              <a:ext uri="{FF2B5EF4-FFF2-40B4-BE49-F238E27FC236}">
                <a16:creationId xmlns:a16="http://schemas.microsoft.com/office/drawing/2014/main" id="{47058007-3F07-340A-EFF0-3CD22657181A}"/>
              </a:ext>
            </a:extLst>
          </p:cNvPr>
          <p:cNvSpPr/>
          <p:nvPr/>
        </p:nvSpPr>
        <p:spPr>
          <a:xfrm>
            <a:off x="635000" y="2895600"/>
            <a:ext cx="2222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151B6279-1DBC-5380-4167-64C537A5ECC1}"/>
              </a:ext>
            </a:extLst>
          </p:cNvPr>
          <p:cNvSpPr txBox="1"/>
          <p:nvPr/>
        </p:nvSpPr>
        <p:spPr>
          <a:xfrm>
            <a:off x="762000" y="3048000"/>
            <a:ext cx="1968500" cy="276999"/>
          </a:xfrm>
          <a:prstGeom prst="rect">
            <a:avLst/>
          </a:prstGeom>
          <a:noFill/>
        </p:spPr>
        <p:txBody>
          <a:bodyPr vert="horz" wrap="square" lIns="0" tIns="0" rIns="0" bIns="0" rtlCol="0" anchor="t">
            <a:noAutofit/>
          </a:bodyPr>
          <a:lstStyle/>
          <a:p>
            <a:r>
              <a:rPr lang="en-GB" sz="1050" b="1">
                <a:solidFill>
                  <a:srgbClr val="0B2239"/>
                </a:solidFill>
                <a:latin typeface="Aptos" panose="020B0004020202020204" pitchFamily="34" charset="0"/>
              </a:rPr>
              <a:t>Primary strength</a:t>
            </a:r>
          </a:p>
        </p:txBody>
      </p:sp>
      <p:sp>
        <p:nvSpPr>
          <p:cNvPr id="26" name="Rectangle 25">
            <a:extLst>
              <a:ext uri="{FF2B5EF4-FFF2-40B4-BE49-F238E27FC236}">
                <a16:creationId xmlns:a16="http://schemas.microsoft.com/office/drawing/2014/main" id="{C1C762C0-6D09-3AE7-452B-38D393A17044}"/>
              </a:ext>
            </a:extLst>
          </p:cNvPr>
          <p:cNvSpPr/>
          <p:nvPr/>
        </p:nvSpPr>
        <p:spPr>
          <a:xfrm>
            <a:off x="3111500" y="2895600"/>
            <a:ext cx="2603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55E59941-8063-60F3-19B2-C2E0337E6B09}"/>
              </a:ext>
            </a:extLst>
          </p:cNvPr>
          <p:cNvSpPr txBox="1"/>
          <p:nvPr/>
        </p:nvSpPr>
        <p:spPr>
          <a:xfrm>
            <a:off x="3238500" y="30480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Versatility and integration</a:t>
            </a:r>
          </a:p>
        </p:txBody>
      </p:sp>
      <p:sp>
        <p:nvSpPr>
          <p:cNvPr id="28" name="Rectangle 27">
            <a:extLst>
              <a:ext uri="{FF2B5EF4-FFF2-40B4-BE49-F238E27FC236}">
                <a16:creationId xmlns:a16="http://schemas.microsoft.com/office/drawing/2014/main" id="{DBF8863A-E642-9267-AD95-5896E39334E6}"/>
              </a:ext>
            </a:extLst>
          </p:cNvPr>
          <p:cNvSpPr/>
          <p:nvPr/>
        </p:nvSpPr>
        <p:spPr>
          <a:xfrm>
            <a:off x="5842000" y="2895600"/>
            <a:ext cx="2603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C69B7F2A-2B69-2302-7019-D1E3EC818BBA}"/>
              </a:ext>
            </a:extLst>
          </p:cNvPr>
          <p:cNvSpPr txBox="1"/>
          <p:nvPr/>
        </p:nvSpPr>
        <p:spPr>
          <a:xfrm>
            <a:off x="5969000" y="30480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Intensity, depth and differentiation</a:t>
            </a:r>
          </a:p>
        </p:txBody>
      </p:sp>
      <p:sp>
        <p:nvSpPr>
          <p:cNvPr id="30" name="Rectangle 29">
            <a:extLst>
              <a:ext uri="{FF2B5EF4-FFF2-40B4-BE49-F238E27FC236}">
                <a16:creationId xmlns:a16="http://schemas.microsoft.com/office/drawing/2014/main" id="{06381C7E-64F6-3EB0-DE4A-7324643E0238}"/>
              </a:ext>
            </a:extLst>
          </p:cNvPr>
          <p:cNvSpPr/>
          <p:nvPr/>
        </p:nvSpPr>
        <p:spPr>
          <a:xfrm>
            <a:off x="8572500" y="2895600"/>
            <a:ext cx="2984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FD7CE0FF-DF7D-764B-6D02-9CBCB4F47C5D}"/>
              </a:ext>
            </a:extLst>
          </p:cNvPr>
          <p:cNvSpPr txBox="1"/>
          <p:nvPr/>
        </p:nvSpPr>
        <p:spPr>
          <a:xfrm>
            <a:off x="8699500" y="3048000"/>
            <a:ext cx="2730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Match investment to ambition</a:t>
            </a:r>
          </a:p>
        </p:txBody>
      </p:sp>
      <p:sp>
        <p:nvSpPr>
          <p:cNvPr id="32" name="Rectangle 31">
            <a:extLst>
              <a:ext uri="{FF2B5EF4-FFF2-40B4-BE49-F238E27FC236}">
                <a16:creationId xmlns:a16="http://schemas.microsoft.com/office/drawing/2014/main" id="{2AE13058-B349-7109-2C1C-EE24E8C5CA69}"/>
              </a:ext>
            </a:extLst>
          </p:cNvPr>
          <p:cNvSpPr/>
          <p:nvPr/>
        </p:nvSpPr>
        <p:spPr>
          <a:xfrm>
            <a:off x="635000" y="3556000"/>
            <a:ext cx="2222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0559E498-1A47-EE21-8AEA-7D3D775E49A1}"/>
              </a:ext>
            </a:extLst>
          </p:cNvPr>
          <p:cNvSpPr txBox="1"/>
          <p:nvPr/>
        </p:nvSpPr>
        <p:spPr>
          <a:xfrm>
            <a:off x="762000" y="3708400"/>
            <a:ext cx="1968500" cy="276999"/>
          </a:xfrm>
          <a:prstGeom prst="rect">
            <a:avLst/>
          </a:prstGeom>
          <a:noFill/>
        </p:spPr>
        <p:txBody>
          <a:bodyPr vert="horz" wrap="square" lIns="0" tIns="0" rIns="0" bIns="0" rtlCol="0" anchor="t">
            <a:noAutofit/>
          </a:bodyPr>
          <a:lstStyle/>
          <a:p>
            <a:r>
              <a:rPr lang="en-GB" sz="1050" b="1">
                <a:solidFill>
                  <a:srgbClr val="0B2239"/>
                </a:solidFill>
                <a:latin typeface="Aptos" panose="020B0004020202020204" pitchFamily="34" charset="0"/>
              </a:rPr>
              <a:t>Best workflow</a:t>
            </a:r>
          </a:p>
        </p:txBody>
      </p:sp>
      <p:sp>
        <p:nvSpPr>
          <p:cNvPr id="34" name="Rectangle 33">
            <a:extLst>
              <a:ext uri="{FF2B5EF4-FFF2-40B4-BE49-F238E27FC236}">
                <a16:creationId xmlns:a16="http://schemas.microsoft.com/office/drawing/2014/main" id="{0E8D7F16-A4E2-A176-31FF-F93E6BAE8F84}"/>
              </a:ext>
            </a:extLst>
          </p:cNvPr>
          <p:cNvSpPr/>
          <p:nvPr/>
        </p:nvSpPr>
        <p:spPr>
          <a:xfrm>
            <a:off x="3111500" y="3556000"/>
            <a:ext cx="2603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A61CD3F6-A1DE-FBD8-FDEF-A1726C09CB13}"/>
              </a:ext>
            </a:extLst>
          </p:cNvPr>
          <p:cNvSpPr txBox="1"/>
          <p:nvPr/>
        </p:nvSpPr>
        <p:spPr>
          <a:xfrm>
            <a:off x="3238500" y="37084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Daily use with manual therapy</a:t>
            </a:r>
          </a:p>
        </p:txBody>
      </p:sp>
      <p:sp>
        <p:nvSpPr>
          <p:cNvPr id="36" name="Rectangle 35">
            <a:extLst>
              <a:ext uri="{FF2B5EF4-FFF2-40B4-BE49-F238E27FC236}">
                <a16:creationId xmlns:a16="http://schemas.microsoft.com/office/drawing/2014/main" id="{D4CAF8B4-391A-6AB7-42A5-C590BAA6917E}"/>
              </a:ext>
            </a:extLst>
          </p:cNvPr>
          <p:cNvSpPr/>
          <p:nvPr/>
        </p:nvSpPr>
        <p:spPr>
          <a:xfrm>
            <a:off x="5842000" y="3556000"/>
            <a:ext cx="2603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BA57E2C8-D24B-1BF9-EE21-8922A8C468F9}"/>
              </a:ext>
            </a:extLst>
          </p:cNvPr>
          <p:cNvSpPr txBox="1"/>
          <p:nvPr/>
        </p:nvSpPr>
        <p:spPr>
          <a:xfrm>
            <a:off x="5969000" y="37084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Focused protocols and premium care</a:t>
            </a:r>
          </a:p>
        </p:txBody>
      </p:sp>
      <p:sp>
        <p:nvSpPr>
          <p:cNvPr id="38" name="Rectangle 37">
            <a:extLst>
              <a:ext uri="{FF2B5EF4-FFF2-40B4-BE49-F238E27FC236}">
                <a16:creationId xmlns:a16="http://schemas.microsoft.com/office/drawing/2014/main" id="{C79BAE0F-EDB5-60BD-A73F-C1CFAB685265}"/>
              </a:ext>
            </a:extLst>
          </p:cNvPr>
          <p:cNvSpPr/>
          <p:nvPr/>
        </p:nvSpPr>
        <p:spPr>
          <a:xfrm>
            <a:off x="8572500" y="3556000"/>
            <a:ext cx="2984500" cy="660400"/>
          </a:xfrm>
          <a:prstGeom prst="rect">
            <a:avLst/>
          </a:prstGeom>
          <a:solidFill>
            <a:srgbClr val="F5F8FB"/>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AD454991-736E-42F5-A5AC-0E503CBA9341}"/>
              </a:ext>
            </a:extLst>
          </p:cNvPr>
          <p:cNvSpPr txBox="1"/>
          <p:nvPr/>
        </p:nvSpPr>
        <p:spPr>
          <a:xfrm>
            <a:off x="8699500" y="3708400"/>
            <a:ext cx="2730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Adoption depends on workflow fit</a:t>
            </a:r>
          </a:p>
        </p:txBody>
      </p:sp>
      <p:sp>
        <p:nvSpPr>
          <p:cNvPr id="40" name="Rectangle 39">
            <a:extLst>
              <a:ext uri="{FF2B5EF4-FFF2-40B4-BE49-F238E27FC236}">
                <a16:creationId xmlns:a16="http://schemas.microsoft.com/office/drawing/2014/main" id="{8B7852F8-D8D5-7FBE-5961-F3E7FD333036}"/>
              </a:ext>
            </a:extLst>
          </p:cNvPr>
          <p:cNvSpPr/>
          <p:nvPr/>
        </p:nvSpPr>
        <p:spPr>
          <a:xfrm>
            <a:off x="635000" y="4216400"/>
            <a:ext cx="2222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D8A8772B-C457-6FB6-43AD-4909BD47BF0E}"/>
              </a:ext>
            </a:extLst>
          </p:cNvPr>
          <p:cNvSpPr txBox="1"/>
          <p:nvPr/>
        </p:nvSpPr>
        <p:spPr>
          <a:xfrm>
            <a:off x="762000" y="4368800"/>
            <a:ext cx="1968500" cy="276999"/>
          </a:xfrm>
          <a:prstGeom prst="rect">
            <a:avLst/>
          </a:prstGeom>
          <a:noFill/>
        </p:spPr>
        <p:txBody>
          <a:bodyPr vert="horz" wrap="square" lIns="0" tIns="0" rIns="0" bIns="0" rtlCol="0" anchor="t">
            <a:noAutofit/>
          </a:bodyPr>
          <a:lstStyle/>
          <a:p>
            <a:r>
              <a:rPr lang="en-GB" sz="1050" b="1">
                <a:solidFill>
                  <a:srgbClr val="0B2239"/>
                </a:solidFill>
                <a:latin typeface="Aptos" panose="020B0004020202020204" pitchFamily="34" charset="0"/>
              </a:rPr>
              <a:t>Commercial role</a:t>
            </a:r>
          </a:p>
        </p:txBody>
      </p:sp>
      <p:sp>
        <p:nvSpPr>
          <p:cNvPr id="42" name="Rectangle 41">
            <a:extLst>
              <a:ext uri="{FF2B5EF4-FFF2-40B4-BE49-F238E27FC236}">
                <a16:creationId xmlns:a16="http://schemas.microsoft.com/office/drawing/2014/main" id="{AAEAB0EF-09DD-1FC2-27D2-398E5CDC4CD6}"/>
              </a:ext>
            </a:extLst>
          </p:cNvPr>
          <p:cNvSpPr/>
          <p:nvPr/>
        </p:nvSpPr>
        <p:spPr>
          <a:xfrm>
            <a:off x="3111500" y="4216400"/>
            <a:ext cx="2603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FA3FC543-00F8-C9E7-AE2E-BB7DECA4F29D}"/>
              </a:ext>
            </a:extLst>
          </p:cNvPr>
          <p:cNvSpPr txBox="1"/>
          <p:nvPr/>
        </p:nvSpPr>
        <p:spPr>
          <a:xfrm>
            <a:off x="3238500" y="43688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Broad utilization</a:t>
            </a:r>
          </a:p>
        </p:txBody>
      </p:sp>
      <p:sp>
        <p:nvSpPr>
          <p:cNvPr id="44" name="Rectangle 43">
            <a:extLst>
              <a:ext uri="{FF2B5EF4-FFF2-40B4-BE49-F238E27FC236}">
                <a16:creationId xmlns:a16="http://schemas.microsoft.com/office/drawing/2014/main" id="{84A2BCA1-BE8E-BF08-BEE3-5721F2F163CE}"/>
              </a:ext>
            </a:extLst>
          </p:cNvPr>
          <p:cNvSpPr/>
          <p:nvPr/>
        </p:nvSpPr>
        <p:spPr>
          <a:xfrm>
            <a:off x="5842000" y="4216400"/>
            <a:ext cx="2603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9B913397-0706-EDF0-94B9-0FEB78841345}"/>
              </a:ext>
            </a:extLst>
          </p:cNvPr>
          <p:cNvSpPr txBox="1"/>
          <p:nvPr/>
        </p:nvSpPr>
        <p:spPr>
          <a:xfrm>
            <a:off x="5969000" y="4368800"/>
            <a:ext cx="2349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Focused higher-value service line</a:t>
            </a:r>
          </a:p>
        </p:txBody>
      </p:sp>
      <p:sp>
        <p:nvSpPr>
          <p:cNvPr id="46" name="Rectangle 45">
            <a:extLst>
              <a:ext uri="{FF2B5EF4-FFF2-40B4-BE49-F238E27FC236}">
                <a16:creationId xmlns:a16="http://schemas.microsoft.com/office/drawing/2014/main" id="{86EDAAA7-6BF5-3984-A02B-876EA3FFEFF8}"/>
              </a:ext>
            </a:extLst>
          </p:cNvPr>
          <p:cNvSpPr/>
          <p:nvPr/>
        </p:nvSpPr>
        <p:spPr>
          <a:xfrm>
            <a:off x="8572500" y="4216400"/>
            <a:ext cx="2984500" cy="660400"/>
          </a:xfrm>
          <a:prstGeom prst="rect">
            <a:avLst/>
          </a:prstGeom>
          <a:solidFill>
            <a:srgbClr val="FFFFFF"/>
          </a:solidFill>
          <a:ln w="889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F4679AFA-F6CF-B1B8-AEF2-0CADFD04DB89}"/>
              </a:ext>
            </a:extLst>
          </p:cNvPr>
          <p:cNvSpPr txBox="1"/>
          <p:nvPr/>
        </p:nvSpPr>
        <p:spPr>
          <a:xfrm>
            <a:off x="8699500" y="4368800"/>
            <a:ext cx="2730500" cy="276999"/>
          </a:xfrm>
          <a:prstGeom prst="rect">
            <a:avLst/>
          </a:prstGeom>
          <a:noFill/>
        </p:spPr>
        <p:txBody>
          <a:bodyPr vert="horz" wrap="square" lIns="0" tIns="0" rIns="0" bIns="0" rtlCol="0" anchor="t">
            <a:noAutofit/>
          </a:bodyPr>
          <a:lstStyle/>
          <a:p>
            <a:r>
              <a:rPr lang="en-GB" sz="1050">
                <a:solidFill>
                  <a:srgbClr val="1F3448"/>
                </a:solidFill>
                <a:latin typeface="Aptos" panose="020B0004020202020204" pitchFamily="34" charset="0"/>
              </a:rPr>
              <a:t>One expands; one elevates</a:t>
            </a:r>
          </a:p>
        </p:txBody>
      </p:sp>
      <p:sp>
        <p:nvSpPr>
          <p:cNvPr id="48" name="TextBox 47">
            <a:extLst>
              <a:ext uri="{FF2B5EF4-FFF2-40B4-BE49-F238E27FC236}">
                <a16:creationId xmlns:a16="http://schemas.microsoft.com/office/drawing/2014/main" id="{C4C3275E-404A-A514-B7A1-38E46ABC795C}"/>
              </a:ext>
            </a:extLst>
          </p:cNvPr>
          <p:cNvSpPr txBox="1"/>
          <p:nvPr/>
        </p:nvSpPr>
        <p:spPr>
          <a:xfrm>
            <a:off x="635000" y="5308600"/>
            <a:ext cx="9652000" cy="276999"/>
          </a:xfrm>
          <a:prstGeom prst="rect">
            <a:avLst/>
          </a:prstGeom>
          <a:noFill/>
        </p:spPr>
        <p:txBody>
          <a:bodyPr vert="horz" wrap="square" lIns="0" tIns="0" rIns="0" bIns="0" rtlCol="0" anchor="t">
            <a:noAutofit/>
          </a:bodyPr>
          <a:lstStyle/>
          <a:p>
            <a:r>
              <a:rPr lang="en-GB" sz="1700" b="1">
                <a:solidFill>
                  <a:srgbClr val="0B2239"/>
                </a:solidFill>
                <a:latin typeface="Aptos" panose="020B0004020202020204" pitchFamily="34" charset="0"/>
              </a:rPr>
              <a:t>Memory hook: CT9 = breadth. HIRO TT = depth and differentiation.</a:t>
            </a:r>
          </a:p>
        </p:txBody>
      </p:sp>
    </p:spTree>
    <p:extLst>
      <p:ext uri="{BB962C8B-B14F-4D97-AF65-F5344CB8AC3E}">
        <p14:creationId xmlns:p14="http://schemas.microsoft.com/office/powerpoint/2010/main" val="104069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D64BE1-C1C2-5785-C115-5269E9EBEAEF}"/>
              </a:ext>
            </a:extLst>
          </p:cNvPr>
          <p:cNvSpPr txBox="1"/>
          <p:nvPr/>
        </p:nvSpPr>
        <p:spPr>
          <a:xfrm>
            <a:off x="546100" y="279400"/>
            <a:ext cx="6350000" cy="276999"/>
          </a:xfrm>
          <a:prstGeom prst="rect">
            <a:avLst/>
          </a:prstGeom>
          <a:noFill/>
        </p:spPr>
        <p:txBody>
          <a:bodyPr vert="horz" wrap="square" lIns="0" tIns="0" rIns="0" bIns="0" rtlCol="0" anchor="t">
            <a:noAutofit/>
          </a:bodyPr>
          <a:lstStyle/>
          <a:p>
            <a:r>
              <a:rPr lang="en-GB" sz="900" b="1">
                <a:solidFill>
                  <a:srgbClr val="12B8C4"/>
                </a:solidFill>
                <a:latin typeface="Aptos" panose="020B0004020202020204" pitchFamily="34" charset="0"/>
              </a:rPr>
              <a:t>BUSINESS VALUE</a:t>
            </a:r>
          </a:p>
        </p:txBody>
      </p:sp>
      <p:sp>
        <p:nvSpPr>
          <p:cNvPr id="3" name="TextBox 2">
            <a:extLst>
              <a:ext uri="{FF2B5EF4-FFF2-40B4-BE49-F238E27FC236}">
                <a16:creationId xmlns:a16="http://schemas.microsoft.com/office/drawing/2014/main" id="{11B8A500-241C-6F2C-83D1-30C69AF961F0}"/>
              </a:ext>
            </a:extLst>
          </p:cNvPr>
          <p:cNvSpPr txBox="1"/>
          <p:nvPr/>
        </p:nvSpPr>
        <p:spPr>
          <a:xfrm>
            <a:off x="546100" y="596900"/>
            <a:ext cx="11112500" cy="276999"/>
          </a:xfrm>
          <a:prstGeom prst="rect">
            <a:avLst/>
          </a:prstGeom>
          <a:noFill/>
        </p:spPr>
        <p:txBody>
          <a:bodyPr vert="horz" wrap="square" lIns="0" tIns="0" rIns="0" bIns="0" rtlCol="0" anchor="t">
            <a:noAutofit/>
          </a:bodyPr>
          <a:lstStyle/>
          <a:p>
            <a:r>
              <a:rPr lang="en-GB" sz="2500" b="1">
                <a:solidFill>
                  <a:srgbClr val="0B2239"/>
                </a:solidFill>
                <a:latin typeface="Aptos" panose="020B0004020202020204" pitchFamily="34" charset="0"/>
              </a:rPr>
              <a:t>Why a clinic owner should care</a:t>
            </a:r>
          </a:p>
        </p:txBody>
      </p:sp>
      <p:sp>
        <p:nvSpPr>
          <p:cNvPr id="4" name="TextBox 3">
            <a:extLst>
              <a:ext uri="{FF2B5EF4-FFF2-40B4-BE49-F238E27FC236}">
                <a16:creationId xmlns:a16="http://schemas.microsoft.com/office/drawing/2014/main" id="{66B566CC-B961-2C65-14BC-B4DC5996DE11}"/>
              </a:ext>
            </a:extLst>
          </p:cNvPr>
          <p:cNvSpPr txBox="1"/>
          <p:nvPr/>
        </p:nvSpPr>
        <p:spPr>
          <a:xfrm>
            <a:off x="546100" y="1155700"/>
            <a:ext cx="10795000" cy="276999"/>
          </a:xfrm>
          <a:prstGeom prst="rect">
            <a:avLst/>
          </a:prstGeom>
          <a:noFill/>
        </p:spPr>
        <p:txBody>
          <a:bodyPr vert="horz" wrap="square" lIns="0" tIns="0" rIns="0" bIns="0" rtlCol="0" anchor="t">
            <a:noAutofit/>
          </a:bodyPr>
          <a:lstStyle/>
          <a:p>
            <a:r>
              <a:rPr lang="en-GB" sz="1200">
                <a:solidFill>
                  <a:srgbClr val="607386"/>
                </a:solidFill>
                <a:latin typeface="Aptos" panose="020B0004020202020204" pitchFamily="34" charset="0"/>
              </a:rPr>
              <a:t>Connect clinical capability to utilization, differentiation and adoption.</a:t>
            </a:r>
          </a:p>
        </p:txBody>
      </p:sp>
      <p:sp>
        <p:nvSpPr>
          <p:cNvPr id="5" name="TextBox 4">
            <a:extLst>
              <a:ext uri="{FF2B5EF4-FFF2-40B4-BE49-F238E27FC236}">
                <a16:creationId xmlns:a16="http://schemas.microsoft.com/office/drawing/2014/main" id="{CE835CE2-D57A-5FED-07BF-8F42BB3F874C}"/>
              </a:ext>
            </a:extLst>
          </p:cNvPr>
          <p:cNvSpPr txBox="1"/>
          <p:nvPr/>
        </p:nvSpPr>
        <p:spPr>
          <a:xfrm>
            <a:off x="546100" y="6477000"/>
            <a:ext cx="355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INDIBA CT9  |  ASA HIRO TT</a:t>
            </a:r>
          </a:p>
        </p:txBody>
      </p:sp>
      <p:sp>
        <p:nvSpPr>
          <p:cNvPr id="6" name="TextBox 5">
            <a:extLst>
              <a:ext uri="{FF2B5EF4-FFF2-40B4-BE49-F238E27FC236}">
                <a16:creationId xmlns:a16="http://schemas.microsoft.com/office/drawing/2014/main" id="{C4D524E9-E67A-59EB-F5E6-52237B9FE7DA}"/>
              </a:ext>
            </a:extLst>
          </p:cNvPr>
          <p:cNvSpPr txBox="1"/>
          <p:nvPr/>
        </p:nvSpPr>
        <p:spPr>
          <a:xfrm>
            <a:off x="9334500" y="6477000"/>
            <a:ext cx="2286000" cy="276999"/>
          </a:xfrm>
          <a:prstGeom prst="rect">
            <a:avLst/>
          </a:prstGeom>
          <a:noFill/>
        </p:spPr>
        <p:txBody>
          <a:bodyPr vert="horz" wrap="square" lIns="0" tIns="0" rIns="0" bIns="0" rtlCol="0" anchor="t">
            <a:noAutofit/>
          </a:bodyPr>
          <a:lstStyle/>
          <a:p>
            <a:r>
              <a:rPr lang="en-GB" sz="800">
                <a:solidFill>
                  <a:srgbClr val="607386"/>
                </a:solidFill>
                <a:latin typeface="Aptos" panose="020B0004020202020204" pitchFamily="34" charset="0"/>
              </a:rPr>
              <a:t>INTERVIEW PRESENTATION  |  8</a:t>
            </a:r>
          </a:p>
        </p:txBody>
      </p:sp>
      <p:sp>
        <p:nvSpPr>
          <p:cNvPr id="7" name="Rectangle 6">
            <a:extLst>
              <a:ext uri="{FF2B5EF4-FFF2-40B4-BE49-F238E27FC236}">
                <a16:creationId xmlns:a16="http://schemas.microsoft.com/office/drawing/2014/main" id="{E80326D6-28A3-7821-3B1C-13D89F2EE0C8}"/>
              </a:ext>
            </a:extLst>
          </p:cNvPr>
          <p:cNvSpPr/>
          <p:nvPr/>
        </p:nvSpPr>
        <p:spPr>
          <a:xfrm>
            <a:off x="0" y="0"/>
            <a:ext cx="12192000" cy="63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3E400CA5-1878-D627-3A98-7B0AC490D626}"/>
              </a:ext>
            </a:extLst>
          </p:cNvPr>
          <p:cNvSpPr/>
          <p:nvPr/>
        </p:nvSpPr>
        <p:spPr>
          <a:xfrm>
            <a:off x="635000" y="1841500"/>
            <a:ext cx="3302000" cy="1841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462CFD1-CE2B-C3F8-D709-96B4D7A85E47}"/>
              </a:ext>
            </a:extLst>
          </p:cNvPr>
          <p:cNvSpPr/>
          <p:nvPr/>
        </p:nvSpPr>
        <p:spPr>
          <a:xfrm>
            <a:off x="635000" y="1841500"/>
            <a:ext cx="76200" cy="18415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8DF637A-E4DF-57CC-AB79-06B402A234AB}"/>
              </a:ext>
            </a:extLst>
          </p:cNvPr>
          <p:cNvSpPr txBox="1"/>
          <p:nvPr/>
        </p:nvSpPr>
        <p:spPr>
          <a:xfrm>
            <a:off x="88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Utilization</a:t>
            </a:r>
          </a:p>
        </p:txBody>
      </p:sp>
      <p:sp>
        <p:nvSpPr>
          <p:cNvPr id="11" name="TextBox 10">
            <a:extLst>
              <a:ext uri="{FF2B5EF4-FFF2-40B4-BE49-F238E27FC236}">
                <a16:creationId xmlns:a16="http://schemas.microsoft.com/office/drawing/2014/main" id="{F76A4F33-7EB4-33A0-94EC-CB9E9CAF69EF}"/>
              </a:ext>
            </a:extLst>
          </p:cNvPr>
          <p:cNvSpPr txBox="1"/>
          <p:nvPr/>
        </p:nvSpPr>
        <p:spPr>
          <a:xfrm>
            <a:off x="88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Use the platform across clinicians, specialties and body areas.</a:t>
            </a:r>
          </a:p>
        </p:txBody>
      </p:sp>
      <p:sp>
        <p:nvSpPr>
          <p:cNvPr id="12" name="Rectangle: Rounded Corners 11">
            <a:extLst>
              <a:ext uri="{FF2B5EF4-FFF2-40B4-BE49-F238E27FC236}">
                <a16:creationId xmlns:a16="http://schemas.microsoft.com/office/drawing/2014/main" id="{AD830F14-CF06-F5A3-71D2-092D7B897C7A}"/>
              </a:ext>
            </a:extLst>
          </p:cNvPr>
          <p:cNvSpPr/>
          <p:nvPr/>
        </p:nvSpPr>
        <p:spPr>
          <a:xfrm>
            <a:off x="4445000" y="1841500"/>
            <a:ext cx="3302000" cy="1841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A13D4C-888C-6F35-7F5C-5245FE1A4F12}"/>
              </a:ext>
            </a:extLst>
          </p:cNvPr>
          <p:cNvSpPr/>
          <p:nvPr/>
        </p:nvSpPr>
        <p:spPr>
          <a:xfrm>
            <a:off x="4445000" y="1841500"/>
            <a:ext cx="76200" cy="1841500"/>
          </a:xfrm>
          <a:prstGeom prst="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9BDC64EC-F55B-FC7B-B186-F853631BB797}"/>
              </a:ext>
            </a:extLst>
          </p:cNvPr>
          <p:cNvSpPr txBox="1"/>
          <p:nvPr/>
        </p:nvSpPr>
        <p:spPr>
          <a:xfrm>
            <a:off x="469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Differentiation</a:t>
            </a:r>
          </a:p>
        </p:txBody>
      </p:sp>
      <p:sp>
        <p:nvSpPr>
          <p:cNvPr id="15" name="TextBox 14">
            <a:extLst>
              <a:ext uri="{FF2B5EF4-FFF2-40B4-BE49-F238E27FC236}">
                <a16:creationId xmlns:a16="http://schemas.microsoft.com/office/drawing/2014/main" id="{8C60EE05-C8D0-2749-2C10-68BAC12E9BDA}"/>
              </a:ext>
            </a:extLst>
          </p:cNvPr>
          <p:cNvSpPr txBox="1"/>
          <p:nvPr/>
        </p:nvSpPr>
        <p:spPr>
          <a:xfrm>
            <a:off x="469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Create a clear reason for patients and referrers to choose the clinic.</a:t>
            </a:r>
          </a:p>
        </p:txBody>
      </p:sp>
      <p:sp>
        <p:nvSpPr>
          <p:cNvPr id="16" name="Rectangle: Rounded Corners 15">
            <a:extLst>
              <a:ext uri="{FF2B5EF4-FFF2-40B4-BE49-F238E27FC236}">
                <a16:creationId xmlns:a16="http://schemas.microsoft.com/office/drawing/2014/main" id="{CC2FEE28-F5CE-9FFB-3377-36739FF78D2C}"/>
              </a:ext>
            </a:extLst>
          </p:cNvPr>
          <p:cNvSpPr/>
          <p:nvPr/>
        </p:nvSpPr>
        <p:spPr>
          <a:xfrm>
            <a:off x="8255000" y="1841500"/>
            <a:ext cx="3302000" cy="18415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94F45E6-FD07-2B2C-ED19-C90335C3690E}"/>
              </a:ext>
            </a:extLst>
          </p:cNvPr>
          <p:cNvSpPr/>
          <p:nvPr/>
        </p:nvSpPr>
        <p:spPr>
          <a:xfrm>
            <a:off x="8255000" y="1841500"/>
            <a:ext cx="76200" cy="18415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88F4F953-845D-A998-9222-9E817803083A}"/>
              </a:ext>
            </a:extLst>
          </p:cNvPr>
          <p:cNvSpPr txBox="1"/>
          <p:nvPr/>
        </p:nvSpPr>
        <p:spPr>
          <a:xfrm>
            <a:off x="8509000" y="2044700"/>
            <a:ext cx="28575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Workflow</a:t>
            </a:r>
          </a:p>
        </p:txBody>
      </p:sp>
      <p:sp>
        <p:nvSpPr>
          <p:cNvPr id="19" name="TextBox 18">
            <a:extLst>
              <a:ext uri="{FF2B5EF4-FFF2-40B4-BE49-F238E27FC236}">
                <a16:creationId xmlns:a16="http://schemas.microsoft.com/office/drawing/2014/main" id="{CA53D0C0-9006-0F60-7CED-5250804EB797}"/>
              </a:ext>
            </a:extLst>
          </p:cNvPr>
          <p:cNvSpPr txBox="1"/>
          <p:nvPr/>
        </p:nvSpPr>
        <p:spPr>
          <a:xfrm>
            <a:off x="8509000" y="2400300"/>
            <a:ext cx="28575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Make protocols, training and patient explanation repeatable.</a:t>
            </a:r>
          </a:p>
        </p:txBody>
      </p:sp>
      <p:sp>
        <p:nvSpPr>
          <p:cNvPr id="20" name="Rectangle: Rounded Corners 19">
            <a:extLst>
              <a:ext uri="{FF2B5EF4-FFF2-40B4-BE49-F238E27FC236}">
                <a16:creationId xmlns:a16="http://schemas.microsoft.com/office/drawing/2014/main" id="{695BEBD5-1404-EA1A-C5A2-5D0A21DF5657}"/>
              </a:ext>
            </a:extLst>
          </p:cNvPr>
          <p:cNvSpPr/>
          <p:nvPr/>
        </p:nvSpPr>
        <p:spPr>
          <a:xfrm>
            <a:off x="635000" y="4191000"/>
            <a:ext cx="10922000" cy="1333500"/>
          </a:xfrm>
          <a:prstGeom prst="round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452E62B-ED7F-B459-3E4C-362254C123B5}"/>
              </a:ext>
            </a:extLst>
          </p:cNvPr>
          <p:cNvSpPr txBox="1"/>
          <p:nvPr/>
        </p:nvSpPr>
        <p:spPr>
          <a:xfrm>
            <a:off x="952500" y="4445000"/>
            <a:ext cx="2413000" cy="276999"/>
          </a:xfrm>
          <a:prstGeom prst="rect">
            <a:avLst/>
          </a:prstGeom>
          <a:noFill/>
        </p:spPr>
        <p:txBody>
          <a:bodyPr vert="horz" wrap="square" lIns="0" tIns="0" rIns="0" bIns="0" rtlCol="0" anchor="t">
            <a:noAutofit/>
          </a:bodyPr>
          <a:lstStyle/>
          <a:p>
            <a:r>
              <a:rPr lang="en-GB" sz="1300" b="1">
                <a:solidFill>
                  <a:srgbClr val="12B8C4"/>
                </a:solidFill>
                <a:latin typeface="Aptos" panose="020B0004020202020204" pitchFamily="34" charset="0"/>
              </a:rPr>
              <a:t>My ROI conversation</a:t>
            </a:r>
          </a:p>
        </p:txBody>
      </p:sp>
      <p:sp>
        <p:nvSpPr>
          <p:cNvPr id="22" name="TextBox 21">
            <a:extLst>
              <a:ext uri="{FF2B5EF4-FFF2-40B4-BE49-F238E27FC236}">
                <a16:creationId xmlns:a16="http://schemas.microsoft.com/office/drawing/2014/main" id="{D5F30668-963D-597A-C63B-C1EE0A413A47}"/>
              </a:ext>
            </a:extLst>
          </p:cNvPr>
          <p:cNvSpPr txBox="1"/>
          <p:nvPr/>
        </p:nvSpPr>
        <p:spPr>
          <a:xfrm>
            <a:off x="952500" y="4864100"/>
            <a:ext cx="9906000" cy="276999"/>
          </a:xfrm>
          <a:prstGeom prst="rect">
            <a:avLst/>
          </a:prstGeom>
          <a:noFill/>
        </p:spPr>
        <p:txBody>
          <a:bodyPr vert="horz" wrap="square" lIns="0" tIns="0" rIns="0" bIns="0" rtlCol="0" anchor="t">
            <a:noAutofit/>
          </a:bodyPr>
          <a:lstStyle/>
          <a:p>
            <a:r>
              <a:rPr lang="en-GB" sz="1600" b="1">
                <a:solidFill>
                  <a:srgbClr val="FFFFFF"/>
                </a:solidFill>
                <a:latin typeface="Aptos" panose="020B0004020202020204" pitchFamily="34" charset="0"/>
              </a:rPr>
              <a:t>Patient volume -&gt; service line -&gt; treatment frequency -&gt; utilization -&gt; contribution margin</a:t>
            </a:r>
          </a:p>
        </p:txBody>
      </p:sp>
      <p:sp>
        <p:nvSpPr>
          <p:cNvPr id="23" name="TextBox 22">
            <a:extLst>
              <a:ext uri="{FF2B5EF4-FFF2-40B4-BE49-F238E27FC236}">
                <a16:creationId xmlns:a16="http://schemas.microsoft.com/office/drawing/2014/main" id="{66FC0CC1-80F0-B227-C387-91CAF791EC8B}"/>
              </a:ext>
            </a:extLst>
          </p:cNvPr>
          <p:cNvSpPr txBox="1"/>
          <p:nvPr/>
        </p:nvSpPr>
        <p:spPr>
          <a:xfrm>
            <a:off x="952500" y="5308600"/>
            <a:ext cx="8890000" cy="276999"/>
          </a:xfrm>
          <a:prstGeom prst="rect">
            <a:avLst/>
          </a:prstGeom>
          <a:noFill/>
        </p:spPr>
        <p:txBody>
          <a:bodyPr vert="horz" wrap="square" lIns="0" tIns="0" rIns="0" bIns="0" rtlCol="0" anchor="t">
            <a:noAutofit/>
          </a:bodyPr>
          <a:lstStyle/>
          <a:p>
            <a:r>
              <a:rPr lang="en-GB" sz="1100">
                <a:solidFill>
                  <a:srgbClr val="D9E6F0"/>
                </a:solidFill>
                <a:latin typeface="Aptos" panose="020B0004020202020204" pitchFamily="34" charset="0"/>
              </a:rPr>
              <a:t>I would use the clinic's actual numbers, never a generic payback promise.</a:t>
            </a:r>
          </a:p>
        </p:txBody>
      </p:sp>
    </p:spTree>
    <p:extLst>
      <p:ext uri="{BB962C8B-B14F-4D97-AF65-F5344CB8AC3E}">
        <p14:creationId xmlns:p14="http://schemas.microsoft.com/office/powerpoint/2010/main" val="4208412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766B6E-34B3-FC49-AEDA-45342203E624}"/>
              </a:ext>
            </a:extLst>
          </p:cNvPr>
          <p:cNvSpPr/>
          <p:nvPr/>
        </p:nvSpPr>
        <p:spPr>
          <a:xfrm>
            <a:off x="0" y="0"/>
            <a:ext cx="12192000" cy="6858000"/>
          </a:xfrm>
          <a:prstGeom prst="rect">
            <a:avLst/>
          </a:prstGeom>
          <a:solidFill>
            <a:srgbClr val="0B22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17B770D5-3EDA-FD9A-6530-D6BA3201C283}"/>
              </a:ext>
            </a:extLst>
          </p:cNvPr>
          <p:cNvSpPr/>
          <p:nvPr/>
        </p:nvSpPr>
        <p:spPr>
          <a:xfrm>
            <a:off x="0" y="0"/>
            <a:ext cx="101600" cy="68580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53E16F63-1670-8A77-4A04-131A3C6C8A0C}"/>
              </a:ext>
            </a:extLst>
          </p:cNvPr>
          <p:cNvSpPr txBox="1"/>
          <p:nvPr/>
        </p:nvSpPr>
        <p:spPr>
          <a:xfrm>
            <a:off x="762000" y="762000"/>
            <a:ext cx="2794000" cy="276999"/>
          </a:xfrm>
          <a:prstGeom prst="rect">
            <a:avLst/>
          </a:prstGeom>
          <a:noFill/>
        </p:spPr>
        <p:txBody>
          <a:bodyPr vert="horz" wrap="square" lIns="0" tIns="0" rIns="0" bIns="0" rtlCol="0" anchor="t">
            <a:noAutofit/>
          </a:bodyPr>
          <a:lstStyle/>
          <a:p>
            <a:r>
              <a:rPr lang="en-GB" sz="1000" b="1">
                <a:solidFill>
                  <a:srgbClr val="12B8C4"/>
                </a:solidFill>
                <a:latin typeface="Aptos" panose="020B0004020202020204" pitchFamily="34" charset="0"/>
              </a:rPr>
              <a:t>THE TAKEAWAY</a:t>
            </a:r>
          </a:p>
        </p:txBody>
      </p:sp>
      <p:sp>
        <p:nvSpPr>
          <p:cNvPr id="5" name="TextBox 4">
            <a:extLst>
              <a:ext uri="{FF2B5EF4-FFF2-40B4-BE49-F238E27FC236}">
                <a16:creationId xmlns:a16="http://schemas.microsoft.com/office/drawing/2014/main" id="{C2F6A011-D700-3D08-4629-55A12CF46EBC}"/>
              </a:ext>
            </a:extLst>
          </p:cNvPr>
          <p:cNvSpPr txBox="1"/>
          <p:nvPr/>
        </p:nvSpPr>
        <p:spPr>
          <a:xfrm>
            <a:off x="762000" y="1524000"/>
            <a:ext cx="8890000" cy="276999"/>
          </a:xfrm>
          <a:prstGeom prst="rect">
            <a:avLst/>
          </a:prstGeom>
          <a:noFill/>
        </p:spPr>
        <p:txBody>
          <a:bodyPr vert="horz" wrap="square" lIns="0" tIns="0" rIns="0" bIns="0" rtlCol="0" anchor="t">
            <a:noAutofit/>
          </a:bodyPr>
          <a:lstStyle/>
          <a:p>
            <a:r>
              <a:rPr lang="en-GB" sz="3100" b="1">
                <a:solidFill>
                  <a:srgbClr val="FFFFFF"/>
                </a:solidFill>
                <a:latin typeface="Aptos" panose="020B0004020202020204" pitchFamily="34" charset="0"/>
              </a:rPr>
              <a:t>Recommend with clarity.</a:t>
            </a:r>
          </a:p>
        </p:txBody>
      </p:sp>
      <p:sp>
        <p:nvSpPr>
          <p:cNvPr id="6" name="TextBox 5">
            <a:extLst>
              <a:ext uri="{FF2B5EF4-FFF2-40B4-BE49-F238E27FC236}">
                <a16:creationId xmlns:a16="http://schemas.microsoft.com/office/drawing/2014/main" id="{82BC9426-B1B3-60AC-DA72-8C2471146F3A}"/>
              </a:ext>
            </a:extLst>
          </p:cNvPr>
          <p:cNvSpPr txBox="1"/>
          <p:nvPr/>
        </p:nvSpPr>
        <p:spPr>
          <a:xfrm>
            <a:off x="762000" y="2159000"/>
            <a:ext cx="9652000" cy="276999"/>
          </a:xfrm>
          <a:prstGeom prst="rect">
            <a:avLst/>
          </a:prstGeom>
          <a:noFill/>
        </p:spPr>
        <p:txBody>
          <a:bodyPr vert="horz" wrap="square" lIns="0" tIns="0" rIns="0" bIns="0" rtlCol="0" anchor="t">
            <a:noAutofit/>
          </a:bodyPr>
          <a:lstStyle/>
          <a:p>
            <a:r>
              <a:rPr lang="en-GB" sz="2600" b="1">
                <a:solidFill>
                  <a:srgbClr val="12B8C4"/>
                </a:solidFill>
                <a:latin typeface="Aptos" panose="020B0004020202020204" pitchFamily="34" charset="0"/>
              </a:rPr>
              <a:t>Sell the clinical pathway, not just the machine.</a:t>
            </a:r>
          </a:p>
        </p:txBody>
      </p:sp>
      <p:sp>
        <p:nvSpPr>
          <p:cNvPr id="7" name="Rectangle: Rounded Corners 6">
            <a:extLst>
              <a:ext uri="{FF2B5EF4-FFF2-40B4-BE49-F238E27FC236}">
                <a16:creationId xmlns:a16="http://schemas.microsoft.com/office/drawing/2014/main" id="{99C20F5F-E2F9-A2BA-F3B7-29A3C63B0130}"/>
              </a:ext>
            </a:extLst>
          </p:cNvPr>
          <p:cNvSpPr/>
          <p:nvPr/>
        </p:nvSpPr>
        <p:spPr>
          <a:xfrm>
            <a:off x="762000" y="3429000"/>
            <a:ext cx="3111500" cy="14986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5CADD805-F3AC-4FE1-B076-4CEF0A1856EF}"/>
              </a:ext>
            </a:extLst>
          </p:cNvPr>
          <p:cNvSpPr/>
          <p:nvPr/>
        </p:nvSpPr>
        <p:spPr>
          <a:xfrm>
            <a:off x="762000" y="3429000"/>
            <a:ext cx="76200" cy="1498600"/>
          </a:xfrm>
          <a:prstGeom prst="rect">
            <a:avLst/>
          </a:prstGeom>
          <a:solidFill>
            <a:srgbClr val="12B8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E9C23BEA-E57C-E213-7DD2-F4C213A7891D}"/>
              </a:ext>
            </a:extLst>
          </p:cNvPr>
          <p:cNvSpPr txBox="1"/>
          <p:nvPr/>
        </p:nvSpPr>
        <p:spPr>
          <a:xfrm>
            <a:off x="1016000" y="3632200"/>
            <a:ext cx="2667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CT9</a:t>
            </a:r>
          </a:p>
        </p:txBody>
      </p:sp>
      <p:sp>
        <p:nvSpPr>
          <p:cNvPr id="10" name="TextBox 9">
            <a:extLst>
              <a:ext uri="{FF2B5EF4-FFF2-40B4-BE49-F238E27FC236}">
                <a16:creationId xmlns:a16="http://schemas.microsoft.com/office/drawing/2014/main" id="{5776D3B2-0CA6-0CC0-1A24-D3A650D10DC5}"/>
              </a:ext>
            </a:extLst>
          </p:cNvPr>
          <p:cNvSpPr txBox="1"/>
          <p:nvPr/>
        </p:nvSpPr>
        <p:spPr>
          <a:xfrm>
            <a:off x="1016000" y="3987800"/>
            <a:ext cx="2667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Broad capability and daily integration.</a:t>
            </a:r>
          </a:p>
        </p:txBody>
      </p:sp>
      <p:sp>
        <p:nvSpPr>
          <p:cNvPr id="11" name="Rectangle: Rounded Corners 10">
            <a:extLst>
              <a:ext uri="{FF2B5EF4-FFF2-40B4-BE49-F238E27FC236}">
                <a16:creationId xmlns:a16="http://schemas.microsoft.com/office/drawing/2014/main" id="{27C78FB2-6D42-98AB-F45E-871CD718BAD0}"/>
              </a:ext>
            </a:extLst>
          </p:cNvPr>
          <p:cNvSpPr/>
          <p:nvPr/>
        </p:nvSpPr>
        <p:spPr>
          <a:xfrm>
            <a:off x="4318000" y="3429000"/>
            <a:ext cx="3111500" cy="14986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0F34701-7D38-879C-36DB-8AACDB56AE18}"/>
              </a:ext>
            </a:extLst>
          </p:cNvPr>
          <p:cNvSpPr/>
          <p:nvPr/>
        </p:nvSpPr>
        <p:spPr>
          <a:xfrm>
            <a:off x="4318000" y="3429000"/>
            <a:ext cx="76200" cy="1498600"/>
          </a:xfrm>
          <a:prstGeom prst="rect">
            <a:avLst/>
          </a:prstGeom>
          <a:solidFill>
            <a:srgbClr val="F47C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62723E2-7FC3-7E2E-A28B-41870A1BCCF6}"/>
              </a:ext>
            </a:extLst>
          </p:cNvPr>
          <p:cNvSpPr txBox="1"/>
          <p:nvPr/>
        </p:nvSpPr>
        <p:spPr>
          <a:xfrm>
            <a:off x="4572000" y="3632200"/>
            <a:ext cx="2667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HIRO TT</a:t>
            </a:r>
          </a:p>
        </p:txBody>
      </p:sp>
      <p:sp>
        <p:nvSpPr>
          <p:cNvPr id="14" name="TextBox 13">
            <a:extLst>
              <a:ext uri="{FF2B5EF4-FFF2-40B4-BE49-F238E27FC236}">
                <a16:creationId xmlns:a16="http://schemas.microsoft.com/office/drawing/2014/main" id="{6B5F2254-B9E8-021B-1F41-FED6D0157089}"/>
              </a:ext>
            </a:extLst>
          </p:cNvPr>
          <p:cNvSpPr txBox="1"/>
          <p:nvPr/>
        </p:nvSpPr>
        <p:spPr>
          <a:xfrm>
            <a:off x="4572000" y="3987800"/>
            <a:ext cx="2667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Depth, intensity and differentiation.</a:t>
            </a:r>
          </a:p>
        </p:txBody>
      </p:sp>
      <p:sp>
        <p:nvSpPr>
          <p:cNvPr id="15" name="Rectangle: Rounded Corners 14">
            <a:extLst>
              <a:ext uri="{FF2B5EF4-FFF2-40B4-BE49-F238E27FC236}">
                <a16:creationId xmlns:a16="http://schemas.microsoft.com/office/drawing/2014/main" id="{01DA53E9-3E3A-B95C-BC84-96B947733FC4}"/>
              </a:ext>
            </a:extLst>
          </p:cNvPr>
          <p:cNvSpPr/>
          <p:nvPr/>
        </p:nvSpPr>
        <p:spPr>
          <a:xfrm>
            <a:off x="7874000" y="3429000"/>
            <a:ext cx="3111500" cy="1498600"/>
          </a:xfrm>
          <a:prstGeom prst="roundRect">
            <a:avLst/>
          </a:prstGeom>
          <a:solidFill>
            <a:srgbClr val="FFFFFF"/>
          </a:solidFill>
          <a:ln w="12700" cap="flat" cmpd="sng" algn="ctr">
            <a:solidFill>
              <a:srgbClr val="D9E2EA"/>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1F946980-DDEE-91C1-86BB-8BC678BD37F3}"/>
              </a:ext>
            </a:extLst>
          </p:cNvPr>
          <p:cNvSpPr/>
          <p:nvPr/>
        </p:nvSpPr>
        <p:spPr>
          <a:xfrm>
            <a:off x="7874000" y="3429000"/>
            <a:ext cx="76200" cy="1498600"/>
          </a:xfrm>
          <a:prstGeom prst="rect">
            <a:avLst/>
          </a:prstGeom>
          <a:solidFill>
            <a:srgbClr val="E5B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251FC81C-7299-BC8E-7910-0D7F70D20C10}"/>
              </a:ext>
            </a:extLst>
          </p:cNvPr>
          <p:cNvSpPr txBox="1"/>
          <p:nvPr/>
        </p:nvSpPr>
        <p:spPr>
          <a:xfrm>
            <a:off x="8128000" y="3632200"/>
            <a:ext cx="2667000" cy="276999"/>
          </a:xfrm>
          <a:prstGeom prst="rect">
            <a:avLst/>
          </a:prstGeom>
          <a:noFill/>
        </p:spPr>
        <p:txBody>
          <a:bodyPr vert="horz" wrap="square" lIns="0" tIns="0" rIns="0" bIns="0" rtlCol="0" anchor="t">
            <a:noAutofit/>
          </a:bodyPr>
          <a:lstStyle/>
          <a:p>
            <a:r>
              <a:rPr lang="en-GB" sz="1400" b="1">
                <a:solidFill>
                  <a:srgbClr val="0B2239"/>
                </a:solidFill>
                <a:latin typeface="Aptos" panose="020B0004020202020204" pitchFamily="34" charset="0"/>
              </a:rPr>
              <a:t>My role</a:t>
            </a:r>
          </a:p>
        </p:txBody>
      </p:sp>
      <p:sp>
        <p:nvSpPr>
          <p:cNvPr id="18" name="TextBox 17">
            <a:extLst>
              <a:ext uri="{FF2B5EF4-FFF2-40B4-BE49-F238E27FC236}">
                <a16:creationId xmlns:a16="http://schemas.microsoft.com/office/drawing/2014/main" id="{AEFF552A-7138-0E42-56F8-D3B48B35C9E5}"/>
              </a:ext>
            </a:extLst>
          </p:cNvPr>
          <p:cNvSpPr txBox="1"/>
          <p:nvPr/>
        </p:nvSpPr>
        <p:spPr>
          <a:xfrm>
            <a:off x="8128000" y="3987800"/>
            <a:ext cx="2667000" cy="276999"/>
          </a:xfrm>
          <a:prstGeom prst="rect">
            <a:avLst/>
          </a:prstGeom>
          <a:noFill/>
        </p:spPr>
        <p:txBody>
          <a:bodyPr vert="horz" wrap="square" lIns="0" tIns="0" rIns="0" bIns="0" rtlCol="0" anchor="t">
            <a:noAutofit/>
          </a:bodyPr>
          <a:lstStyle/>
          <a:p>
            <a:r>
              <a:rPr lang="en-GB" sz="1150">
                <a:solidFill>
                  <a:srgbClr val="1F3448"/>
                </a:solidFill>
                <a:latin typeface="Aptos" panose="020B0004020202020204" pitchFamily="34" charset="0"/>
              </a:rPr>
              <a:t>Bridge technology, treatment and business value.</a:t>
            </a:r>
          </a:p>
        </p:txBody>
      </p:sp>
      <p:sp>
        <p:nvSpPr>
          <p:cNvPr id="19" name="TextBox 18">
            <a:extLst>
              <a:ext uri="{FF2B5EF4-FFF2-40B4-BE49-F238E27FC236}">
                <a16:creationId xmlns:a16="http://schemas.microsoft.com/office/drawing/2014/main" id="{F0176CAA-57BF-7170-7F51-37820E9631C3}"/>
              </a:ext>
            </a:extLst>
          </p:cNvPr>
          <p:cNvSpPr txBox="1"/>
          <p:nvPr/>
        </p:nvSpPr>
        <p:spPr>
          <a:xfrm>
            <a:off x="762000" y="5524500"/>
            <a:ext cx="9652000" cy="276999"/>
          </a:xfrm>
          <a:prstGeom prst="rect">
            <a:avLst/>
          </a:prstGeom>
          <a:noFill/>
        </p:spPr>
        <p:txBody>
          <a:bodyPr vert="horz" wrap="square" lIns="0" tIns="0" rIns="0" bIns="0" rtlCol="0" anchor="t">
            <a:noAutofit/>
          </a:bodyPr>
          <a:lstStyle/>
          <a:p>
            <a:r>
              <a:rPr lang="en-GB" sz="1600" b="1">
                <a:solidFill>
                  <a:srgbClr val="FFFFFF"/>
                </a:solidFill>
                <a:latin typeface="Aptos" panose="020B0004020202020204" pitchFamily="34" charset="0"/>
              </a:rPr>
              <a:t>Next step: identify the priority patient group, demonstrate the fit, and build the business case together.</a:t>
            </a:r>
          </a:p>
        </p:txBody>
      </p:sp>
      <p:sp>
        <p:nvSpPr>
          <p:cNvPr id="20" name="TextBox 19">
            <a:extLst>
              <a:ext uri="{FF2B5EF4-FFF2-40B4-BE49-F238E27FC236}">
                <a16:creationId xmlns:a16="http://schemas.microsoft.com/office/drawing/2014/main" id="{596D9633-1D7A-147F-560D-49AF9D5A0149}"/>
              </a:ext>
            </a:extLst>
          </p:cNvPr>
          <p:cNvSpPr txBox="1"/>
          <p:nvPr/>
        </p:nvSpPr>
        <p:spPr>
          <a:xfrm>
            <a:off x="762000" y="6172200"/>
            <a:ext cx="2540000" cy="276999"/>
          </a:xfrm>
          <a:prstGeom prst="rect">
            <a:avLst/>
          </a:prstGeom>
          <a:noFill/>
        </p:spPr>
        <p:txBody>
          <a:bodyPr vert="horz" wrap="square" lIns="0" tIns="0" rIns="0" bIns="0" rtlCol="0" anchor="t">
            <a:noAutofit/>
          </a:bodyPr>
          <a:lstStyle/>
          <a:p>
            <a:r>
              <a:rPr lang="en-GB" sz="1100">
                <a:solidFill>
                  <a:srgbClr val="D9E6F0"/>
                </a:solidFill>
                <a:latin typeface="Aptos" panose="020B0004020202020204" pitchFamily="34" charset="0"/>
              </a:rPr>
              <a:t>Thank you</a:t>
            </a:r>
          </a:p>
        </p:txBody>
      </p:sp>
    </p:spTree>
    <p:extLst>
      <p:ext uri="{BB962C8B-B14F-4D97-AF65-F5344CB8AC3E}">
        <p14:creationId xmlns:p14="http://schemas.microsoft.com/office/powerpoint/2010/main" val="3292484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1574</Words>
  <Application>Microsoft Office PowerPoint</Application>
  <PresentationFormat>Custom</PresentationFormat>
  <Paragraphs>147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cp:revision>
  <dcterms:created xsi:type="dcterms:W3CDTF">2026-10-03T05:21:20Z</dcterms:created>
  <dcterms:modified xsi:type="dcterms:W3CDTF">2026-10-03T05:21:20Z</dcterms:modified>
</cp:coreProperties>
</file>