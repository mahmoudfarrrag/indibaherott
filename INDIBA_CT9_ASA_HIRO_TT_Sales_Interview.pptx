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thank you for the opportunity. I would like to present two complementary technologies that can create a very strong clinical and commercial proposition for a modern rehabilitation clinic: the INDIBA CT9 and the ASA Laser HIRO TT with Hilterapia. My approach today is not to treat them as isolated machines. I want to show how each one solves a different part of the patient journey, how they fit into the therapist’s workflow, and why that matters to the clinic owner. The key message is simple: broader versatility with INDIBA, deeper and more targeted action with HIRO TT, and a clearer value story when the technologies are positioned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discussing specifications, I would frame the opportunity around three customer questions. First, how can the clinic broaden what it can treat and how many clinicians can use the platform? That is where CT9 is compelling. Second, where does the clinic need a more distinctive, deeper and premium intervention? That is where HIRO TT earns attention. And third, how do we make the investment easy to adopt and easy to justify? That is the role I would play as Product Specialist. I would connect clinical outcomes with workflow, patient experience and commercial value, so the buyer sees a business solution rather than two pieces of equipment.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INDIBA CT9 is the versatile platform in this portfolio. It uses stable 448 kilohertz monopolar radiofrequency, with both thermal and non-thermal effects, so the clinician can adapt the treatment to the phase of the condition. In practical terms, that means the CT9 can support pain modulation, tissue preparation, edema management and recovery, while fitting naturally alongside manual therapy and exercise. From a sales perspective, I would position it as a daily-use platform. It is relevant to more than one specialist and more than one body area, which helps the clinic build utilization rather than relying on a single niche indication.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HIRO TT is the more specialized and differentiated platform. Hilterapia uses a high-intensity pulsed Nd:YAG laser, and the SmartCooler creates a thermal exchange that helps the clinician work with intensity while maintaining patient comfort. The numbers that matter in a conversation are the maximum intensity of fifteen thousand watts per square centimeter, pulses of up to three hundred and fifty millijoules, and the controlled cooling range from eighteen to twenty-eight degrees Celsius. But I would not lead with numbers alone. I would translate them into a clinical experience: deeper targeting, immediate intervention in acute presentations, and a premium treatment that feels controlled rather than aggressive.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explain the clinical benefit in terms of the patient journey, because that is how a clinic actually works. CT9 gives the therapist flexibility: it can be gentle and supportive in the early phase, help prepare tissue, and then integrate with hands-on care and exercise. HIRO TT brings a different advantage when the clinician wants a high-intensity, deeper and more distinctive intervention, especially in acute or stubborn musculoskeletal presentations. The value is not that one device replaces the other. The value is that together they allow the clinic to match the modality to the patient in front of them, while keeping the treatment pathway coherent and easy to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discovery matters. I would recommend CT9 when the clinic wants broad utilization, several therapists need access to the technology, and the device must fit naturally into everyday treatment. I would recommend HIRO TT when the opportunity is more focused: acute pain, deeper targets, sports performance, or a premium service line that needs a clear point of difference. And I would be comfortable recommending both when the clinic has the patient volume and the ambition to build a broader pathway. My first discovery question would be: which patient group do you most want to treat better or more profitably over the next twelve months? The answer tells me where to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helps me keep the recommendation honest. CT9 is the broader, more flexible platform: 448 kilohertz monopolar radiofrequency, designed for daily integration with manual therapy and exercise. HIRO TT is the more focused premium proposition: pulsed Nd:YAG Hilterapia with very high peak intensity, depth and SmartCooler support. I would not say that one is simply better. I would say they solve different buying problems. CT9 helps a clinic expand utilization across its team and specialties. HIRO TT helps a clinic build a differentiated service line around deeper, more targeted interventions. The right recommendation depends on the clinical mix, workflow and business ambition.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this practical with a sports clinic example. The athlete does not just want pain relief; they want confidence and a clear route back to performance. CT9 can be used early in the pathway for comfort, tissue preparation and integration with manual therapy. When the presentation calls for a more focused or deeper intervention, HIRO TT can add a differentiated step. Then the therapist progresses the patient through movement and exercise. From a business standpoint, that creates a service line that is easier to explain, easier to repeat and easier to refer into. The technology becomes part of a return-to-play pathway, not a standalone treatment room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musculoskeletal or pain clinic, the patient experience is part of the value proposition. Patients want to understand what is being done, why it is being done and what happens next. I would encourage the clinician to follow a simple sequence: listen to the patient’s goals and irritability, match the modality to the clinical need, explain the expected sensation and purpose, and then connect the session to movement or self-management. CT9 can make the treatment feel comfortable and integrated. HIRO TT can make it feel targeted and distinctive. In both cases, the technology becomes more valuable when the clinician can explain it with confidence and tie it to a measurable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clinic owner, the business value comes from four areas. Utilization: can more than one clinician use the platform, and can it support more than one specialty? Differentiation: does the clinic have a clear reason for patients and referrers to choose it? Workflow: can the team adopt the device without slowing the day down? And retention: does the treatment fit into a pathway that encourages patients to return and progress? For ROI, I would always use the clinic’s real numbers: patient volume, realistic treatment frequency, price per session, staffing and utilization. I would avoid generic payback promises. Credibility is more valuable than an aggressive spreadsheet.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sales approach would be consultative and structured. I would begin by discovering the clinic’s priority patient group and its current limitation. Then I would qualify the workflow, because a clinically strong device still fails if the team cannot integrate it. In the demonstration, I would show only the features that answer the customer’s needs, rather than giving a technical tour. I would prove value with approved clinical information, training and a realistic business case. And I would always close on a clear next step: a demo, a clinical evaluation or a quantified proposal. If an objection comes up, I would first identify whether it is clinical, operational or financial before answering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I would bring the conversation back to the customer. CT9 expands the clinic’s everyday capability through versatility, workflow fit and broad utilization. HIRO TT adds a more differentiated proposition through intensity, depth and SmartCooler-supported comfort. My role as Product Specialist is to connect those capabilities to the right patient group, the right clinical workflow and the right business case. So my next step with a customer would be simple: identify the priority patient group, demonstrate the fit in the real workflow, and build the business case together. That is how I would sell these technologies with confidence, clinical respect and commercial discipline.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6B8C4"/>
          </a:solidFill>
          <a:ln w="12700">
            <a:solidFill>
              <a:srgbClr val="16B8C4"/>
            </a:solidFill>
            <a:prstDash val="solid"/>
          </a:ln>
        </p:spPr>
      </p:sp>
      <p:sp>
        <p:nvSpPr>
          <p:cNvPr id="3" name="Text 1"/>
          <p:cNvSpPr/>
          <p:nvPr/>
        </p:nvSpPr>
        <p:spPr>
          <a:xfrm>
            <a:off x="411480" y="6519672"/>
            <a:ext cx="5303520" cy="155448"/>
          </a:xfrm>
          <a:prstGeom prst="rect">
            <a:avLst/>
          </a:prstGeom>
          <a:noFill/>
          <a:ln/>
        </p:spPr>
        <p:txBody>
          <a:bodyPr wrap="square" lIns="0" tIns="0" rIns="0" bIns="0" rtlCol="0" anchor="ctr"/>
          <a:lstStyle/>
          <a:p>
            <a:pPr indent="0" marL="0">
              <a:buNone/>
            </a:pPr>
            <a:r>
              <a:rPr lang="en-US" sz="750" dirty="0">
                <a:solidFill>
                  <a:srgbClr val="6B7785"/>
                </a:solidFill>
                <a:latin typeface="Aptos" pitchFamily="34" charset="0"/>
                <a:ea typeface="Aptos" pitchFamily="34" charset="-122"/>
                <a:cs typeface="Aptos" pitchFamily="34" charset="-120"/>
              </a:rPr>
              <a:t>INDIBA CT9  |  ASA HIRO TT</a:t>
            </a:r>
            <a:endParaRPr lang="en-US" sz="750" dirty="0"/>
          </a:p>
        </p:txBody>
      </p:sp>
      <p:sp>
        <p:nvSpPr>
          <p:cNvPr id="4" name="Text 2"/>
          <p:cNvSpPr/>
          <p:nvPr/>
        </p:nvSpPr>
        <p:spPr>
          <a:xfrm>
            <a:off x="9326880" y="6519672"/>
            <a:ext cx="2468880" cy="155448"/>
          </a:xfrm>
          <a:prstGeom prst="rect">
            <a:avLst/>
          </a:prstGeom>
          <a:noFill/>
          <a:ln/>
        </p:spPr>
        <p:txBody>
          <a:bodyPr wrap="square" lIns="0" tIns="0" rIns="0" bIns="0" rtlCol="0" anchor="ctr"/>
          <a:lstStyle/>
          <a:p>
            <a:pPr algn="r" indent="0" marL="0">
              <a:buNone/>
            </a:pPr>
            <a:r>
              <a:rPr lang="en-US" sz="750" dirty="0">
                <a:solidFill>
                  <a:srgbClr val="6B7785"/>
                </a:solidFill>
                <a:latin typeface="Aptos" pitchFamily="34" charset="0"/>
                <a:ea typeface="Aptos" pitchFamily="34" charset="-122"/>
                <a:cs typeface="Aptos" pitchFamily="34" charset="-120"/>
              </a:rPr>
              <a:t>Product Specialist interview</a:t>
            </a:r>
            <a:endParaRPr lang="en-US" sz="750" dirty="0"/>
          </a:p>
        </p:txBody>
      </p:sp>
      <p:sp>
        <p:nvSpPr>
          <p:cNvPr id="25" name="Slide Number Placeholder 0"/>
          <p:cNvSpPr>
            <a:spLocks noGrp="1"/>
          </p:cNvSpPr>
          <p:nvPr>
            <p:ph type="sldNum" sz="quarter" idx="4294967295"/>
          </p:nvPr>
        </p:nvSpPr>
        <p:spPr>
          <a:xfrm>
            <a:off x="11841480" y="6492240"/>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785"/>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841480" y="6492240"/>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785"/>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pic>
        <p:nvPicPr>
          <p:cNvPr id="2" name="Image 0" descr="G:\herott\assets\hiro-cover.jpg">    </p:cNvPr>
          <p:cNvPicPr>
            <a:picLocks noChangeAspect="1"/>
          </p:cNvPicPr>
          <p:nvPr/>
        </p:nvPicPr>
        <p:blipFill>
          <a:blip r:embed="rId1">
            <a:alphaModFix amt="85000"/>
          </a:blip>
          <a:srcRect l="0" r="0" t="0" b="0"/>
          <a:stretch/>
        </p:blipFill>
        <p:spPr>
          <a:xfrm>
            <a:off x="6720840" y="0"/>
            <a:ext cx="5468112" cy="6858000"/>
          </a:xfrm>
          <a:prstGeom prst="rect">
            <a:avLst/>
          </a:prstGeom>
        </p:spPr>
      </p:pic>
      <p:sp>
        <p:nvSpPr>
          <p:cNvPr id="3" name="Shape 0"/>
          <p:cNvSpPr/>
          <p:nvPr/>
        </p:nvSpPr>
        <p:spPr>
          <a:xfrm>
            <a:off x="0" y="0"/>
            <a:ext cx="8046720" cy="6858000"/>
          </a:xfrm>
          <a:prstGeom prst="rect">
            <a:avLst/>
          </a:prstGeom>
          <a:solidFill>
            <a:srgbClr val="0B1F33"/>
          </a:solidFill>
          <a:ln w="12700">
            <a:solidFill>
              <a:srgbClr val="0B1F33"/>
            </a:solidFill>
            <a:prstDash val="solid"/>
          </a:ln>
        </p:spPr>
      </p:sp>
      <p:sp>
        <p:nvSpPr>
          <p:cNvPr id="4" name="Shape 1"/>
          <p:cNvSpPr/>
          <p:nvPr/>
        </p:nvSpPr>
        <p:spPr>
          <a:xfrm>
            <a:off x="5852160" y="0"/>
            <a:ext cx="2194560" cy="6858000"/>
          </a:xfrm>
          <a:prstGeom prst="rect">
            <a:avLst/>
          </a:prstGeom>
          <a:solidFill>
            <a:srgbClr val="0B1F33">
              <a:alpha val="85000"/>
            </a:srgbClr>
          </a:solidFill>
          <a:ln w="12700">
            <a:solidFill>
              <a:srgbClr val="0B1F33">
                <a:alpha val="0"/>
              </a:srgbClr>
            </a:solidFill>
            <a:prstDash val="solid"/>
          </a:ln>
        </p:spPr>
      </p:sp>
      <p:sp>
        <p:nvSpPr>
          <p:cNvPr id="5" name="Shape 2"/>
          <p:cNvSpPr/>
          <p:nvPr/>
        </p:nvSpPr>
        <p:spPr>
          <a:xfrm>
            <a:off x="594360" y="566928"/>
            <a:ext cx="2834640" cy="265176"/>
          </a:xfrm>
          <a:prstGeom prst="roundRect">
            <a:avLst>
              <a:gd name="adj" fmla="val 20690"/>
            </a:avLst>
          </a:prstGeom>
          <a:solidFill>
            <a:srgbClr val="16B8C4"/>
          </a:solidFill>
          <a:ln w="12700">
            <a:solidFill>
              <a:srgbClr val="16B8C4"/>
            </a:solidFill>
            <a:prstDash val="solid"/>
          </a:ln>
        </p:spPr>
      </p:sp>
      <p:sp>
        <p:nvSpPr>
          <p:cNvPr id="6" name="Text 3"/>
          <p:cNvSpPr/>
          <p:nvPr/>
        </p:nvSpPr>
        <p:spPr>
          <a:xfrm>
            <a:off x="667512" y="580644"/>
            <a:ext cx="2688336" cy="228600"/>
          </a:xfrm>
          <a:prstGeom prst="rect">
            <a:avLst/>
          </a:prstGeom>
          <a:noFill/>
          <a:ln/>
        </p:spPr>
        <p:txBody>
          <a:bodyPr wrap="square" lIns="0" tIns="0" rIns="0" bIns="0" rtlCol="0" anchor="ctr">
            <a:normAutofit/>
          </a:bodyPr>
          <a:lstStyle/>
          <a:p>
            <a:pPr algn="ctr" indent="0" marL="0">
              <a:buNone/>
            </a:pPr>
            <a:r>
              <a:rPr lang="en-US" sz="850" b="1" dirty="0">
                <a:solidFill>
                  <a:srgbClr val="0B1F33"/>
                </a:solidFill>
                <a:latin typeface="Aptos" pitchFamily="34" charset="0"/>
                <a:ea typeface="Aptos" pitchFamily="34" charset="-122"/>
                <a:cs typeface="Aptos" pitchFamily="34" charset="-120"/>
              </a:rPr>
              <a:t>MEDICAL DEVICE SALES INTERVIEW</a:t>
            </a:r>
            <a:endParaRPr lang="en-US" sz="850" dirty="0"/>
          </a:p>
        </p:txBody>
      </p:sp>
      <p:sp>
        <p:nvSpPr>
          <p:cNvPr id="7" name="Text 4"/>
          <p:cNvSpPr/>
          <p:nvPr/>
        </p:nvSpPr>
        <p:spPr>
          <a:xfrm>
            <a:off x="594360" y="1389888"/>
            <a:ext cx="6217920" cy="548640"/>
          </a:xfrm>
          <a:prstGeom prst="rect">
            <a:avLst/>
          </a:prstGeom>
          <a:noFill/>
          <a:ln/>
        </p:spPr>
        <p:txBody>
          <a:bodyPr wrap="square" lIns="0" tIns="0" rIns="0" bIns="0" rtlCol="0" anchor="ctr">
            <a:normAutofit/>
          </a:bodyPr>
          <a:lstStyle/>
          <a:p>
            <a:pPr algn="l" indent="0" marL="0">
              <a:buNone/>
            </a:pPr>
            <a:r>
              <a:rPr lang="en-US" sz="3100" b="1" dirty="0">
                <a:solidFill>
                  <a:srgbClr val="FFFFFF"/>
                </a:solidFill>
                <a:latin typeface="Aptos Display" pitchFamily="34" charset="0"/>
                <a:ea typeface="Aptos Display" pitchFamily="34" charset="-122"/>
                <a:cs typeface="Aptos Display" pitchFamily="34" charset="-120"/>
              </a:rPr>
              <a:t>Two technologies.</a:t>
            </a:r>
            <a:endParaRPr lang="en-US" sz="3100" dirty="0"/>
          </a:p>
        </p:txBody>
      </p:sp>
      <p:sp>
        <p:nvSpPr>
          <p:cNvPr id="8" name="Text 5"/>
          <p:cNvSpPr/>
          <p:nvPr/>
        </p:nvSpPr>
        <p:spPr>
          <a:xfrm>
            <a:off x="594360" y="1938528"/>
            <a:ext cx="6492240" cy="603504"/>
          </a:xfrm>
          <a:prstGeom prst="rect">
            <a:avLst/>
          </a:prstGeom>
          <a:noFill/>
          <a:ln/>
        </p:spPr>
        <p:txBody>
          <a:bodyPr wrap="square" lIns="0" tIns="0" rIns="0" bIns="0" rtlCol="0" anchor="ctr">
            <a:normAutofit/>
          </a:bodyPr>
          <a:lstStyle/>
          <a:p>
            <a:pPr algn="l" indent="0" marL="0">
              <a:buNone/>
            </a:pPr>
            <a:r>
              <a:rPr lang="en-US" sz="3100" b="1" dirty="0">
                <a:solidFill>
                  <a:srgbClr val="16B8C4"/>
                </a:solidFill>
                <a:latin typeface="Aptos Display" pitchFamily="34" charset="0"/>
                <a:ea typeface="Aptos Display" pitchFamily="34" charset="-122"/>
                <a:cs typeface="Aptos Display" pitchFamily="34" charset="-120"/>
              </a:rPr>
              <a:t>One stronger clinical story.</a:t>
            </a:r>
            <a:endParaRPr lang="en-US" sz="3100" dirty="0"/>
          </a:p>
        </p:txBody>
      </p:sp>
      <p:sp>
        <p:nvSpPr>
          <p:cNvPr id="9" name="Text 6"/>
          <p:cNvSpPr/>
          <p:nvPr/>
        </p:nvSpPr>
        <p:spPr>
          <a:xfrm>
            <a:off x="621792" y="2834640"/>
            <a:ext cx="6126480" cy="329184"/>
          </a:xfrm>
          <a:prstGeom prst="rect">
            <a:avLst/>
          </a:prstGeom>
          <a:noFill/>
          <a:ln/>
        </p:spPr>
        <p:txBody>
          <a:bodyPr wrap="square" lIns="0" tIns="0" rIns="0" bIns="0" rtlCol="0" anchor="ctr">
            <a:normAutofit/>
          </a:bodyPr>
          <a:lstStyle/>
          <a:p>
            <a:pPr algn="l" indent="0" marL="0">
              <a:buNone/>
            </a:pPr>
            <a:r>
              <a:rPr lang="en-US" sz="1700" b="1" dirty="0">
                <a:solidFill>
                  <a:srgbClr val="DCE8F2"/>
                </a:solidFill>
                <a:latin typeface="Aptos" pitchFamily="34" charset="0"/>
                <a:ea typeface="Aptos" pitchFamily="34" charset="-122"/>
                <a:cs typeface="Aptos" pitchFamily="34" charset="-120"/>
              </a:rPr>
              <a:t>INDIBA CT9 and ASA Laser HIRO TT Hilterapia</a:t>
            </a:r>
            <a:endParaRPr lang="en-US" sz="1700" dirty="0"/>
          </a:p>
        </p:txBody>
      </p:sp>
      <p:sp>
        <p:nvSpPr>
          <p:cNvPr id="10" name="Text 7"/>
          <p:cNvSpPr/>
          <p:nvPr/>
        </p:nvSpPr>
        <p:spPr>
          <a:xfrm>
            <a:off x="621792" y="3310128"/>
            <a:ext cx="5394960" cy="685800"/>
          </a:xfrm>
          <a:prstGeom prst="rect">
            <a:avLst/>
          </a:prstGeom>
          <a:noFill/>
          <a:ln/>
        </p:spPr>
        <p:txBody>
          <a:bodyPr wrap="square" lIns="0" tIns="0" rIns="0" bIns="0" rtlCol="0" anchor="t">
            <a:normAutofit/>
          </a:bodyPr>
          <a:lstStyle/>
          <a:p>
            <a:pPr algn="l" indent="0" marL="0">
              <a:buNone/>
            </a:pPr>
            <a:r>
              <a:rPr lang="en-US" sz="1500" dirty="0">
                <a:solidFill>
                  <a:srgbClr val="A8B8C8"/>
                </a:solidFill>
                <a:latin typeface="Aptos" pitchFamily="34" charset="0"/>
                <a:ea typeface="Aptos" pitchFamily="34" charset="-122"/>
                <a:cs typeface="Aptos" pitchFamily="34" charset="-120"/>
              </a:rPr>
              <a:t>A customer-led portfolio conversation for modern rehabilitation, sports medicine and musculoskeletal clinics.</a:t>
            </a:r>
            <a:endParaRPr lang="en-US" sz="1500" dirty="0"/>
          </a:p>
        </p:txBody>
      </p:sp>
      <p:sp>
        <p:nvSpPr>
          <p:cNvPr id="11" name="Shape 8"/>
          <p:cNvSpPr/>
          <p:nvPr/>
        </p:nvSpPr>
        <p:spPr>
          <a:xfrm>
            <a:off x="621792" y="4709160"/>
            <a:ext cx="4663440" cy="0"/>
          </a:xfrm>
          <a:prstGeom prst="line">
            <a:avLst/>
          </a:prstGeom>
          <a:noFill/>
          <a:ln w="16510">
            <a:solidFill>
              <a:srgbClr val="16B8C4"/>
            </a:solidFill>
            <a:prstDash val="solid"/>
          </a:ln>
        </p:spPr>
      </p:sp>
      <p:sp>
        <p:nvSpPr>
          <p:cNvPr id="12" name="Text 9"/>
          <p:cNvSpPr/>
          <p:nvPr/>
        </p:nvSpPr>
        <p:spPr>
          <a:xfrm>
            <a:off x="621792" y="4892040"/>
            <a:ext cx="4297680" cy="256032"/>
          </a:xfrm>
          <a:prstGeom prst="rect">
            <a:avLst/>
          </a:prstGeom>
          <a:noFill/>
          <a:ln/>
        </p:spPr>
        <p:txBody>
          <a:bodyPr wrap="square" lIns="0" tIns="0" rIns="0" bIns="0" rtlCol="0" anchor="ctr">
            <a:normAutofit/>
          </a:bodyPr>
          <a:lstStyle/>
          <a:p>
            <a:pPr algn="l" indent="0" marL="0">
              <a:buNone/>
            </a:pPr>
            <a:r>
              <a:rPr lang="en-US" sz="1100" b="1" dirty="0">
                <a:solidFill>
                  <a:srgbClr val="DCE8F2"/>
                </a:solidFill>
                <a:latin typeface="Aptos" pitchFamily="34" charset="0"/>
                <a:ea typeface="Aptos" pitchFamily="34" charset="-122"/>
                <a:cs typeface="Aptos" pitchFamily="34" charset="-120"/>
              </a:rPr>
              <a:t>Presented as a Product Specialist</a:t>
            </a:r>
            <a:endParaRPr lang="en-US" sz="1100" dirty="0"/>
          </a:p>
        </p:txBody>
      </p:sp>
      <p:sp>
        <p:nvSpPr>
          <p:cNvPr id="13" name="Text 10"/>
          <p:cNvSpPr/>
          <p:nvPr/>
        </p:nvSpPr>
        <p:spPr>
          <a:xfrm>
            <a:off x="621792" y="5212080"/>
            <a:ext cx="5669280" cy="228600"/>
          </a:xfrm>
          <a:prstGeom prst="rect">
            <a:avLst/>
          </a:prstGeom>
          <a:noFill/>
          <a:ln/>
        </p:spPr>
        <p:txBody>
          <a:bodyPr wrap="square" lIns="0" tIns="0" rIns="0" bIns="0" rtlCol="0" anchor="ctr">
            <a:normAutofit/>
          </a:bodyPr>
          <a:lstStyle/>
          <a:p>
            <a:pPr algn="l" indent="0" marL="0">
              <a:buNone/>
            </a:pPr>
            <a:r>
              <a:rPr lang="en-US" sz="1050" dirty="0">
                <a:solidFill>
                  <a:srgbClr val="A8B8C8"/>
                </a:solidFill>
                <a:latin typeface="Aptos" pitchFamily="34" charset="0"/>
                <a:ea typeface="Aptos" pitchFamily="34" charset="-122"/>
                <a:cs typeface="Aptos" pitchFamily="34" charset="-120"/>
              </a:rPr>
              <a:t>Clinical logic  •  Commercial relevance  •  Confident next step</a:t>
            </a:r>
            <a:endParaRPr lang="en-US" sz="1050" dirty="0"/>
          </a:p>
        </p:txBody>
      </p:sp>
      <p:sp>
        <p:nvSpPr>
          <p:cNvPr id="14" name="Text 11"/>
          <p:cNvSpPr/>
          <p:nvPr/>
        </p:nvSpPr>
        <p:spPr>
          <a:xfrm>
            <a:off x="621792" y="6199632"/>
            <a:ext cx="4937760" cy="164592"/>
          </a:xfrm>
          <a:prstGeom prst="rect">
            <a:avLst/>
          </a:prstGeom>
          <a:noFill/>
          <a:ln/>
        </p:spPr>
        <p:txBody>
          <a:bodyPr wrap="square" lIns="0" tIns="0" rIns="0" bIns="0" rtlCol="0" anchor="ctr">
            <a:normAutofit/>
          </a:bodyPr>
          <a:lstStyle/>
          <a:p>
            <a:pPr algn="l" indent="0" marL="0">
              <a:buNone/>
            </a:pPr>
            <a:r>
              <a:rPr lang="en-US" sz="750" dirty="0">
                <a:solidFill>
                  <a:srgbClr val="8094A8"/>
                </a:solidFill>
                <a:latin typeface="Aptos" pitchFamily="34" charset="0"/>
                <a:ea typeface="Aptos" pitchFamily="34" charset="-122"/>
                <a:cs typeface="Aptos" pitchFamily="34" charset="-120"/>
              </a:rPr>
              <a:t>Official product imagery: INDIBA and ASA Laser materials</a:t>
            </a:r>
            <a:endParaRPr lang="en-US" sz="750" dirty="0"/>
          </a:p>
        </p:txBody>
      </p:sp>
      <p:sp>
        <p:nvSpPr>
          <p:cNvPr id="25" name="Slide Number Placeholder 0"/>
          <p:cNvSpPr>
            <a:spLocks noGrp="1"/>
          </p:cNvSpPr>
          <p:nvPr>
            <p:ph type="sldNum" sz="quarter" idx="4294967295"/>
          </p:nvPr>
        </p:nvSpPr>
        <p:spPr>
          <a:xfrm>
            <a:off x="11841480" y="6492240"/>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785"/>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4389120" cy="201168"/>
          </a:xfrm>
          <a:prstGeom prst="rect">
            <a:avLst/>
          </a:prstGeom>
          <a:noFill/>
          <a:ln/>
        </p:spPr>
        <p:txBody>
          <a:bodyPr wrap="square" lIns="0" tIns="0" rIns="0" bIns="0" rtlCol="0" anchor="ctr">
            <a:normAutofit/>
          </a:bodyPr>
          <a:lstStyle/>
          <a:p>
            <a:pPr algn="l" indent="0" marL="0">
              <a:buNone/>
            </a:pPr>
            <a:r>
              <a:rPr lang="en-US" sz="950" b="1" dirty="0">
                <a:solidFill>
                  <a:srgbClr val="16B8C4"/>
                </a:solidFill>
                <a:latin typeface="Aptos" pitchFamily="34" charset="0"/>
                <a:ea typeface="Aptos" pitchFamily="34" charset="-122"/>
                <a:cs typeface="Aptos" pitchFamily="34" charset="-120"/>
              </a:rPr>
              <a:t>THE COMMERCIAL THESIS</a:t>
            </a:r>
            <a:endParaRPr lang="en-US" sz="950" dirty="0"/>
          </a:p>
        </p:txBody>
      </p:sp>
      <p:sp>
        <p:nvSpPr>
          <p:cNvPr id="3" name="Text 1"/>
          <p:cNvSpPr/>
          <p:nvPr/>
        </p:nvSpPr>
        <p:spPr>
          <a:xfrm>
            <a:off x="548640" y="658368"/>
            <a:ext cx="10789920" cy="512064"/>
          </a:xfrm>
          <a:prstGeom prst="rect">
            <a:avLst/>
          </a:prstGeom>
          <a:noFill/>
          <a:ln/>
        </p:spPr>
        <p:txBody>
          <a:bodyPr wrap="square" lIns="0" tIns="0" rIns="0" bIns="0" rtlCol="0" anchor="ctr">
            <a:normAutofit/>
          </a:bodyPr>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A portfolio conversation, not a product dump</a:t>
            </a:r>
            <a:endParaRPr lang="en-US" sz="2800" dirty="0"/>
          </a:p>
        </p:txBody>
      </p:sp>
      <p:sp>
        <p:nvSpPr>
          <p:cNvPr id="4" name="Text 2"/>
          <p:cNvSpPr/>
          <p:nvPr/>
        </p:nvSpPr>
        <p:spPr>
          <a:xfrm>
            <a:off x="548640" y="1207008"/>
            <a:ext cx="10515600" cy="292608"/>
          </a:xfrm>
          <a:prstGeom prst="rect">
            <a:avLst/>
          </a:prstGeom>
          <a:noFill/>
          <a:ln/>
        </p:spPr>
        <p:txBody>
          <a:bodyPr wrap="square" lIns="0" tIns="0" rIns="0" bIns="0" rtlCol="0" anchor="ctr">
            <a:normAutofit/>
          </a:bodyPr>
          <a:lstStyle/>
          <a:p>
            <a:pPr algn="l" indent="0" marL="0">
              <a:buNone/>
            </a:pPr>
            <a:r>
              <a:rPr lang="en-US" sz="1250" dirty="0">
                <a:solidFill>
                  <a:srgbClr val="6B7785"/>
                </a:solidFill>
                <a:latin typeface="Aptos" pitchFamily="34" charset="0"/>
                <a:ea typeface="Aptos" pitchFamily="34" charset="-122"/>
                <a:cs typeface="Aptos" pitchFamily="34" charset="-120"/>
              </a:rPr>
              <a:t>The best recommendation starts with the clinic’s clinical ambition and workflow.</a:t>
            </a:r>
            <a:endParaRPr lang="en-US" sz="1250" dirty="0"/>
          </a:p>
        </p:txBody>
      </p:sp>
      <p:sp>
        <p:nvSpPr>
          <p:cNvPr id="5" name="Shape 3"/>
          <p:cNvSpPr/>
          <p:nvPr/>
        </p:nvSpPr>
        <p:spPr>
          <a:xfrm>
            <a:off x="548640" y="1828800"/>
            <a:ext cx="3474720" cy="3429000"/>
          </a:xfrm>
          <a:prstGeom prst="roundRect">
            <a:avLst>
              <a:gd name="adj" fmla="val 2133"/>
            </a:avLst>
          </a:prstGeom>
          <a:solidFill>
            <a:srgbClr val="DFF5F6"/>
          </a:solidFill>
          <a:ln w="12700">
            <a:solidFill>
              <a:srgbClr val="B8E8EA"/>
            </a:solidFill>
            <a:prstDash val="solid"/>
          </a:ln>
        </p:spPr>
      </p:sp>
      <p:sp>
        <p:nvSpPr>
          <p:cNvPr id="6" name="Shape 4"/>
          <p:cNvSpPr/>
          <p:nvPr/>
        </p:nvSpPr>
        <p:spPr>
          <a:xfrm>
            <a:off x="822960" y="2148840"/>
            <a:ext cx="384048" cy="384048"/>
          </a:xfrm>
          <a:prstGeom prst="ellipse">
            <a:avLst/>
          </a:prstGeom>
          <a:solidFill>
            <a:srgbClr val="16B8C4"/>
          </a:solidFill>
          <a:ln w="12700">
            <a:solidFill>
              <a:srgbClr val="16B8C4"/>
            </a:solidFill>
            <a:prstDash val="solid"/>
          </a:ln>
        </p:spPr>
      </p:sp>
      <p:sp>
        <p:nvSpPr>
          <p:cNvPr id="7" name="Text 5"/>
          <p:cNvSpPr/>
          <p:nvPr/>
        </p:nvSpPr>
        <p:spPr>
          <a:xfrm>
            <a:off x="822960" y="2157984"/>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0B1F33"/>
                </a:solidFill>
                <a:latin typeface="Aptos" pitchFamily="34" charset="0"/>
                <a:ea typeface="Aptos" pitchFamily="34" charset="-122"/>
                <a:cs typeface="Aptos" pitchFamily="34" charset="-120"/>
              </a:rPr>
              <a:t>1</a:t>
            </a:r>
            <a:endParaRPr lang="en-US" sz="1600" dirty="0"/>
          </a:p>
        </p:txBody>
      </p:sp>
      <p:sp>
        <p:nvSpPr>
          <p:cNvPr id="8" name="Text 6"/>
          <p:cNvSpPr/>
          <p:nvPr/>
        </p:nvSpPr>
        <p:spPr>
          <a:xfrm>
            <a:off x="1353312" y="2157984"/>
            <a:ext cx="2194560" cy="292608"/>
          </a:xfrm>
          <a:prstGeom prst="rect">
            <a:avLst/>
          </a:prstGeom>
          <a:noFill/>
          <a:ln/>
        </p:spPr>
        <p:txBody>
          <a:bodyPr wrap="square" lIns="0" tIns="0" rIns="0" bIns="0" rtlCol="0" anchor="ctr">
            <a:normAutofit/>
          </a:bodyPr>
          <a:lstStyle/>
          <a:p>
            <a:pPr algn="l" indent="0" marL="0">
              <a:buNone/>
            </a:pPr>
            <a:r>
              <a:rPr lang="en-US" sz="1800" b="1" dirty="0">
                <a:solidFill>
                  <a:srgbClr val="102A43"/>
                </a:solidFill>
                <a:latin typeface="Aptos" pitchFamily="34" charset="0"/>
                <a:ea typeface="Aptos" pitchFamily="34" charset="-122"/>
                <a:cs typeface="Aptos" pitchFamily="34" charset="-120"/>
              </a:rPr>
              <a:t>Broaden the clinic</a:t>
            </a:r>
            <a:endParaRPr lang="en-US" sz="1800" dirty="0"/>
          </a:p>
        </p:txBody>
      </p:sp>
      <p:sp>
        <p:nvSpPr>
          <p:cNvPr id="9" name="Text 7"/>
          <p:cNvSpPr/>
          <p:nvPr/>
        </p:nvSpPr>
        <p:spPr>
          <a:xfrm>
            <a:off x="822960" y="2697480"/>
            <a:ext cx="2377440" cy="320040"/>
          </a:xfrm>
          <a:prstGeom prst="rect">
            <a:avLst/>
          </a:prstGeom>
          <a:noFill/>
          <a:ln/>
        </p:spPr>
        <p:txBody>
          <a:bodyPr wrap="square" lIns="0" tIns="0" rIns="0" bIns="0" rtlCol="0" anchor="ctr">
            <a:normAutofit/>
          </a:bodyPr>
          <a:lstStyle/>
          <a:p>
            <a:pPr algn="l" indent="0" marL="0">
              <a:buNone/>
            </a:pPr>
            <a:r>
              <a:rPr lang="en-US" sz="1800" b="1" dirty="0">
                <a:solidFill>
                  <a:srgbClr val="16B8C4"/>
                </a:solidFill>
                <a:latin typeface="Aptos" pitchFamily="34" charset="0"/>
                <a:ea typeface="Aptos" pitchFamily="34" charset="-122"/>
                <a:cs typeface="Aptos" pitchFamily="34" charset="-120"/>
              </a:rPr>
              <a:t>INDIBA CT9</a:t>
            </a:r>
            <a:endParaRPr lang="en-US" sz="1800" dirty="0"/>
          </a:p>
        </p:txBody>
      </p:sp>
      <p:sp>
        <p:nvSpPr>
          <p:cNvPr id="10" name="Text 8"/>
          <p:cNvSpPr/>
          <p:nvPr/>
        </p:nvSpPr>
        <p:spPr>
          <a:xfrm>
            <a:off x="822960" y="3154680"/>
            <a:ext cx="2697480" cy="731520"/>
          </a:xfrm>
          <a:prstGeom prst="rect">
            <a:avLst/>
          </a:prstGeom>
          <a:noFill/>
          <a:ln/>
        </p:spPr>
        <p:txBody>
          <a:bodyPr wrap="square" lIns="0" tIns="0" rIns="0" bIns="0" rtlCol="0" anchor="t">
            <a:normAutofit/>
          </a:bodyPr>
          <a:lstStyle/>
          <a:p>
            <a:pPr algn="l" indent="0" marL="0">
              <a:buNone/>
            </a:pPr>
            <a:r>
              <a:rPr lang="en-US" sz="1300" dirty="0">
                <a:solidFill>
                  <a:srgbClr val="203040"/>
                </a:solidFill>
                <a:latin typeface="Aptos" pitchFamily="34" charset="0"/>
                <a:ea typeface="Aptos" pitchFamily="34" charset="-122"/>
                <a:cs typeface="Aptos" pitchFamily="34" charset="-120"/>
              </a:rPr>
              <a:t>Versatile RF platform for rehabilitation, sports, podiatry and selected aesthetic-rehab applications.</a:t>
            </a:r>
            <a:endParaRPr lang="en-US" sz="1300" dirty="0"/>
          </a:p>
        </p:txBody>
      </p:sp>
      <p:sp>
        <p:nvSpPr>
          <p:cNvPr id="11" name="Text 9"/>
          <p:cNvSpPr/>
          <p:nvPr/>
        </p:nvSpPr>
        <p:spPr>
          <a:xfrm>
            <a:off x="822960" y="4160520"/>
            <a:ext cx="1554480" cy="201168"/>
          </a:xfrm>
          <a:prstGeom prst="rect">
            <a:avLst/>
          </a:prstGeom>
          <a:noFill/>
          <a:ln/>
        </p:spPr>
        <p:txBody>
          <a:bodyPr wrap="square" lIns="0" tIns="0" rIns="0" bIns="0" rtlCol="0" anchor="ctr">
            <a:normAutofit/>
          </a:bodyPr>
          <a:lstStyle/>
          <a:p>
            <a:pPr algn="l" indent="0" marL="0">
              <a:buNone/>
            </a:pPr>
            <a:r>
              <a:rPr lang="en-US" sz="900" b="1" dirty="0">
                <a:solidFill>
                  <a:srgbClr val="6B7785"/>
                </a:solidFill>
                <a:latin typeface="Aptos" pitchFamily="34" charset="0"/>
                <a:ea typeface="Aptos" pitchFamily="34" charset="-122"/>
                <a:cs typeface="Aptos" pitchFamily="34" charset="-120"/>
              </a:rPr>
              <a:t>Customer promise</a:t>
            </a:r>
            <a:endParaRPr lang="en-US" sz="900" dirty="0"/>
          </a:p>
        </p:txBody>
      </p:sp>
      <p:sp>
        <p:nvSpPr>
          <p:cNvPr id="12" name="Text 10"/>
          <p:cNvSpPr/>
          <p:nvPr/>
        </p:nvSpPr>
        <p:spPr>
          <a:xfrm>
            <a:off x="822960" y="4434840"/>
            <a:ext cx="2697480" cy="594360"/>
          </a:xfrm>
          <a:prstGeom prst="rect">
            <a:avLst/>
          </a:prstGeom>
          <a:noFill/>
          <a:ln/>
        </p:spPr>
        <p:txBody>
          <a:bodyPr wrap="square" lIns="0" tIns="0" rIns="0" bIns="0" rtlCol="0" anchor="t">
            <a:normAutofit/>
          </a:bodyPr>
          <a:lstStyle/>
          <a:p>
            <a:pPr algn="l" indent="0" marL="0">
              <a:buNone/>
            </a:pPr>
            <a:r>
              <a:rPr lang="en-US" sz="1200" i="1" dirty="0">
                <a:solidFill>
                  <a:srgbClr val="102A43"/>
                </a:solidFill>
                <a:latin typeface="Aptos" pitchFamily="34" charset="0"/>
                <a:ea typeface="Aptos" pitchFamily="34" charset="-122"/>
                <a:cs typeface="Aptos" pitchFamily="34" charset="-120"/>
              </a:rPr>
              <a:t>“Help me treat more patients, more comfortably, in a way my team can use every day.”</a:t>
            </a:r>
            <a:endParaRPr lang="en-US" sz="1200" dirty="0"/>
          </a:p>
        </p:txBody>
      </p:sp>
      <p:sp>
        <p:nvSpPr>
          <p:cNvPr id="13" name="Shape 11"/>
          <p:cNvSpPr/>
          <p:nvPr/>
        </p:nvSpPr>
        <p:spPr>
          <a:xfrm>
            <a:off x="4361688" y="1828800"/>
            <a:ext cx="3474720" cy="3429000"/>
          </a:xfrm>
          <a:prstGeom prst="roundRect">
            <a:avLst>
              <a:gd name="adj" fmla="val 2133"/>
            </a:avLst>
          </a:prstGeom>
          <a:solidFill>
            <a:srgbClr val="FFF1ED"/>
          </a:solidFill>
          <a:ln w="12700">
            <a:solidFill>
              <a:srgbClr val="F6CFC7"/>
            </a:solidFill>
            <a:prstDash val="solid"/>
          </a:ln>
        </p:spPr>
      </p:sp>
      <p:sp>
        <p:nvSpPr>
          <p:cNvPr id="14" name="Shape 12"/>
          <p:cNvSpPr/>
          <p:nvPr/>
        </p:nvSpPr>
        <p:spPr>
          <a:xfrm>
            <a:off x="4636008" y="2148840"/>
            <a:ext cx="384048" cy="384048"/>
          </a:xfrm>
          <a:prstGeom prst="ellipse">
            <a:avLst/>
          </a:prstGeom>
          <a:solidFill>
            <a:srgbClr val="F47C6C"/>
          </a:solidFill>
          <a:ln w="12700">
            <a:solidFill>
              <a:srgbClr val="F47C6C"/>
            </a:solidFill>
            <a:prstDash val="solid"/>
          </a:ln>
        </p:spPr>
      </p:sp>
      <p:sp>
        <p:nvSpPr>
          <p:cNvPr id="15" name="Text 13"/>
          <p:cNvSpPr/>
          <p:nvPr/>
        </p:nvSpPr>
        <p:spPr>
          <a:xfrm>
            <a:off x="4636008" y="2157984"/>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2</a:t>
            </a:r>
            <a:endParaRPr lang="en-US" sz="1600" dirty="0"/>
          </a:p>
        </p:txBody>
      </p:sp>
      <p:sp>
        <p:nvSpPr>
          <p:cNvPr id="16" name="Text 14"/>
          <p:cNvSpPr/>
          <p:nvPr/>
        </p:nvSpPr>
        <p:spPr>
          <a:xfrm>
            <a:off x="5166360" y="2157984"/>
            <a:ext cx="2194560" cy="292608"/>
          </a:xfrm>
          <a:prstGeom prst="rect">
            <a:avLst/>
          </a:prstGeom>
          <a:noFill/>
          <a:ln/>
        </p:spPr>
        <p:txBody>
          <a:bodyPr wrap="square" lIns="0" tIns="0" rIns="0" bIns="0" rtlCol="0" anchor="ctr">
            <a:normAutofit/>
          </a:bodyPr>
          <a:lstStyle/>
          <a:p>
            <a:pPr algn="l" indent="0" marL="0">
              <a:buNone/>
            </a:pPr>
            <a:r>
              <a:rPr lang="en-US" sz="1800" b="1" dirty="0">
                <a:solidFill>
                  <a:srgbClr val="102A43"/>
                </a:solidFill>
                <a:latin typeface="Aptos" pitchFamily="34" charset="0"/>
                <a:ea typeface="Aptos" pitchFamily="34" charset="-122"/>
                <a:cs typeface="Aptos" pitchFamily="34" charset="-120"/>
              </a:rPr>
              <a:t>Deepen the offer</a:t>
            </a:r>
            <a:endParaRPr lang="en-US" sz="1800" dirty="0"/>
          </a:p>
        </p:txBody>
      </p:sp>
      <p:sp>
        <p:nvSpPr>
          <p:cNvPr id="17" name="Text 15"/>
          <p:cNvSpPr/>
          <p:nvPr/>
        </p:nvSpPr>
        <p:spPr>
          <a:xfrm>
            <a:off x="4636008" y="2697480"/>
            <a:ext cx="2377440" cy="320040"/>
          </a:xfrm>
          <a:prstGeom prst="rect">
            <a:avLst/>
          </a:prstGeom>
          <a:noFill/>
          <a:ln/>
        </p:spPr>
        <p:txBody>
          <a:bodyPr wrap="square" lIns="0" tIns="0" rIns="0" bIns="0" rtlCol="0" anchor="ctr">
            <a:normAutofit/>
          </a:bodyPr>
          <a:lstStyle/>
          <a:p>
            <a:pPr algn="l" indent="0" marL="0">
              <a:buNone/>
            </a:pPr>
            <a:r>
              <a:rPr lang="en-US" sz="1800" b="1" dirty="0">
                <a:solidFill>
                  <a:srgbClr val="F47C6C"/>
                </a:solidFill>
                <a:latin typeface="Aptos" pitchFamily="34" charset="0"/>
                <a:ea typeface="Aptos" pitchFamily="34" charset="-122"/>
                <a:cs typeface="Aptos" pitchFamily="34" charset="-120"/>
              </a:rPr>
              <a:t>ASA HIRO TT</a:t>
            </a:r>
            <a:endParaRPr lang="en-US" sz="1800" dirty="0"/>
          </a:p>
        </p:txBody>
      </p:sp>
      <p:sp>
        <p:nvSpPr>
          <p:cNvPr id="18" name="Text 16"/>
          <p:cNvSpPr/>
          <p:nvPr/>
        </p:nvSpPr>
        <p:spPr>
          <a:xfrm>
            <a:off x="4636008" y="3154680"/>
            <a:ext cx="2697480" cy="731520"/>
          </a:xfrm>
          <a:prstGeom prst="rect">
            <a:avLst/>
          </a:prstGeom>
          <a:noFill/>
          <a:ln/>
        </p:spPr>
        <p:txBody>
          <a:bodyPr wrap="square" lIns="0" tIns="0" rIns="0" bIns="0" rtlCol="0" anchor="t">
            <a:normAutofit/>
          </a:bodyPr>
          <a:lstStyle/>
          <a:p>
            <a:pPr algn="l" indent="0" marL="0">
              <a:buNone/>
            </a:pPr>
            <a:r>
              <a:rPr lang="en-US" sz="1300" dirty="0">
                <a:solidFill>
                  <a:srgbClr val="203040"/>
                </a:solidFill>
                <a:latin typeface="Aptos" pitchFamily="34" charset="0"/>
                <a:ea typeface="Aptos" pitchFamily="34" charset="-122"/>
                <a:cs typeface="Aptos" pitchFamily="34" charset="-120"/>
              </a:rPr>
              <a:t>High-intensity pulsed Nd:YAG with SmartCooler for pain, acute presentations and deeper musculoskeletal targets.</a:t>
            </a:r>
            <a:endParaRPr lang="en-US" sz="1300" dirty="0"/>
          </a:p>
        </p:txBody>
      </p:sp>
      <p:sp>
        <p:nvSpPr>
          <p:cNvPr id="19" name="Text 17"/>
          <p:cNvSpPr/>
          <p:nvPr/>
        </p:nvSpPr>
        <p:spPr>
          <a:xfrm>
            <a:off x="4636008" y="4160520"/>
            <a:ext cx="1554480" cy="201168"/>
          </a:xfrm>
          <a:prstGeom prst="rect">
            <a:avLst/>
          </a:prstGeom>
          <a:noFill/>
          <a:ln/>
        </p:spPr>
        <p:txBody>
          <a:bodyPr wrap="square" lIns="0" tIns="0" rIns="0" bIns="0" rtlCol="0" anchor="ctr">
            <a:normAutofit/>
          </a:bodyPr>
          <a:lstStyle/>
          <a:p>
            <a:pPr algn="l" indent="0" marL="0">
              <a:buNone/>
            </a:pPr>
            <a:r>
              <a:rPr lang="en-US" sz="900" b="1" dirty="0">
                <a:solidFill>
                  <a:srgbClr val="6B7785"/>
                </a:solidFill>
                <a:latin typeface="Aptos" pitchFamily="34" charset="0"/>
                <a:ea typeface="Aptos" pitchFamily="34" charset="-122"/>
                <a:cs typeface="Aptos" pitchFamily="34" charset="-120"/>
              </a:rPr>
              <a:t>Customer promise</a:t>
            </a:r>
            <a:endParaRPr lang="en-US" sz="900" dirty="0"/>
          </a:p>
        </p:txBody>
      </p:sp>
      <p:sp>
        <p:nvSpPr>
          <p:cNvPr id="20" name="Text 18"/>
          <p:cNvSpPr/>
          <p:nvPr/>
        </p:nvSpPr>
        <p:spPr>
          <a:xfrm>
            <a:off x="4636008" y="4434840"/>
            <a:ext cx="2697480" cy="594360"/>
          </a:xfrm>
          <a:prstGeom prst="rect">
            <a:avLst/>
          </a:prstGeom>
          <a:noFill/>
          <a:ln/>
        </p:spPr>
        <p:txBody>
          <a:bodyPr wrap="square" lIns="0" tIns="0" rIns="0" bIns="0" rtlCol="0" anchor="t">
            <a:normAutofit/>
          </a:bodyPr>
          <a:lstStyle/>
          <a:p>
            <a:pPr algn="l" indent="0" marL="0">
              <a:buNone/>
            </a:pPr>
            <a:r>
              <a:rPr lang="en-US" sz="1200" i="1" dirty="0">
                <a:solidFill>
                  <a:srgbClr val="102A43"/>
                </a:solidFill>
                <a:latin typeface="Aptos" pitchFamily="34" charset="0"/>
                <a:ea typeface="Aptos" pitchFamily="34" charset="-122"/>
                <a:cs typeface="Aptos" pitchFamily="34" charset="-120"/>
              </a:rPr>
              <a:t>“Give me a distinctive, premium intervention I can explain and charge for.”</a:t>
            </a:r>
            <a:endParaRPr lang="en-US" sz="1200" dirty="0"/>
          </a:p>
        </p:txBody>
      </p:sp>
      <p:sp>
        <p:nvSpPr>
          <p:cNvPr id="21" name="Shape 19"/>
          <p:cNvSpPr/>
          <p:nvPr/>
        </p:nvSpPr>
        <p:spPr>
          <a:xfrm>
            <a:off x="8174736" y="1828800"/>
            <a:ext cx="3474720" cy="3429000"/>
          </a:xfrm>
          <a:prstGeom prst="roundRect">
            <a:avLst>
              <a:gd name="adj" fmla="val 2133"/>
            </a:avLst>
          </a:prstGeom>
          <a:solidFill>
            <a:srgbClr val="EAF2FF"/>
          </a:solidFill>
          <a:ln w="12700">
            <a:solidFill>
              <a:srgbClr val="C8D9FF"/>
            </a:solidFill>
            <a:prstDash val="solid"/>
          </a:ln>
        </p:spPr>
      </p:sp>
      <p:sp>
        <p:nvSpPr>
          <p:cNvPr id="22" name="Shape 20"/>
          <p:cNvSpPr/>
          <p:nvPr/>
        </p:nvSpPr>
        <p:spPr>
          <a:xfrm>
            <a:off x="8449056" y="2148840"/>
            <a:ext cx="384048" cy="384048"/>
          </a:xfrm>
          <a:prstGeom prst="ellipse">
            <a:avLst/>
          </a:prstGeom>
          <a:solidFill>
            <a:srgbClr val="2F6BFF"/>
          </a:solidFill>
          <a:ln w="12700">
            <a:solidFill>
              <a:srgbClr val="2F6BFF"/>
            </a:solidFill>
            <a:prstDash val="solid"/>
          </a:ln>
        </p:spPr>
      </p:sp>
      <p:sp>
        <p:nvSpPr>
          <p:cNvPr id="23" name="Text 21"/>
          <p:cNvSpPr/>
          <p:nvPr/>
        </p:nvSpPr>
        <p:spPr>
          <a:xfrm>
            <a:off x="8449056" y="2157984"/>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3</a:t>
            </a:r>
            <a:endParaRPr lang="en-US" sz="1600" dirty="0"/>
          </a:p>
        </p:txBody>
      </p:sp>
      <p:sp>
        <p:nvSpPr>
          <p:cNvPr id="24" name="Text 22"/>
          <p:cNvSpPr/>
          <p:nvPr/>
        </p:nvSpPr>
        <p:spPr>
          <a:xfrm>
            <a:off x="8979408" y="2157984"/>
            <a:ext cx="2194560" cy="292608"/>
          </a:xfrm>
          <a:prstGeom prst="rect">
            <a:avLst/>
          </a:prstGeom>
          <a:noFill/>
          <a:ln/>
        </p:spPr>
        <p:txBody>
          <a:bodyPr wrap="square" lIns="0" tIns="0" rIns="0" bIns="0" rtlCol="0" anchor="ctr">
            <a:normAutofit/>
          </a:bodyPr>
          <a:lstStyle/>
          <a:p>
            <a:pPr algn="l" indent="0" marL="0">
              <a:buNone/>
            </a:pPr>
            <a:r>
              <a:rPr lang="en-US" sz="1800" b="1" dirty="0">
                <a:solidFill>
                  <a:srgbClr val="102A43"/>
                </a:solidFill>
                <a:latin typeface="Aptos" pitchFamily="34" charset="0"/>
                <a:ea typeface="Aptos" pitchFamily="34" charset="-122"/>
                <a:cs typeface="Aptos" pitchFamily="34" charset="-120"/>
              </a:rPr>
              <a:t>Create the bridge</a:t>
            </a:r>
            <a:endParaRPr lang="en-US" sz="1800" dirty="0"/>
          </a:p>
        </p:txBody>
      </p:sp>
      <p:sp>
        <p:nvSpPr>
          <p:cNvPr id="25" name="Text 23"/>
          <p:cNvSpPr/>
          <p:nvPr/>
        </p:nvSpPr>
        <p:spPr>
          <a:xfrm>
            <a:off x="8449056" y="2697480"/>
            <a:ext cx="2560320" cy="320040"/>
          </a:xfrm>
          <a:prstGeom prst="rect">
            <a:avLst/>
          </a:prstGeom>
          <a:noFill/>
          <a:ln/>
        </p:spPr>
        <p:txBody>
          <a:bodyPr wrap="square" lIns="0" tIns="0" rIns="0" bIns="0" rtlCol="0" anchor="ctr">
            <a:normAutofit/>
          </a:bodyPr>
          <a:lstStyle/>
          <a:p>
            <a:pPr algn="l" indent="0" marL="0">
              <a:buNone/>
            </a:pPr>
            <a:r>
              <a:rPr lang="en-US" sz="1800" b="1" dirty="0">
                <a:solidFill>
                  <a:srgbClr val="2F6BFF"/>
                </a:solidFill>
                <a:latin typeface="Aptos" pitchFamily="34" charset="0"/>
                <a:ea typeface="Aptos" pitchFamily="34" charset="-122"/>
                <a:cs typeface="Aptos" pitchFamily="34" charset="-120"/>
              </a:rPr>
              <a:t>Product Specialist role</a:t>
            </a:r>
            <a:endParaRPr lang="en-US" sz="1800" dirty="0"/>
          </a:p>
        </p:txBody>
      </p:sp>
      <p:sp>
        <p:nvSpPr>
          <p:cNvPr id="26" name="Text 24"/>
          <p:cNvSpPr/>
          <p:nvPr/>
        </p:nvSpPr>
        <p:spPr>
          <a:xfrm>
            <a:off x="8449056" y="3154680"/>
            <a:ext cx="2697480" cy="731520"/>
          </a:xfrm>
          <a:prstGeom prst="rect">
            <a:avLst/>
          </a:prstGeom>
          <a:noFill/>
          <a:ln/>
        </p:spPr>
        <p:txBody>
          <a:bodyPr wrap="square" lIns="0" tIns="0" rIns="0" bIns="0" rtlCol="0" anchor="t">
            <a:normAutofit/>
          </a:bodyPr>
          <a:lstStyle/>
          <a:p>
            <a:pPr algn="l" indent="0" marL="0">
              <a:buNone/>
            </a:pPr>
            <a:r>
              <a:rPr lang="en-US" sz="1300" dirty="0">
                <a:solidFill>
                  <a:srgbClr val="203040"/>
                </a:solidFill>
                <a:latin typeface="Aptos" pitchFamily="34" charset="0"/>
                <a:ea typeface="Aptos" pitchFamily="34" charset="-122"/>
                <a:cs typeface="Aptos" pitchFamily="34" charset="-120"/>
              </a:rPr>
              <a:t>Translate features into treatment pathways, staff adoption, patient experience and return on investment.</a:t>
            </a:r>
            <a:endParaRPr lang="en-US" sz="1300" dirty="0"/>
          </a:p>
        </p:txBody>
      </p:sp>
      <p:sp>
        <p:nvSpPr>
          <p:cNvPr id="27" name="Text 25"/>
          <p:cNvSpPr/>
          <p:nvPr/>
        </p:nvSpPr>
        <p:spPr>
          <a:xfrm>
            <a:off x="8449056" y="4160520"/>
            <a:ext cx="1554480" cy="201168"/>
          </a:xfrm>
          <a:prstGeom prst="rect">
            <a:avLst/>
          </a:prstGeom>
          <a:noFill/>
          <a:ln/>
        </p:spPr>
        <p:txBody>
          <a:bodyPr wrap="square" lIns="0" tIns="0" rIns="0" bIns="0" rtlCol="0" anchor="ctr">
            <a:normAutofit/>
          </a:bodyPr>
          <a:lstStyle/>
          <a:p>
            <a:pPr algn="l" indent="0" marL="0">
              <a:buNone/>
            </a:pPr>
            <a:r>
              <a:rPr lang="en-US" sz="900" b="1" dirty="0">
                <a:solidFill>
                  <a:srgbClr val="6B7785"/>
                </a:solidFill>
                <a:latin typeface="Aptos" pitchFamily="34" charset="0"/>
                <a:ea typeface="Aptos" pitchFamily="34" charset="-122"/>
                <a:cs typeface="Aptos" pitchFamily="34" charset="-120"/>
              </a:rPr>
              <a:t>My value</a:t>
            </a:r>
            <a:endParaRPr lang="en-US" sz="900" dirty="0"/>
          </a:p>
        </p:txBody>
      </p:sp>
      <p:sp>
        <p:nvSpPr>
          <p:cNvPr id="28" name="Text 26"/>
          <p:cNvSpPr/>
          <p:nvPr/>
        </p:nvSpPr>
        <p:spPr>
          <a:xfrm>
            <a:off x="8449056" y="4434840"/>
            <a:ext cx="2697480" cy="594360"/>
          </a:xfrm>
          <a:prstGeom prst="rect">
            <a:avLst/>
          </a:prstGeom>
          <a:noFill/>
          <a:ln/>
        </p:spPr>
        <p:txBody>
          <a:bodyPr wrap="square" lIns="0" tIns="0" rIns="0" bIns="0" rtlCol="0" anchor="t">
            <a:normAutofit/>
          </a:bodyPr>
          <a:lstStyle/>
          <a:p>
            <a:pPr algn="l" indent="0" marL="0">
              <a:buNone/>
            </a:pPr>
            <a:r>
              <a:rPr lang="en-US" sz="1200" i="1" dirty="0">
                <a:solidFill>
                  <a:srgbClr val="102A43"/>
                </a:solidFill>
                <a:latin typeface="Aptos" pitchFamily="34" charset="0"/>
                <a:ea typeface="Aptos" pitchFamily="34" charset="-122"/>
                <a:cs typeface="Aptos" pitchFamily="34" charset="-120"/>
              </a:rPr>
              <a:t>“I make the technology easy to understand, easy to use and easy to justify.”</a:t>
            </a:r>
            <a:endParaRPr lang="en-US" sz="1200" dirty="0"/>
          </a:p>
        </p:txBody>
      </p:sp>
      <p:sp>
        <p:nvSpPr>
          <p:cNvPr id="25" name="Slide Number Placeholder 0"/>
          <p:cNvSpPr>
            <a:spLocks noGrp="1"/>
          </p:cNvSpPr>
          <p:nvPr>
            <p:ph type="sldNum" sz="quarter" idx="4294967295"/>
          </p:nvPr>
        </p:nvSpPr>
        <p:spPr>
          <a:xfrm>
            <a:off x="11841480" y="6492240"/>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785"/>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4389120" cy="201168"/>
          </a:xfrm>
          <a:prstGeom prst="rect">
            <a:avLst/>
          </a:prstGeom>
          <a:noFill/>
          <a:ln/>
        </p:spPr>
        <p:txBody>
          <a:bodyPr wrap="square" lIns="0" tIns="0" rIns="0" bIns="0" rtlCol="0" anchor="ctr">
            <a:normAutofit/>
          </a:bodyPr>
          <a:lstStyle/>
          <a:p>
            <a:pPr algn="l" indent="0" marL="0">
              <a:buNone/>
            </a:pPr>
            <a:r>
              <a:rPr lang="en-US" sz="950" b="1" dirty="0">
                <a:solidFill>
                  <a:srgbClr val="16B8C4"/>
                </a:solidFill>
                <a:latin typeface="Aptos" pitchFamily="34" charset="0"/>
                <a:ea typeface="Aptos" pitchFamily="34" charset="-122"/>
                <a:cs typeface="Aptos" pitchFamily="34" charset="-120"/>
              </a:rPr>
              <a:t>PLATFORM 01</a:t>
            </a:r>
            <a:endParaRPr lang="en-US" sz="950" dirty="0"/>
          </a:p>
        </p:txBody>
      </p:sp>
      <p:sp>
        <p:nvSpPr>
          <p:cNvPr id="3" name="Text 1"/>
          <p:cNvSpPr/>
          <p:nvPr/>
        </p:nvSpPr>
        <p:spPr>
          <a:xfrm>
            <a:off x="548640" y="658368"/>
            <a:ext cx="10789920" cy="512064"/>
          </a:xfrm>
          <a:prstGeom prst="rect">
            <a:avLst/>
          </a:prstGeom>
          <a:noFill/>
          <a:ln/>
        </p:spPr>
        <p:txBody>
          <a:bodyPr wrap="square" lIns="0" tIns="0" rIns="0" bIns="0" rtlCol="0" anchor="ctr">
            <a:normAutofit/>
          </a:bodyPr>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INDIBA CT9: versatile radiofrequency, built for daily clinical use</a:t>
            </a:r>
            <a:endParaRPr lang="en-US" sz="2800" dirty="0"/>
          </a:p>
        </p:txBody>
      </p:sp>
      <p:sp>
        <p:nvSpPr>
          <p:cNvPr id="4" name="Text 2"/>
          <p:cNvSpPr/>
          <p:nvPr/>
        </p:nvSpPr>
        <p:spPr>
          <a:xfrm>
            <a:off x="548640" y="1207008"/>
            <a:ext cx="10515600" cy="292608"/>
          </a:xfrm>
          <a:prstGeom prst="rect">
            <a:avLst/>
          </a:prstGeom>
          <a:noFill/>
          <a:ln/>
        </p:spPr>
        <p:txBody>
          <a:bodyPr wrap="square" lIns="0" tIns="0" rIns="0" bIns="0" rtlCol="0" anchor="ctr">
            <a:normAutofit/>
          </a:bodyPr>
          <a:lstStyle/>
          <a:p>
            <a:pPr algn="l" indent="0" marL="0">
              <a:buNone/>
            </a:pPr>
            <a:r>
              <a:rPr lang="en-US" sz="1250" dirty="0">
                <a:solidFill>
                  <a:srgbClr val="6B7785"/>
                </a:solidFill>
                <a:latin typeface="Aptos" pitchFamily="34" charset="0"/>
                <a:ea typeface="Aptos" pitchFamily="34" charset="-122"/>
                <a:cs typeface="Aptos" pitchFamily="34" charset="-120"/>
              </a:rPr>
              <a:t>A broad platform that integrates with manual therapy and active rehabilitation.</a:t>
            </a:r>
            <a:endParaRPr lang="en-US" sz="1250" dirty="0"/>
          </a:p>
        </p:txBody>
      </p:sp>
      <p:sp>
        <p:nvSpPr>
          <p:cNvPr id="5" name="Shape 3"/>
          <p:cNvSpPr/>
          <p:nvPr/>
        </p:nvSpPr>
        <p:spPr>
          <a:xfrm>
            <a:off x="548640" y="1783080"/>
            <a:ext cx="4617720" cy="4187952"/>
          </a:xfrm>
          <a:prstGeom prst="rect">
            <a:avLst/>
          </a:prstGeom>
          <a:solidFill>
            <a:srgbClr val="0B1F33"/>
          </a:solidFill>
          <a:ln w="12700">
            <a:solidFill>
              <a:srgbClr val="0B1F33"/>
            </a:solidFill>
            <a:prstDash val="solid"/>
          </a:ln>
        </p:spPr>
      </p:sp>
      <p:pic>
        <p:nvPicPr>
          <p:cNvPr id="6" name="Image 0" descr="G:\herott\assets\ct9-device.png">    </p:cNvPr>
          <p:cNvPicPr>
            <a:picLocks noChangeAspect="1"/>
          </p:cNvPicPr>
          <p:nvPr/>
        </p:nvPicPr>
        <p:blipFill>
          <a:blip r:embed="rId1"/>
          <a:srcRect l="0" r="0" t="0" b="0"/>
          <a:stretch/>
        </p:blipFill>
        <p:spPr>
          <a:xfrm>
            <a:off x="804672" y="2075688"/>
            <a:ext cx="4114800" cy="3200400"/>
          </a:xfrm>
          <a:prstGeom prst="rect">
            <a:avLst/>
          </a:prstGeom>
        </p:spPr>
      </p:pic>
      <p:sp>
        <p:nvSpPr>
          <p:cNvPr id="7" name="Shape 4"/>
          <p:cNvSpPr/>
          <p:nvPr/>
        </p:nvSpPr>
        <p:spPr>
          <a:xfrm>
            <a:off x="804672" y="5486400"/>
            <a:ext cx="1234440" cy="265176"/>
          </a:xfrm>
          <a:prstGeom prst="roundRect">
            <a:avLst>
              <a:gd name="adj" fmla="val 20690"/>
            </a:avLst>
          </a:prstGeom>
          <a:solidFill>
            <a:srgbClr val="16B8C4"/>
          </a:solidFill>
          <a:ln w="12700">
            <a:solidFill>
              <a:srgbClr val="16B8C4"/>
            </a:solidFill>
            <a:prstDash val="solid"/>
          </a:ln>
        </p:spPr>
      </p:sp>
      <p:sp>
        <p:nvSpPr>
          <p:cNvPr id="8" name="Text 5"/>
          <p:cNvSpPr/>
          <p:nvPr/>
        </p:nvSpPr>
        <p:spPr>
          <a:xfrm>
            <a:off x="877824" y="5500116"/>
            <a:ext cx="1088136" cy="228600"/>
          </a:xfrm>
          <a:prstGeom prst="rect">
            <a:avLst/>
          </a:prstGeom>
          <a:noFill/>
          <a:ln/>
        </p:spPr>
        <p:txBody>
          <a:bodyPr wrap="square" lIns="0" tIns="0" rIns="0" bIns="0" rtlCol="0" anchor="ctr">
            <a:normAutofit/>
          </a:bodyPr>
          <a:lstStyle/>
          <a:p>
            <a:pPr algn="ctr" indent="0" marL="0">
              <a:buNone/>
            </a:pPr>
            <a:r>
              <a:rPr lang="en-US" sz="850" b="1" dirty="0">
                <a:solidFill>
                  <a:srgbClr val="0B1F33"/>
                </a:solidFill>
                <a:latin typeface="Aptos" pitchFamily="34" charset="0"/>
                <a:ea typeface="Aptos" pitchFamily="34" charset="-122"/>
                <a:cs typeface="Aptos" pitchFamily="34" charset="-120"/>
              </a:rPr>
              <a:t>MONOPOLAR RF</a:t>
            </a:r>
            <a:endParaRPr lang="en-US" sz="850" dirty="0"/>
          </a:p>
        </p:txBody>
      </p:sp>
      <p:sp>
        <p:nvSpPr>
          <p:cNvPr id="9" name="Shape 6"/>
          <p:cNvSpPr/>
          <p:nvPr/>
        </p:nvSpPr>
        <p:spPr>
          <a:xfrm>
            <a:off x="2148840" y="5486400"/>
            <a:ext cx="868680" cy="265176"/>
          </a:xfrm>
          <a:prstGeom prst="roundRect">
            <a:avLst>
              <a:gd name="adj" fmla="val 20690"/>
            </a:avLst>
          </a:prstGeom>
          <a:solidFill>
            <a:srgbClr val="FFFFFF"/>
          </a:solidFill>
          <a:ln w="12700">
            <a:solidFill>
              <a:srgbClr val="FFFFFF"/>
            </a:solidFill>
            <a:prstDash val="solid"/>
          </a:ln>
        </p:spPr>
      </p:sp>
      <p:sp>
        <p:nvSpPr>
          <p:cNvPr id="10" name="Text 7"/>
          <p:cNvSpPr/>
          <p:nvPr/>
        </p:nvSpPr>
        <p:spPr>
          <a:xfrm>
            <a:off x="2221992" y="5500116"/>
            <a:ext cx="722376" cy="228600"/>
          </a:xfrm>
          <a:prstGeom prst="rect">
            <a:avLst/>
          </a:prstGeom>
          <a:noFill/>
          <a:ln/>
        </p:spPr>
        <p:txBody>
          <a:bodyPr wrap="square" lIns="0" tIns="0" rIns="0" bIns="0" rtlCol="0" anchor="ctr">
            <a:normAutofit/>
          </a:bodyPr>
          <a:lstStyle/>
          <a:p>
            <a:pPr algn="ctr" indent="0" marL="0">
              <a:buNone/>
            </a:pPr>
            <a:r>
              <a:rPr lang="en-US" sz="850" b="1" dirty="0">
                <a:solidFill>
                  <a:srgbClr val="102A43"/>
                </a:solidFill>
                <a:latin typeface="Aptos" pitchFamily="34" charset="0"/>
                <a:ea typeface="Aptos" pitchFamily="34" charset="-122"/>
                <a:cs typeface="Aptos" pitchFamily="34" charset="-120"/>
              </a:rPr>
              <a:t>448 kHz</a:t>
            </a:r>
            <a:endParaRPr lang="en-US" sz="850" dirty="0"/>
          </a:p>
        </p:txBody>
      </p:sp>
      <p:sp>
        <p:nvSpPr>
          <p:cNvPr id="11" name="Text 8"/>
          <p:cNvSpPr/>
          <p:nvPr/>
        </p:nvSpPr>
        <p:spPr>
          <a:xfrm>
            <a:off x="5623560" y="1856232"/>
            <a:ext cx="2926080" cy="228600"/>
          </a:xfrm>
          <a:prstGeom prst="rect">
            <a:avLst/>
          </a:prstGeom>
          <a:noFill/>
          <a:ln/>
        </p:spPr>
        <p:txBody>
          <a:bodyPr wrap="square" lIns="0" tIns="0" rIns="0" bIns="0" rtlCol="0" anchor="ctr">
            <a:normAutofit/>
          </a:bodyPr>
          <a:lstStyle/>
          <a:p>
            <a:pPr algn="l" indent="0" marL="0">
              <a:buNone/>
            </a:pPr>
            <a:r>
              <a:rPr lang="en-US" sz="1000" b="1" dirty="0">
                <a:solidFill>
                  <a:srgbClr val="16B8C4"/>
                </a:solidFill>
                <a:latin typeface="Aptos" pitchFamily="34" charset="0"/>
                <a:ea typeface="Aptos" pitchFamily="34" charset="-122"/>
                <a:cs typeface="Aptos" pitchFamily="34" charset="-120"/>
              </a:rPr>
              <a:t>What I would say to a clinician</a:t>
            </a:r>
            <a:endParaRPr lang="en-US" sz="1000" dirty="0"/>
          </a:p>
        </p:txBody>
      </p:sp>
      <p:sp>
        <p:nvSpPr>
          <p:cNvPr id="12" name="Text 9"/>
          <p:cNvSpPr/>
          <p:nvPr/>
        </p:nvSpPr>
        <p:spPr>
          <a:xfrm>
            <a:off x="5623560" y="2176272"/>
            <a:ext cx="5669280" cy="594360"/>
          </a:xfrm>
          <a:prstGeom prst="rect">
            <a:avLst/>
          </a:prstGeom>
          <a:noFill/>
          <a:ln/>
        </p:spPr>
        <p:txBody>
          <a:bodyPr wrap="square" lIns="0" tIns="0" rIns="0" bIns="0" rtlCol="0" anchor="ctr">
            <a:normAutofit/>
          </a:bodyPr>
          <a:lstStyle/>
          <a:p>
            <a:pPr algn="l" indent="0" marL="0">
              <a:buNone/>
            </a:pPr>
            <a:r>
              <a:rPr lang="en-US" sz="2400" b="1" dirty="0">
                <a:solidFill>
                  <a:srgbClr val="102A43"/>
                </a:solidFill>
                <a:latin typeface="Aptos Display" pitchFamily="34" charset="0"/>
                <a:ea typeface="Aptos Display" pitchFamily="34" charset="-122"/>
                <a:cs typeface="Aptos Display" pitchFamily="34" charset="-120"/>
              </a:rPr>
              <a:t>“CT9 is a platform you can use across the patient journey.”</a:t>
            </a:r>
            <a:endParaRPr lang="en-US" sz="2400" dirty="0"/>
          </a:p>
        </p:txBody>
      </p:sp>
      <p:sp>
        <p:nvSpPr>
          <p:cNvPr id="13" name="Shape 10"/>
          <p:cNvSpPr/>
          <p:nvPr/>
        </p:nvSpPr>
        <p:spPr>
          <a:xfrm>
            <a:off x="5623560" y="3063240"/>
            <a:ext cx="384048" cy="384048"/>
          </a:xfrm>
          <a:prstGeom prst="ellipse">
            <a:avLst/>
          </a:prstGeom>
          <a:solidFill>
            <a:srgbClr val="16B8C4"/>
          </a:solidFill>
          <a:ln w="12700">
            <a:solidFill>
              <a:srgbClr val="16B8C4"/>
            </a:solidFill>
            <a:prstDash val="solid"/>
          </a:ln>
        </p:spPr>
      </p:sp>
      <p:sp>
        <p:nvSpPr>
          <p:cNvPr id="14" name="Text 11"/>
          <p:cNvSpPr/>
          <p:nvPr/>
        </p:nvSpPr>
        <p:spPr>
          <a:xfrm>
            <a:off x="5623560" y="3072384"/>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0B1F33"/>
                </a:solidFill>
                <a:latin typeface="Aptos" pitchFamily="34" charset="0"/>
                <a:ea typeface="Aptos" pitchFamily="34" charset="-122"/>
                <a:cs typeface="Aptos" pitchFamily="34" charset="-120"/>
              </a:rPr>
              <a:t>~</a:t>
            </a:r>
            <a:endParaRPr lang="en-US" sz="1600" dirty="0"/>
          </a:p>
        </p:txBody>
      </p:sp>
      <p:sp>
        <p:nvSpPr>
          <p:cNvPr id="15" name="Text 12"/>
          <p:cNvSpPr/>
          <p:nvPr/>
        </p:nvSpPr>
        <p:spPr>
          <a:xfrm>
            <a:off x="6144768" y="3081528"/>
            <a:ext cx="1051560" cy="201168"/>
          </a:xfrm>
          <a:prstGeom prst="rect">
            <a:avLst/>
          </a:prstGeom>
          <a:noFill/>
          <a:ln/>
        </p:spPr>
        <p:txBody>
          <a:bodyPr wrap="square" lIns="0" tIns="0" rIns="0" bIns="0" rtlCol="0" anchor="ctr">
            <a:normAutofit/>
          </a:bodyPr>
          <a:lstStyle/>
          <a:p>
            <a:pPr algn="l" indent="0" marL="0">
              <a:buNone/>
            </a:pPr>
            <a:r>
              <a:rPr lang="en-US" sz="1000" b="1" dirty="0">
                <a:solidFill>
                  <a:srgbClr val="102A43"/>
                </a:solidFill>
                <a:latin typeface="Aptos" pitchFamily="34" charset="0"/>
                <a:ea typeface="Aptos" pitchFamily="34" charset="-122"/>
                <a:cs typeface="Aptos" pitchFamily="34" charset="-120"/>
              </a:rPr>
              <a:t>Technology</a:t>
            </a:r>
            <a:endParaRPr lang="en-US" sz="1000" dirty="0"/>
          </a:p>
        </p:txBody>
      </p:sp>
      <p:sp>
        <p:nvSpPr>
          <p:cNvPr id="16" name="Text 13"/>
          <p:cNvSpPr/>
          <p:nvPr/>
        </p:nvSpPr>
        <p:spPr>
          <a:xfrm>
            <a:off x="7178040" y="3054096"/>
            <a:ext cx="4572000" cy="329184"/>
          </a:xfrm>
          <a:prstGeom prst="rect">
            <a:avLst/>
          </a:prstGeom>
          <a:noFill/>
          <a:ln/>
        </p:spPr>
        <p:txBody>
          <a:bodyPr wrap="square" lIns="0" tIns="0" rIns="0" bIns="0" rtlCol="0" anchor="t">
            <a:normAutofit/>
          </a:bodyPr>
          <a:lstStyle/>
          <a:p>
            <a:pPr algn="l" indent="0" marL="0">
              <a:buNone/>
            </a:pPr>
            <a:r>
              <a:rPr lang="en-US" sz="1150" dirty="0">
                <a:solidFill>
                  <a:srgbClr val="203040"/>
                </a:solidFill>
                <a:latin typeface="Aptos" pitchFamily="34" charset="0"/>
                <a:ea typeface="Aptos" pitchFamily="34" charset="-122"/>
                <a:cs typeface="Aptos" pitchFamily="34" charset="-120"/>
              </a:rPr>
              <a:t>Stable 448 kHz monopolar radiofrequency with thermal and non-thermal modes.</a:t>
            </a:r>
            <a:endParaRPr lang="en-US" sz="1150" dirty="0"/>
          </a:p>
        </p:txBody>
      </p:sp>
      <p:sp>
        <p:nvSpPr>
          <p:cNvPr id="17" name="Shape 14"/>
          <p:cNvSpPr/>
          <p:nvPr/>
        </p:nvSpPr>
        <p:spPr>
          <a:xfrm>
            <a:off x="5623560" y="3730752"/>
            <a:ext cx="384048" cy="384048"/>
          </a:xfrm>
          <a:prstGeom prst="ellipse">
            <a:avLst/>
          </a:prstGeom>
          <a:solidFill>
            <a:srgbClr val="16B8C4"/>
          </a:solidFill>
          <a:ln w="12700">
            <a:solidFill>
              <a:srgbClr val="16B8C4"/>
            </a:solidFill>
            <a:prstDash val="solid"/>
          </a:ln>
        </p:spPr>
      </p:sp>
      <p:sp>
        <p:nvSpPr>
          <p:cNvPr id="18" name="Text 15"/>
          <p:cNvSpPr/>
          <p:nvPr/>
        </p:nvSpPr>
        <p:spPr>
          <a:xfrm>
            <a:off x="5623560" y="3739896"/>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0B1F33"/>
                </a:solidFill>
                <a:latin typeface="Aptos" pitchFamily="34" charset="0"/>
                <a:ea typeface="Aptos" pitchFamily="34" charset="-122"/>
                <a:cs typeface="Aptos" pitchFamily="34" charset="-120"/>
              </a:rPr>
              <a:t>+</a:t>
            </a:r>
            <a:endParaRPr lang="en-US" sz="1600" dirty="0"/>
          </a:p>
        </p:txBody>
      </p:sp>
      <p:sp>
        <p:nvSpPr>
          <p:cNvPr id="19" name="Text 16"/>
          <p:cNvSpPr/>
          <p:nvPr/>
        </p:nvSpPr>
        <p:spPr>
          <a:xfrm>
            <a:off x="6144768" y="3749040"/>
            <a:ext cx="1051560" cy="201168"/>
          </a:xfrm>
          <a:prstGeom prst="rect">
            <a:avLst/>
          </a:prstGeom>
          <a:noFill/>
          <a:ln/>
        </p:spPr>
        <p:txBody>
          <a:bodyPr wrap="square" lIns="0" tIns="0" rIns="0" bIns="0" rtlCol="0" anchor="ctr">
            <a:normAutofit/>
          </a:bodyPr>
          <a:lstStyle/>
          <a:p>
            <a:pPr algn="l" indent="0" marL="0">
              <a:buNone/>
            </a:pPr>
            <a:r>
              <a:rPr lang="en-US" sz="1000" b="1" dirty="0">
                <a:solidFill>
                  <a:srgbClr val="102A43"/>
                </a:solidFill>
                <a:latin typeface="Aptos" pitchFamily="34" charset="0"/>
                <a:ea typeface="Aptos" pitchFamily="34" charset="-122"/>
                <a:cs typeface="Aptos" pitchFamily="34" charset="-120"/>
              </a:rPr>
              <a:t>Clinical fit</a:t>
            </a:r>
            <a:endParaRPr lang="en-US" sz="1000" dirty="0"/>
          </a:p>
        </p:txBody>
      </p:sp>
      <p:sp>
        <p:nvSpPr>
          <p:cNvPr id="20" name="Text 17"/>
          <p:cNvSpPr/>
          <p:nvPr/>
        </p:nvSpPr>
        <p:spPr>
          <a:xfrm>
            <a:off x="7178040" y="3721608"/>
            <a:ext cx="4572000" cy="329184"/>
          </a:xfrm>
          <a:prstGeom prst="rect">
            <a:avLst/>
          </a:prstGeom>
          <a:noFill/>
          <a:ln/>
        </p:spPr>
        <p:txBody>
          <a:bodyPr wrap="square" lIns="0" tIns="0" rIns="0" bIns="0" rtlCol="0" anchor="t">
            <a:normAutofit/>
          </a:bodyPr>
          <a:lstStyle/>
          <a:p>
            <a:pPr algn="l" indent="0" marL="0">
              <a:buNone/>
            </a:pPr>
            <a:r>
              <a:rPr lang="en-US" sz="1150" dirty="0">
                <a:solidFill>
                  <a:srgbClr val="203040"/>
                </a:solidFill>
                <a:latin typeface="Aptos" pitchFamily="34" charset="0"/>
                <a:ea typeface="Aptos" pitchFamily="34" charset="-122"/>
                <a:cs typeface="Aptos" pitchFamily="34" charset="-120"/>
              </a:rPr>
              <a:t>Acute recovery, pain modulation, edema support, tissue preparation and chronic rehab.</a:t>
            </a:r>
            <a:endParaRPr lang="en-US" sz="1150" dirty="0"/>
          </a:p>
        </p:txBody>
      </p:sp>
      <p:sp>
        <p:nvSpPr>
          <p:cNvPr id="21" name="Shape 18"/>
          <p:cNvSpPr/>
          <p:nvPr/>
        </p:nvSpPr>
        <p:spPr>
          <a:xfrm>
            <a:off x="5623560" y="4398264"/>
            <a:ext cx="384048" cy="384048"/>
          </a:xfrm>
          <a:prstGeom prst="ellipse">
            <a:avLst/>
          </a:prstGeom>
          <a:solidFill>
            <a:srgbClr val="16B8C4"/>
          </a:solidFill>
          <a:ln w="12700">
            <a:solidFill>
              <a:srgbClr val="16B8C4"/>
            </a:solidFill>
            <a:prstDash val="solid"/>
          </a:ln>
        </p:spPr>
      </p:sp>
      <p:sp>
        <p:nvSpPr>
          <p:cNvPr id="22" name="Text 19"/>
          <p:cNvSpPr/>
          <p:nvPr/>
        </p:nvSpPr>
        <p:spPr>
          <a:xfrm>
            <a:off x="5623560" y="4407408"/>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0B1F33"/>
                </a:solidFill>
                <a:latin typeface="Aptos" pitchFamily="34" charset="0"/>
                <a:ea typeface="Aptos" pitchFamily="34" charset="-122"/>
                <a:cs typeface="Aptos" pitchFamily="34" charset="-120"/>
              </a:rPr>
              <a:t>↔</a:t>
            </a:r>
            <a:endParaRPr lang="en-US" sz="1600" dirty="0"/>
          </a:p>
        </p:txBody>
      </p:sp>
      <p:sp>
        <p:nvSpPr>
          <p:cNvPr id="23" name="Text 20"/>
          <p:cNvSpPr/>
          <p:nvPr/>
        </p:nvSpPr>
        <p:spPr>
          <a:xfrm>
            <a:off x="6144768" y="4416552"/>
            <a:ext cx="1051560" cy="201168"/>
          </a:xfrm>
          <a:prstGeom prst="rect">
            <a:avLst/>
          </a:prstGeom>
          <a:noFill/>
          <a:ln/>
        </p:spPr>
        <p:txBody>
          <a:bodyPr wrap="square" lIns="0" tIns="0" rIns="0" bIns="0" rtlCol="0" anchor="ctr">
            <a:normAutofit/>
          </a:bodyPr>
          <a:lstStyle/>
          <a:p>
            <a:pPr algn="l" indent="0" marL="0">
              <a:buNone/>
            </a:pPr>
            <a:r>
              <a:rPr lang="en-US" sz="1000" b="1" dirty="0">
                <a:solidFill>
                  <a:srgbClr val="102A43"/>
                </a:solidFill>
                <a:latin typeface="Aptos" pitchFamily="34" charset="0"/>
                <a:ea typeface="Aptos" pitchFamily="34" charset="-122"/>
                <a:cs typeface="Aptos" pitchFamily="34" charset="-120"/>
              </a:rPr>
              <a:t>Workflow fit</a:t>
            </a:r>
            <a:endParaRPr lang="en-US" sz="1000" dirty="0"/>
          </a:p>
        </p:txBody>
      </p:sp>
      <p:sp>
        <p:nvSpPr>
          <p:cNvPr id="24" name="Text 21"/>
          <p:cNvSpPr/>
          <p:nvPr/>
        </p:nvSpPr>
        <p:spPr>
          <a:xfrm>
            <a:off x="7178040" y="4389120"/>
            <a:ext cx="4572000" cy="329184"/>
          </a:xfrm>
          <a:prstGeom prst="rect">
            <a:avLst/>
          </a:prstGeom>
          <a:noFill/>
          <a:ln/>
        </p:spPr>
        <p:txBody>
          <a:bodyPr wrap="square" lIns="0" tIns="0" rIns="0" bIns="0" rtlCol="0" anchor="t">
            <a:normAutofit/>
          </a:bodyPr>
          <a:lstStyle/>
          <a:p>
            <a:pPr algn="l" indent="0" marL="0">
              <a:buNone/>
            </a:pPr>
            <a:r>
              <a:rPr lang="en-US" sz="1150" dirty="0">
                <a:solidFill>
                  <a:srgbClr val="203040"/>
                </a:solidFill>
                <a:latin typeface="Aptos" pitchFamily="34" charset="0"/>
                <a:ea typeface="Aptos" pitchFamily="34" charset="-122"/>
                <a:cs typeface="Aptos" pitchFamily="34" charset="-120"/>
              </a:rPr>
              <a:t>Designed to combine with hands-on treatment, exercise and individualized protocols.</a:t>
            </a:r>
            <a:endParaRPr lang="en-US" sz="1150" dirty="0"/>
          </a:p>
        </p:txBody>
      </p:sp>
      <p:sp>
        <p:nvSpPr>
          <p:cNvPr id="25" name="Shape 22"/>
          <p:cNvSpPr/>
          <p:nvPr/>
        </p:nvSpPr>
        <p:spPr>
          <a:xfrm>
            <a:off x="5623560" y="5065776"/>
            <a:ext cx="384048" cy="384048"/>
          </a:xfrm>
          <a:prstGeom prst="ellipse">
            <a:avLst/>
          </a:prstGeom>
          <a:solidFill>
            <a:srgbClr val="F47C6C"/>
          </a:solidFill>
          <a:ln w="12700">
            <a:solidFill>
              <a:srgbClr val="F47C6C"/>
            </a:solidFill>
            <a:prstDash val="solid"/>
          </a:ln>
        </p:spPr>
      </p:sp>
      <p:sp>
        <p:nvSpPr>
          <p:cNvPr id="26" name="Text 23"/>
          <p:cNvSpPr/>
          <p:nvPr/>
        </p:nvSpPr>
        <p:spPr>
          <a:xfrm>
            <a:off x="5623560" y="5074920"/>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a:t>
            </a:r>
            <a:endParaRPr lang="en-US" sz="1600" dirty="0"/>
          </a:p>
        </p:txBody>
      </p:sp>
      <p:sp>
        <p:nvSpPr>
          <p:cNvPr id="27" name="Text 24"/>
          <p:cNvSpPr/>
          <p:nvPr/>
        </p:nvSpPr>
        <p:spPr>
          <a:xfrm>
            <a:off x="6144768" y="5084064"/>
            <a:ext cx="1051560" cy="201168"/>
          </a:xfrm>
          <a:prstGeom prst="rect">
            <a:avLst/>
          </a:prstGeom>
          <a:noFill/>
          <a:ln/>
        </p:spPr>
        <p:txBody>
          <a:bodyPr wrap="square" lIns="0" tIns="0" rIns="0" bIns="0" rtlCol="0" anchor="ctr">
            <a:normAutofit/>
          </a:bodyPr>
          <a:lstStyle/>
          <a:p>
            <a:pPr algn="l" indent="0" marL="0">
              <a:buNone/>
            </a:pPr>
            <a:r>
              <a:rPr lang="en-US" sz="1000" b="1" dirty="0">
                <a:solidFill>
                  <a:srgbClr val="102A43"/>
                </a:solidFill>
                <a:latin typeface="Aptos" pitchFamily="34" charset="0"/>
                <a:ea typeface="Aptos" pitchFamily="34" charset="-122"/>
                <a:cs typeface="Aptos" pitchFamily="34" charset="-120"/>
              </a:rPr>
              <a:t>Commercial fit</a:t>
            </a:r>
            <a:endParaRPr lang="en-US" sz="1000" dirty="0"/>
          </a:p>
        </p:txBody>
      </p:sp>
      <p:sp>
        <p:nvSpPr>
          <p:cNvPr id="28" name="Text 25"/>
          <p:cNvSpPr/>
          <p:nvPr/>
        </p:nvSpPr>
        <p:spPr>
          <a:xfrm>
            <a:off x="7178040" y="5056632"/>
            <a:ext cx="4572000" cy="329184"/>
          </a:xfrm>
          <a:prstGeom prst="rect">
            <a:avLst/>
          </a:prstGeom>
          <a:noFill/>
          <a:ln/>
        </p:spPr>
        <p:txBody>
          <a:bodyPr wrap="square" lIns="0" tIns="0" rIns="0" bIns="0" rtlCol="0" anchor="t">
            <a:normAutofit/>
          </a:bodyPr>
          <a:lstStyle/>
          <a:p>
            <a:pPr algn="l" indent="0" marL="0">
              <a:buNone/>
            </a:pPr>
            <a:r>
              <a:rPr lang="en-US" sz="1150" dirty="0">
                <a:solidFill>
                  <a:srgbClr val="203040"/>
                </a:solidFill>
                <a:latin typeface="Aptos" pitchFamily="34" charset="0"/>
                <a:ea typeface="Aptos" pitchFamily="34" charset="-122"/>
                <a:cs typeface="Aptos" pitchFamily="34" charset="-120"/>
              </a:rPr>
              <a:t>One platform can serve multiple specialties and create repeatable treatment pathways.</a:t>
            </a:r>
            <a:endParaRPr lang="en-US" sz="1150" dirty="0"/>
          </a:p>
        </p:txBody>
      </p:sp>
      <p:sp>
        <p:nvSpPr>
          <p:cNvPr id="25" name="Slide Number Placeholder 0"/>
          <p:cNvSpPr>
            <a:spLocks noGrp="1"/>
          </p:cNvSpPr>
          <p:nvPr>
            <p:ph type="sldNum" sz="quarter" idx="4294967295"/>
          </p:nvPr>
        </p:nvSpPr>
        <p:spPr>
          <a:xfrm>
            <a:off x="11841480" y="6492240"/>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785"/>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4389120" cy="201168"/>
          </a:xfrm>
          <a:prstGeom prst="rect">
            <a:avLst/>
          </a:prstGeom>
          <a:noFill/>
          <a:ln/>
        </p:spPr>
        <p:txBody>
          <a:bodyPr wrap="square" lIns="0" tIns="0" rIns="0" bIns="0" rtlCol="0" anchor="ctr">
            <a:normAutofit/>
          </a:bodyPr>
          <a:lstStyle/>
          <a:p>
            <a:pPr algn="l" indent="0" marL="0">
              <a:buNone/>
            </a:pPr>
            <a:r>
              <a:rPr lang="en-US" sz="950" b="1" dirty="0">
                <a:solidFill>
                  <a:srgbClr val="16B8C4"/>
                </a:solidFill>
                <a:latin typeface="Aptos" pitchFamily="34" charset="0"/>
                <a:ea typeface="Aptos" pitchFamily="34" charset="-122"/>
                <a:cs typeface="Aptos" pitchFamily="34" charset="-120"/>
              </a:rPr>
              <a:t>PLATFORM 02</a:t>
            </a:r>
            <a:endParaRPr lang="en-US" sz="950" dirty="0"/>
          </a:p>
        </p:txBody>
      </p:sp>
      <p:sp>
        <p:nvSpPr>
          <p:cNvPr id="3" name="Text 1"/>
          <p:cNvSpPr/>
          <p:nvPr/>
        </p:nvSpPr>
        <p:spPr>
          <a:xfrm>
            <a:off x="548640" y="658368"/>
            <a:ext cx="10789920" cy="512064"/>
          </a:xfrm>
          <a:prstGeom prst="rect">
            <a:avLst/>
          </a:prstGeom>
          <a:noFill/>
          <a:ln/>
        </p:spPr>
        <p:txBody>
          <a:bodyPr wrap="square" lIns="0" tIns="0" rIns="0" bIns="0" rtlCol="0" anchor="ctr">
            <a:normAutofit/>
          </a:bodyPr>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ASA HIRO TT: high-intensity pulsed laser with a comfort advantage</a:t>
            </a:r>
            <a:endParaRPr lang="en-US" sz="2800" dirty="0"/>
          </a:p>
        </p:txBody>
      </p:sp>
      <p:sp>
        <p:nvSpPr>
          <p:cNvPr id="4" name="Text 2"/>
          <p:cNvSpPr/>
          <p:nvPr/>
        </p:nvSpPr>
        <p:spPr>
          <a:xfrm>
            <a:off x="548640" y="1207008"/>
            <a:ext cx="10515600" cy="292608"/>
          </a:xfrm>
          <a:prstGeom prst="rect">
            <a:avLst/>
          </a:prstGeom>
          <a:noFill/>
          <a:ln/>
        </p:spPr>
        <p:txBody>
          <a:bodyPr wrap="square" lIns="0" tIns="0" rIns="0" bIns="0" rtlCol="0" anchor="ctr">
            <a:normAutofit/>
          </a:bodyPr>
          <a:lstStyle/>
          <a:p>
            <a:pPr algn="l" indent="0" marL="0">
              <a:buNone/>
            </a:pPr>
            <a:r>
              <a:rPr lang="en-US" sz="1250" dirty="0">
                <a:solidFill>
                  <a:srgbClr val="6B7785"/>
                </a:solidFill>
                <a:latin typeface="Aptos" pitchFamily="34" charset="0"/>
                <a:ea typeface="Aptos" pitchFamily="34" charset="-122"/>
                <a:cs typeface="Aptos" pitchFamily="34" charset="-120"/>
              </a:rPr>
              <a:t>Hilterapia combines depth, intensity and SmartCooler thermal exchange.</a:t>
            </a:r>
            <a:endParaRPr lang="en-US" sz="1250" dirty="0"/>
          </a:p>
        </p:txBody>
      </p:sp>
      <p:pic>
        <p:nvPicPr>
          <p:cNvPr id="5" name="Image 0" descr="G:\herott\assets\hiro-treatment.jpg">    </p:cNvPr>
          <p:cNvPicPr>
            <a:picLocks noChangeAspect="1"/>
          </p:cNvPicPr>
          <p:nvPr/>
        </p:nvPicPr>
        <p:blipFill>
          <a:blip r:embed="rId1">
            <a:alphaModFix amt="96000"/>
          </a:blip>
          <a:srcRect l="0" r="0" t="0" b="0"/>
          <a:stretch/>
        </p:blipFill>
        <p:spPr>
          <a:xfrm>
            <a:off x="548640" y="1783080"/>
            <a:ext cx="4663440" cy="4206240"/>
          </a:xfrm>
          <a:prstGeom prst="rect">
            <a:avLst/>
          </a:prstGeom>
        </p:spPr>
      </p:pic>
      <p:sp>
        <p:nvSpPr>
          <p:cNvPr id="6" name="Shape 3"/>
          <p:cNvSpPr/>
          <p:nvPr/>
        </p:nvSpPr>
        <p:spPr>
          <a:xfrm>
            <a:off x="548640" y="1783080"/>
            <a:ext cx="4663440" cy="4206240"/>
          </a:xfrm>
          <a:prstGeom prst="rect">
            <a:avLst/>
          </a:prstGeom>
          <a:solidFill>
            <a:srgbClr val="0B1F33">
              <a:alpha val="28000"/>
            </a:srgbClr>
          </a:solidFill>
          <a:ln w="12700">
            <a:solidFill>
              <a:srgbClr val="0B1F33">
                <a:alpha val="0"/>
              </a:srgbClr>
            </a:solidFill>
            <a:prstDash val="solid"/>
          </a:ln>
        </p:spPr>
      </p:sp>
      <p:sp>
        <p:nvSpPr>
          <p:cNvPr id="7" name="Text 4"/>
          <p:cNvSpPr/>
          <p:nvPr/>
        </p:nvSpPr>
        <p:spPr>
          <a:xfrm>
            <a:off x="868680" y="2148840"/>
            <a:ext cx="3749040" cy="530352"/>
          </a:xfrm>
          <a:prstGeom prst="rect">
            <a:avLst/>
          </a:prstGeom>
          <a:noFill/>
          <a:ln/>
        </p:spPr>
        <p:txBody>
          <a:bodyPr wrap="square" lIns="0" tIns="0" rIns="0" bIns="0" rtlCol="0" anchor="ctr">
            <a:normAutofit/>
          </a:bodyPr>
          <a:lstStyle/>
          <a:p>
            <a:pPr algn="l" indent="0" marL="0">
              <a:buNone/>
            </a:pPr>
            <a:r>
              <a:rPr lang="en-US" sz="2400" b="1" dirty="0">
                <a:solidFill>
                  <a:srgbClr val="FFFFFF"/>
                </a:solidFill>
                <a:latin typeface="Aptos Display" pitchFamily="34" charset="0"/>
                <a:ea typeface="Aptos Display" pitchFamily="34" charset="-122"/>
                <a:cs typeface="Aptos Display" pitchFamily="34" charset="-120"/>
              </a:rPr>
              <a:t>Deep action, controlled experience</a:t>
            </a:r>
            <a:endParaRPr lang="en-US" sz="2400" dirty="0"/>
          </a:p>
        </p:txBody>
      </p:sp>
      <p:sp>
        <p:nvSpPr>
          <p:cNvPr id="8" name="Text 5"/>
          <p:cNvSpPr/>
          <p:nvPr/>
        </p:nvSpPr>
        <p:spPr>
          <a:xfrm>
            <a:off x="868680" y="2852928"/>
            <a:ext cx="3383280" cy="640080"/>
          </a:xfrm>
          <a:prstGeom prst="rect">
            <a:avLst/>
          </a:prstGeom>
          <a:noFill/>
          <a:ln/>
        </p:spPr>
        <p:txBody>
          <a:bodyPr wrap="square" lIns="0" tIns="0" rIns="0" bIns="0" rtlCol="0" anchor="t">
            <a:normAutofit/>
          </a:bodyPr>
          <a:lstStyle/>
          <a:p>
            <a:pPr algn="l" indent="0" marL="0">
              <a:buNone/>
            </a:pPr>
            <a:r>
              <a:rPr lang="en-US" sz="1400" dirty="0">
                <a:solidFill>
                  <a:srgbClr val="E8F1F5"/>
                </a:solidFill>
                <a:latin typeface="Aptos" pitchFamily="34" charset="0"/>
                <a:ea typeface="Aptos" pitchFamily="34" charset="-122"/>
                <a:cs typeface="Aptos" pitchFamily="34" charset="-120"/>
              </a:rPr>
              <a:t>A premium intervention that is easy for the patient to feel, understand and value.</a:t>
            </a:r>
            <a:endParaRPr lang="en-US" sz="1400" dirty="0"/>
          </a:p>
        </p:txBody>
      </p:sp>
      <p:sp>
        <p:nvSpPr>
          <p:cNvPr id="9" name="Shape 6"/>
          <p:cNvSpPr/>
          <p:nvPr/>
        </p:nvSpPr>
        <p:spPr>
          <a:xfrm>
            <a:off x="868680" y="4937760"/>
            <a:ext cx="1234440" cy="265176"/>
          </a:xfrm>
          <a:prstGeom prst="roundRect">
            <a:avLst>
              <a:gd name="adj" fmla="val 20690"/>
            </a:avLst>
          </a:prstGeom>
          <a:solidFill>
            <a:srgbClr val="F47C6C"/>
          </a:solidFill>
          <a:ln w="12700">
            <a:solidFill>
              <a:srgbClr val="F47C6C"/>
            </a:solidFill>
            <a:prstDash val="solid"/>
          </a:ln>
        </p:spPr>
      </p:sp>
      <p:sp>
        <p:nvSpPr>
          <p:cNvPr id="10" name="Text 7"/>
          <p:cNvSpPr/>
          <p:nvPr/>
        </p:nvSpPr>
        <p:spPr>
          <a:xfrm>
            <a:off x="941832" y="4951476"/>
            <a:ext cx="1088136" cy="22860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HILT® PULSE</a:t>
            </a:r>
            <a:endParaRPr lang="en-US" sz="850" dirty="0"/>
          </a:p>
        </p:txBody>
      </p:sp>
      <p:sp>
        <p:nvSpPr>
          <p:cNvPr id="11" name="Shape 8"/>
          <p:cNvSpPr/>
          <p:nvPr/>
        </p:nvSpPr>
        <p:spPr>
          <a:xfrm>
            <a:off x="2221992" y="4937760"/>
            <a:ext cx="1463040" cy="265176"/>
          </a:xfrm>
          <a:prstGeom prst="roundRect">
            <a:avLst>
              <a:gd name="adj" fmla="val 20690"/>
            </a:avLst>
          </a:prstGeom>
          <a:solidFill>
            <a:srgbClr val="FFFFFF"/>
          </a:solidFill>
          <a:ln w="12700">
            <a:solidFill>
              <a:srgbClr val="FFFFFF"/>
            </a:solidFill>
            <a:prstDash val="solid"/>
          </a:ln>
        </p:spPr>
      </p:sp>
      <p:sp>
        <p:nvSpPr>
          <p:cNvPr id="12" name="Text 9"/>
          <p:cNvSpPr/>
          <p:nvPr/>
        </p:nvSpPr>
        <p:spPr>
          <a:xfrm>
            <a:off x="2295144" y="4951476"/>
            <a:ext cx="1316736" cy="228600"/>
          </a:xfrm>
          <a:prstGeom prst="rect">
            <a:avLst/>
          </a:prstGeom>
          <a:noFill/>
          <a:ln/>
        </p:spPr>
        <p:txBody>
          <a:bodyPr wrap="square" lIns="0" tIns="0" rIns="0" bIns="0" rtlCol="0" anchor="ctr">
            <a:normAutofit/>
          </a:bodyPr>
          <a:lstStyle/>
          <a:p>
            <a:pPr algn="ctr" indent="0" marL="0">
              <a:buNone/>
            </a:pPr>
            <a:r>
              <a:rPr lang="en-US" sz="850" b="1" dirty="0">
                <a:solidFill>
                  <a:srgbClr val="102A43"/>
                </a:solidFill>
                <a:latin typeface="Aptos" pitchFamily="34" charset="0"/>
                <a:ea typeface="Aptos" pitchFamily="34" charset="-122"/>
                <a:cs typeface="Aptos" pitchFamily="34" charset="-120"/>
              </a:rPr>
              <a:t>SMARTCOOLER</a:t>
            </a:r>
            <a:endParaRPr lang="en-US" sz="850" dirty="0"/>
          </a:p>
        </p:txBody>
      </p:sp>
      <p:sp>
        <p:nvSpPr>
          <p:cNvPr id="13" name="Text 10"/>
          <p:cNvSpPr/>
          <p:nvPr/>
        </p:nvSpPr>
        <p:spPr>
          <a:xfrm>
            <a:off x="868680" y="5358384"/>
            <a:ext cx="3291840" cy="228600"/>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1 optic fiber  •  3 handpieces</a:t>
            </a:r>
            <a:endParaRPr lang="en-US" sz="1100" dirty="0"/>
          </a:p>
        </p:txBody>
      </p:sp>
      <p:sp>
        <p:nvSpPr>
          <p:cNvPr id="14" name="Text 11"/>
          <p:cNvSpPr/>
          <p:nvPr/>
        </p:nvSpPr>
        <p:spPr>
          <a:xfrm>
            <a:off x="5623560" y="1856232"/>
            <a:ext cx="3108960" cy="228600"/>
          </a:xfrm>
          <a:prstGeom prst="rect">
            <a:avLst/>
          </a:prstGeom>
          <a:noFill/>
          <a:ln/>
        </p:spPr>
        <p:txBody>
          <a:bodyPr wrap="square" lIns="0" tIns="0" rIns="0" bIns="0" rtlCol="0" anchor="ctr">
            <a:normAutofit/>
          </a:bodyPr>
          <a:lstStyle/>
          <a:p>
            <a:pPr algn="l" indent="0" marL="0">
              <a:buNone/>
            </a:pPr>
            <a:r>
              <a:rPr lang="en-US" sz="1000" b="1" dirty="0">
                <a:solidFill>
                  <a:srgbClr val="F47C6C"/>
                </a:solidFill>
                <a:latin typeface="Aptos" pitchFamily="34" charset="0"/>
                <a:ea typeface="Aptos" pitchFamily="34" charset="-122"/>
                <a:cs typeface="Aptos" pitchFamily="34" charset="-120"/>
              </a:rPr>
              <a:t>The proof points I would highlight</a:t>
            </a:r>
            <a:endParaRPr lang="en-US" sz="1000" dirty="0"/>
          </a:p>
        </p:txBody>
      </p:sp>
      <p:sp>
        <p:nvSpPr>
          <p:cNvPr id="15" name="Shape 12"/>
          <p:cNvSpPr/>
          <p:nvPr/>
        </p:nvSpPr>
        <p:spPr>
          <a:xfrm>
            <a:off x="5623560" y="2267712"/>
            <a:ext cx="2578608" cy="786384"/>
          </a:xfrm>
          <a:prstGeom prst="roundRect">
            <a:avLst>
              <a:gd name="adj" fmla="val 9302"/>
            </a:avLst>
          </a:prstGeom>
          <a:solidFill>
            <a:srgbClr val="FFFFFF"/>
          </a:solidFill>
          <a:ln w="12700">
            <a:solidFill>
              <a:srgbClr val="D7E0E8"/>
            </a:solidFill>
            <a:prstDash val="solid"/>
          </a:ln>
        </p:spPr>
      </p:sp>
      <p:sp>
        <p:nvSpPr>
          <p:cNvPr id="16" name="Text 13"/>
          <p:cNvSpPr/>
          <p:nvPr/>
        </p:nvSpPr>
        <p:spPr>
          <a:xfrm>
            <a:off x="5733288" y="2359152"/>
            <a:ext cx="1097280" cy="320040"/>
          </a:xfrm>
          <a:prstGeom prst="rect">
            <a:avLst/>
          </a:prstGeom>
          <a:noFill/>
          <a:ln/>
        </p:spPr>
        <p:txBody>
          <a:bodyPr wrap="square" lIns="0" tIns="0" rIns="0" bIns="0" rtlCol="0" anchor="ctr">
            <a:normAutofit/>
          </a:bodyPr>
          <a:lstStyle/>
          <a:p>
            <a:pPr algn="l" indent="0" marL="0">
              <a:buNone/>
            </a:pPr>
            <a:r>
              <a:rPr lang="en-US" sz="2200" b="1" dirty="0">
                <a:solidFill>
                  <a:srgbClr val="F47C6C"/>
                </a:solidFill>
                <a:latin typeface="Aptos Display" pitchFamily="34" charset="0"/>
                <a:ea typeface="Aptos Display" pitchFamily="34" charset="-122"/>
                <a:cs typeface="Aptos Display" pitchFamily="34" charset="-120"/>
              </a:rPr>
              <a:t>15,000</a:t>
            </a:r>
            <a:endParaRPr lang="en-US" sz="2200" dirty="0"/>
          </a:p>
        </p:txBody>
      </p:sp>
      <p:sp>
        <p:nvSpPr>
          <p:cNvPr id="17" name="Text 14"/>
          <p:cNvSpPr/>
          <p:nvPr/>
        </p:nvSpPr>
        <p:spPr>
          <a:xfrm>
            <a:off x="6784848" y="2432304"/>
            <a:ext cx="1234440" cy="292608"/>
          </a:xfrm>
          <a:prstGeom prst="rect">
            <a:avLst/>
          </a:prstGeom>
          <a:noFill/>
          <a:ln/>
        </p:spPr>
        <p:txBody>
          <a:bodyPr wrap="square" lIns="0" tIns="0" rIns="0" bIns="0" rtlCol="0" anchor="ctr">
            <a:normAutofit/>
          </a:bodyPr>
          <a:lstStyle/>
          <a:p>
            <a:pPr algn="l" indent="0" marL="0">
              <a:buNone/>
            </a:pPr>
            <a:r>
              <a:rPr lang="en-US" sz="950" b="1" dirty="0">
                <a:solidFill>
                  <a:srgbClr val="102A43"/>
                </a:solidFill>
                <a:latin typeface="Aptos" pitchFamily="34" charset="0"/>
                <a:ea typeface="Aptos" pitchFamily="34" charset="-122"/>
                <a:cs typeface="Aptos" pitchFamily="34" charset="-120"/>
              </a:rPr>
              <a:t>W/cm² max intensity</a:t>
            </a:r>
            <a:endParaRPr lang="en-US" sz="950" dirty="0"/>
          </a:p>
        </p:txBody>
      </p:sp>
      <p:sp>
        <p:nvSpPr>
          <p:cNvPr id="18" name="Shape 15"/>
          <p:cNvSpPr/>
          <p:nvPr/>
        </p:nvSpPr>
        <p:spPr>
          <a:xfrm>
            <a:off x="8549640" y="2267712"/>
            <a:ext cx="2578608" cy="786384"/>
          </a:xfrm>
          <a:prstGeom prst="roundRect">
            <a:avLst>
              <a:gd name="adj" fmla="val 9302"/>
            </a:avLst>
          </a:prstGeom>
          <a:solidFill>
            <a:srgbClr val="FFFFFF"/>
          </a:solidFill>
          <a:ln w="12700">
            <a:solidFill>
              <a:srgbClr val="D7E0E8"/>
            </a:solidFill>
            <a:prstDash val="solid"/>
          </a:ln>
        </p:spPr>
      </p:sp>
      <p:sp>
        <p:nvSpPr>
          <p:cNvPr id="19" name="Text 16"/>
          <p:cNvSpPr/>
          <p:nvPr/>
        </p:nvSpPr>
        <p:spPr>
          <a:xfrm>
            <a:off x="8659368" y="2359152"/>
            <a:ext cx="1097280" cy="320040"/>
          </a:xfrm>
          <a:prstGeom prst="rect">
            <a:avLst/>
          </a:prstGeom>
          <a:noFill/>
          <a:ln/>
        </p:spPr>
        <p:txBody>
          <a:bodyPr wrap="square" lIns="0" tIns="0" rIns="0" bIns="0" rtlCol="0" anchor="ctr">
            <a:normAutofit/>
          </a:bodyPr>
          <a:lstStyle/>
          <a:p>
            <a:pPr algn="l" indent="0" marL="0">
              <a:buNone/>
            </a:pPr>
            <a:r>
              <a:rPr lang="en-US" sz="2200" b="1" dirty="0">
                <a:solidFill>
                  <a:srgbClr val="2F6BFF"/>
                </a:solidFill>
                <a:latin typeface="Aptos Display" pitchFamily="34" charset="0"/>
                <a:ea typeface="Aptos Display" pitchFamily="34" charset="-122"/>
                <a:cs typeface="Aptos Display" pitchFamily="34" charset="-120"/>
              </a:rPr>
              <a:t>≤100</a:t>
            </a:r>
            <a:endParaRPr lang="en-US" sz="2200" dirty="0"/>
          </a:p>
        </p:txBody>
      </p:sp>
      <p:sp>
        <p:nvSpPr>
          <p:cNvPr id="20" name="Text 17"/>
          <p:cNvSpPr/>
          <p:nvPr/>
        </p:nvSpPr>
        <p:spPr>
          <a:xfrm>
            <a:off x="9710928" y="2432304"/>
            <a:ext cx="1234440" cy="292608"/>
          </a:xfrm>
          <a:prstGeom prst="rect">
            <a:avLst/>
          </a:prstGeom>
          <a:noFill/>
          <a:ln/>
        </p:spPr>
        <p:txBody>
          <a:bodyPr wrap="square" lIns="0" tIns="0" rIns="0" bIns="0" rtlCol="0" anchor="ctr">
            <a:normAutofit/>
          </a:bodyPr>
          <a:lstStyle/>
          <a:p>
            <a:pPr algn="l" indent="0" marL="0">
              <a:buNone/>
            </a:pPr>
            <a:r>
              <a:rPr lang="en-US" sz="950" b="1" dirty="0">
                <a:solidFill>
                  <a:srgbClr val="102A43"/>
                </a:solidFill>
                <a:latin typeface="Aptos" pitchFamily="34" charset="0"/>
                <a:ea typeface="Aptos" pitchFamily="34" charset="-122"/>
                <a:cs typeface="Aptos" pitchFamily="34" charset="-120"/>
              </a:rPr>
              <a:t>microsecond pulse</a:t>
            </a:r>
            <a:endParaRPr lang="en-US" sz="950" dirty="0"/>
          </a:p>
        </p:txBody>
      </p:sp>
      <p:sp>
        <p:nvSpPr>
          <p:cNvPr id="21" name="Shape 18"/>
          <p:cNvSpPr/>
          <p:nvPr/>
        </p:nvSpPr>
        <p:spPr>
          <a:xfrm>
            <a:off x="5623560" y="3319272"/>
            <a:ext cx="2578608" cy="786384"/>
          </a:xfrm>
          <a:prstGeom prst="roundRect">
            <a:avLst>
              <a:gd name="adj" fmla="val 9302"/>
            </a:avLst>
          </a:prstGeom>
          <a:solidFill>
            <a:srgbClr val="FFFFFF"/>
          </a:solidFill>
          <a:ln w="12700">
            <a:solidFill>
              <a:srgbClr val="D7E0E8"/>
            </a:solidFill>
            <a:prstDash val="solid"/>
          </a:ln>
        </p:spPr>
      </p:sp>
      <p:sp>
        <p:nvSpPr>
          <p:cNvPr id="22" name="Text 19"/>
          <p:cNvSpPr/>
          <p:nvPr/>
        </p:nvSpPr>
        <p:spPr>
          <a:xfrm>
            <a:off x="5733288" y="3410712"/>
            <a:ext cx="1097280" cy="320040"/>
          </a:xfrm>
          <a:prstGeom prst="rect">
            <a:avLst/>
          </a:prstGeom>
          <a:noFill/>
          <a:ln/>
        </p:spPr>
        <p:txBody>
          <a:bodyPr wrap="square" lIns="0" tIns="0" rIns="0" bIns="0" rtlCol="0" anchor="ctr">
            <a:normAutofit/>
          </a:bodyPr>
          <a:lstStyle/>
          <a:p>
            <a:pPr algn="l" indent="0" marL="0">
              <a:buNone/>
            </a:pPr>
            <a:r>
              <a:rPr lang="en-US" sz="2200" b="1" dirty="0">
                <a:solidFill>
                  <a:srgbClr val="16B8C4"/>
                </a:solidFill>
                <a:latin typeface="Aptos Display" pitchFamily="34" charset="0"/>
                <a:ea typeface="Aptos Display" pitchFamily="34" charset="-122"/>
                <a:cs typeface="Aptos Display" pitchFamily="34" charset="-120"/>
              </a:rPr>
              <a:t>18–28°C</a:t>
            </a:r>
            <a:endParaRPr lang="en-US" sz="2200" dirty="0"/>
          </a:p>
        </p:txBody>
      </p:sp>
      <p:sp>
        <p:nvSpPr>
          <p:cNvPr id="23" name="Text 20"/>
          <p:cNvSpPr/>
          <p:nvPr/>
        </p:nvSpPr>
        <p:spPr>
          <a:xfrm>
            <a:off x="6784848" y="3483864"/>
            <a:ext cx="1234440" cy="292608"/>
          </a:xfrm>
          <a:prstGeom prst="rect">
            <a:avLst/>
          </a:prstGeom>
          <a:noFill/>
          <a:ln/>
        </p:spPr>
        <p:txBody>
          <a:bodyPr wrap="square" lIns="0" tIns="0" rIns="0" bIns="0" rtlCol="0" anchor="ctr">
            <a:normAutofit/>
          </a:bodyPr>
          <a:lstStyle/>
          <a:p>
            <a:pPr algn="l" indent="0" marL="0">
              <a:buNone/>
            </a:pPr>
            <a:r>
              <a:rPr lang="en-US" sz="950" b="1" dirty="0">
                <a:solidFill>
                  <a:srgbClr val="102A43"/>
                </a:solidFill>
                <a:latin typeface="Aptos" pitchFamily="34" charset="0"/>
                <a:ea typeface="Aptos" pitchFamily="34" charset="-122"/>
                <a:cs typeface="Aptos" pitchFamily="34" charset="-120"/>
              </a:rPr>
              <a:t>SmartCooler range</a:t>
            </a:r>
            <a:endParaRPr lang="en-US" sz="950" dirty="0"/>
          </a:p>
        </p:txBody>
      </p:sp>
      <p:sp>
        <p:nvSpPr>
          <p:cNvPr id="24" name="Shape 21"/>
          <p:cNvSpPr/>
          <p:nvPr/>
        </p:nvSpPr>
        <p:spPr>
          <a:xfrm>
            <a:off x="8549640" y="3319272"/>
            <a:ext cx="2578608" cy="786384"/>
          </a:xfrm>
          <a:prstGeom prst="roundRect">
            <a:avLst>
              <a:gd name="adj" fmla="val 9302"/>
            </a:avLst>
          </a:prstGeom>
          <a:solidFill>
            <a:srgbClr val="FFFFFF"/>
          </a:solidFill>
          <a:ln w="12700">
            <a:solidFill>
              <a:srgbClr val="D7E0E8"/>
            </a:solidFill>
            <a:prstDash val="solid"/>
          </a:ln>
        </p:spPr>
      </p:sp>
      <p:sp>
        <p:nvSpPr>
          <p:cNvPr id="25" name="Text 22"/>
          <p:cNvSpPr/>
          <p:nvPr/>
        </p:nvSpPr>
        <p:spPr>
          <a:xfrm>
            <a:off x="8659368" y="3410712"/>
            <a:ext cx="1097280" cy="320040"/>
          </a:xfrm>
          <a:prstGeom prst="rect">
            <a:avLst/>
          </a:prstGeom>
          <a:noFill/>
          <a:ln/>
        </p:spPr>
        <p:txBody>
          <a:bodyPr wrap="square" lIns="0" tIns="0" rIns="0" bIns="0" rtlCol="0" anchor="ctr">
            <a:normAutofit/>
          </a:bodyPr>
          <a:lstStyle/>
          <a:p>
            <a:pPr algn="l" indent="0" marL="0">
              <a:buNone/>
            </a:pPr>
            <a:r>
              <a:rPr lang="en-US" sz="2200" b="1" dirty="0">
                <a:solidFill>
                  <a:srgbClr val="1D8A70"/>
                </a:solidFill>
                <a:latin typeface="Aptos Display" pitchFamily="34" charset="0"/>
                <a:ea typeface="Aptos Display" pitchFamily="34" charset="-122"/>
                <a:cs typeface="Aptos Display" pitchFamily="34" charset="-120"/>
              </a:rPr>
              <a:t>10″</a:t>
            </a:r>
            <a:endParaRPr lang="en-US" sz="2200" dirty="0"/>
          </a:p>
        </p:txBody>
      </p:sp>
      <p:sp>
        <p:nvSpPr>
          <p:cNvPr id="26" name="Text 23"/>
          <p:cNvSpPr/>
          <p:nvPr/>
        </p:nvSpPr>
        <p:spPr>
          <a:xfrm>
            <a:off x="9710928" y="3483864"/>
            <a:ext cx="1234440" cy="292608"/>
          </a:xfrm>
          <a:prstGeom prst="rect">
            <a:avLst/>
          </a:prstGeom>
          <a:noFill/>
          <a:ln/>
        </p:spPr>
        <p:txBody>
          <a:bodyPr wrap="square" lIns="0" tIns="0" rIns="0" bIns="0" rtlCol="0" anchor="ctr">
            <a:normAutofit/>
          </a:bodyPr>
          <a:lstStyle/>
          <a:p>
            <a:pPr algn="l" indent="0" marL="0">
              <a:buNone/>
            </a:pPr>
            <a:r>
              <a:rPr lang="en-US" sz="950" b="1" dirty="0">
                <a:solidFill>
                  <a:srgbClr val="102A43"/>
                </a:solidFill>
                <a:latin typeface="Aptos" pitchFamily="34" charset="0"/>
                <a:ea typeface="Aptos" pitchFamily="34" charset="-122"/>
                <a:cs typeface="Aptos" pitchFamily="34" charset="-120"/>
              </a:rPr>
              <a:t>touchscreen interface</a:t>
            </a:r>
            <a:endParaRPr lang="en-US" sz="950" dirty="0"/>
          </a:p>
        </p:txBody>
      </p:sp>
      <p:sp>
        <p:nvSpPr>
          <p:cNvPr id="27" name="Shape 24"/>
          <p:cNvSpPr/>
          <p:nvPr/>
        </p:nvSpPr>
        <p:spPr>
          <a:xfrm>
            <a:off x="5623560" y="4498848"/>
            <a:ext cx="5486400" cy="0"/>
          </a:xfrm>
          <a:prstGeom prst="line">
            <a:avLst/>
          </a:prstGeom>
          <a:noFill/>
          <a:ln w="12700">
            <a:solidFill>
              <a:srgbClr val="D7E0E8"/>
            </a:solidFill>
            <a:prstDash val="solid"/>
          </a:ln>
        </p:spPr>
      </p:sp>
      <p:sp>
        <p:nvSpPr>
          <p:cNvPr id="28" name="Text 25"/>
          <p:cNvSpPr/>
          <p:nvPr/>
        </p:nvSpPr>
        <p:spPr>
          <a:xfrm>
            <a:off x="5623560" y="4736592"/>
            <a:ext cx="1280160" cy="201168"/>
          </a:xfrm>
          <a:prstGeom prst="rect">
            <a:avLst/>
          </a:prstGeom>
          <a:noFill/>
          <a:ln/>
        </p:spPr>
        <p:txBody>
          <a:bodyPr wrap="square" lIns="0" tIns="0" rIns="0" bIns="0" rtlCol="0" anchor="ctr">
            <a:normAutofit/>
          </a:bodyPr>
          <a:lstStyle/>
          <a:p>
            <a:pPr algn="l" indent="0" marL="0">
              <a:buNone/>
            </a:pPr>
            <a:r>
              <a:rPr lang="en-US" sz="1000" b="1" dirty="0">
                <a:solidFill>
                  <a:srgbClr val="6B7785"/>
                </a:solidFill>
                <a:latin typeface="Aptos" pitchFamily="34" charset="0"/>
                <a:ea typeface="Aptos" pitchFamily="34" charset="-122"/>
                <a:cs typeface="Aptos" pitchFamily="34" charset="-120"/>
              </a:rPr>
              <a:t>Sales translation</a:t>
            </a:r>
            <a:endParaRPr lang="en-US" sz="1000" dirty="0"/>
          </a:p>
        </p:txBody>
      </p:sp>
      <p:sp>
        <p:nvSpPr>
          <p:cNvPr id="29" name="Text 26"/>
          <p:cNvSpPr/>
          <p:nvPr/>
        </p:nvSpPr>
        <p:spPr>
          <a:xfrm>
            <a:off x="5623560" y="5029200"/>
            <a:ext cx="5532120" cy="658368"/>
          </a:xfrm>
          <a:prstGeom prst="rect">
            <a:avLst/>
          </a:prstGeom>
          <a:noFill/>
          <a:ln/>
        </p:spPr>
        <p:txBody>
          <a:bodyPr wrap="square" lIns="0" tIns="0" rIns="0" bIns="0" rtlCol="0" anchor="t">
            <a:normAutofit/>
          </a:bodyPr>
          <a:lstStyle/>
          <a:p>
            <a:pPr algn="l" indent="0" marL="0">
              <a:buNone/>
            </a:pPr>
            <a:r>
              <a:rPr lang="en-US" sz="1250" dirty="0">
                <a:solidFill>
                  <a:srgbClr val="203040"/>
                </a:solidFill>
                <a:latin typeface="Aptos" pitchFamily="34" charset="0"/>
                <a:ea typeface="Aptos" pitchFamily="34" charset="-122"/>
                <a:cs typeface="Aptos" pitchFamily="34" charset="-120"/>
              </a:rPr>
              <a:t>When a clinic sees acute pain, deeper targets or a need for differentiated care, HIRO TT gives the therapist a clear, premium story: high-intensity pulsed Nd:YAG plus localized cooling for comfort and control.</a:t>
            </a:r>
            <a:endParaRPr lang="en-US" sz="1250" dirty="0"/>
          </a:p>
        </p:txBody>
      </p:sp>
      <p:sp>
        <p:nvSpPr>
          <p:cNvPr id="25" name="Slide Number Placeholder 0"/>
          <p:cNvSpPr>
            <a:spLocks noGrp="1"/>
          </p:cNvSpPr>
          <p:nvPr>
            <p:ph type="sldNum" sz="quarter" idx="4294967295"/>
          </p:nvPr>
        </p:nvSpPr>
        <p:spPr>
          <a:xfrm>
            <a:off x="11841480" y="6492240"/>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785"/>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4389120" cy="201168"/>
          </a:xfrm>
          <a:prstGeom prst="rect">
            <a:avLst/>
          </a:prstGeom>
          <a:noFill/>
          <a:ln/>
        </p:spPr>
        <p:txBody>
          <a:bodyPr wrap="square" lIns="0" tIns="0" rIns="0" bIns="0" rtlCol="0" anchor="ctr">
            <a:normAutofit/>
          </a:bodyPr>
          <a:lstStyle/>
          <a:p>
            <a:pPr algn="l" indent="0" marL="0">
              <a:buNone/>
            </a:pPr>
            <a:r>
              <a:rPr lang="en-US" sz="950" b="1" dirty="0">
                <a:solidFill>
                  <a:srgbClr val="16B8C4"/>
                </a:solidFill>
                <a:latin typeface="Aptos" pitchFamily="34" charset="0"/>
                <a:ea typeface="Aptos" pitchFamily="34" charset="-122"/>
                <a:cs typeface="Aptos" pitchFamily="34" charset="-120"/>
              </a:rPr>
              <a:t>CLINICAL VALUE</a:t>
            </a:r>
            <a:endParaRPr lang="en-US" sz="950" dirty="0"/>
          </a:p>
        </p:txBody>
      </p:sp>
      <p:sp>
        <p:nvSpPr>
          <p:cNvPr id="3" name="Text 1"/>
          <p:cNvSpPr/>
          <p:nvPr/>
        </p:nvSpPr>
        <p:spPr>
          <a:xfrm>
            <a:off x="548640" y="658368"/>
            <a:ext cx="10789920" cy="512064"/>
          </a:xfrm>
          <a:prstGeom prst="rect">
            <a:avLst/>
          </a:prstGeom>
          <a:noFill/>
          <a:ln/>
        </p:spPr>
        <p:txBody>
          <a:bodyPr wrap="square" lIns="0" tIns="0" rIns="0" bIns="0" rtlCol="0" anchor="ctr">
            <a:normAutofit/>
          </a:bodyPr>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Different mechanisms, complementary patient benefits</a:t>
            </a:r>
            <a:endParaRPr lang="en-US" sz="2800" dirty="0"/>
          </a:p>
        </p:txBody>
      </p:sp>
      <p:sp>
        <p:nvSpPr>
          <p:cNvPr id="4" name="Text 2"/>
          <p:cNvSpPr/>
          <p:nvPr/>
        </p:nvSpPr>
        <p:spPr>
          <a:xfrm>
            <a:off x="548640" y="1207008"/>
            <a:ext cx="10515600" cy="292608"/>
          </a:xfrm>
          <a:prstGeom prst="rect">
            <a:avLst/>
          </a:prstGeom>
          <a:noFill/>
          <a:ln/>
        </p:spPr>
        <p:txBody>
          <a:bodyPr wrap="square" lIns="0" tIns="0" rIns="0" bIns="0" rtlCol="0" anchor="ctr">
            <a:normAutofit/>
          </a:bodyPr>
          <a:lstStyle/>
          <a:p>
            <a:pPr algn="l" indent="0" marL="0">
              <a:buNone/>
            </a:pPr>
            <a:r>
              <a:rPr lang="en-US" sz="1250" dirty="0">
                <a:solidFill>
                  <a:srgbClr val="6B7785"/>
                </a:solidFill>
                <a:latin typeface="Aptos" pitchFamily="34" charset="0"/>
                <a:ea typeface="Aptos" pitchFamily="34" charset="-122"/>
                <a:cs typeface="Aptos" pitchFamily="34" charset="-120"/>
              </a:rPr>
              <a:t>The strongest proposition is a continuum from comfort and preparation to deeper, targeted intervention.</a:t>
            </a:r>
            <a:endParaRPr lang="en-US" sz="1250" dirty="0"/>
          </a:p>
        </p:txBody>
      </p:sp>
      <p:sp>
        <p:nvSpPr>
          <p:cNvPr id="5" name="Text 3"/>
          <p:cNvSpPr/>
          <p:nvPr/>
        </p:nvSpPr>
        <p:spPr>
          <a:xfrm>
            <a:off x="658368" y="1828800"/>
            <a:ext cx="1920240" cy="201168"/>
          </a:xfrm>
          <a:prstGeom prst="rect">
            <a:avLst/>
          </a:prstGeom>
          <a:noFill/>
          <a:ln/>
        </p:spPr>
        <p:txBody>
          <a:bodyPr wrap="square" lIns="0" tIns="0" rIns="0" bIns="0" rtlCol="0" anchor="ctr">
            <a:normAutofit/>
          </a:bodyPr>
          <a:lstStyle/>
          <a:p>
            <a:pPr algn="l" indent="0" marL="0">
              <a:buNone/>
            </a:pPr>
            <a:r>
              <a:rPr lang="en-US" sz="900" b="1" dirty="0">
                <a:solidFill>
                  <a:srgbClr val="6B7785"/>
                </a:solidFill>
                <a:latin typeface="Aptos" pitchFamily="34" charset="0"/>
                <a:ea typeface="Aptos" pitchFamily="34" charset="-122"/>
                <a:cs typeface="Aptos" pitchFamily="34" charset="-120"/>
              </a:rPr>
              <a:t>PATIENT NEED</a:t>
            </a:r>
            <a:endParaRPr lang="en-US" sz="900" dirty="0"/>
          </a:p>
        </p:txBody>
      </p:sp>
      <p:sp>
        <p:nvSpPr>
          <p:cNvPr id="6" name="Text 4"/>
          <p:cNvSpPr/>
          <p:nvPr/>
        </p:nvSpPr>
        <p:spPr>
          <a:xfrm>
            <a:off x="3730752" y="1828800"/>
            <a:ext cx="1828800" cy="201168"/>
          </a:xfrm>
          <a:prstGeom prst="rect">
            <a:avLst/>
          </a:prstGeom>
          <a:noFill/>
          <a:ln/>
        </p:spPr>
        <p:txBody>
          <a:bodyPr wrap="square" lIns="0" tIns="0" rIns="0" bIns="0" rtlCol="0" anchor="ctr">
            <a:normAutofit/>
          </a:bodyPr>
          <a:lstStyle/>
          <a:p>
            <a:pPr algn="l" indent="0" marL="0">
              <a:buNone/>
            </a:pPr>
            <a:r>
              <a:rPr lang="en-US" sz="900" b="1" dirty="0">
                <a:solidFill>
                  <a:srgbClr val="16B8C4"/>
                </a:solidFill>
                <a:latin typeface="Aptos" pitchFamily="34" charset="0"/>
                <a:ea typeface="Aptos" pitchFamily="34" charset="-122"/>
                <a:cs typeface="Aptos" pitchFamily="34" charset="-120"/>
              </a:rPr>
              <a:t>CT9 ROLE</a:t>
            </a:r>
            <a:endParaRPr lang="en-US" sz="900" dirty="0"/>
          </a:p>
        </p:txBody>
      </p:sp>
      <p:sp>
        <p:nvSpPr>
          <p:cNvPr id="7" name="Text 5"/>
          <p:cNvSpPr/>
          <p:nvPr/>
        </p:nvSpPr>
        <p:spPr>
          <a:xfrm>
            <a:off x="6839712" y="1828800"/>
            <a:ext cx="1828800" cy="201168"/>
          </a:xfrm>
          <a:prstGeom prst="rect">
            <a:avLst/>
          </a:prstGeom>
          <a:noFill/>
          <a:ln/>
        </p:spPr>
        <p:txBody>
          <a:bodyPr wrap="square" lIns="0" tIns="0" rIns="0" bIns="0" rtlCol="0" anchor="ctr">
            <a:normAutofit/>
          </a:bodyPr>
          <a:lstStyle/>
          <a:p>
            <a:pPr algn="l" indent="0" marL="0">
              <a:buNone/>
            </a:pPr>
            <a:r>
              <a:rPr lang="en-US" sz="900" b="1" dirty="0">
                <a:solidFill>
                  <a:srgbClr val="F47C6C"/>
                </a:solidFill>
                <a:latin typeface="Aptos" pitchFamily="34" charset="0"/>
                <a:ea typeface="Aptos" pitchFamily="34" charset="-122"/>
                <a:cs typeface="Aptos" pitchFamily="34" charset="-120"/>
              </a:rPr>
              <a:t>HIRO TT ROLE</a:t>
            </a:r>
            <a:endParaRPr lang="en-US" sz="900" dirty="0"/>
          </a:p>
        </p:txBody>
      </p:sp>
      <p:sp>
        <p:nvSpPr>
          <p:cNvPr id="8" name="Text 6"/>
          <p:cNvSpPr/>
          <p:nvPr/>
        </p:nvSpPr>
        <p:spPr>
          <a:xfrm>
            <a:off x="9235440" y="1828800"/>
            <a:ext cx="2011680" cy="201168"/>
          </a:xfrm>
          <a:prstGeom prst="rect">
            <a:avLst/>
          </a:prstGeom>
          <a:noFill/>
          <a:ln/>
        </p:spPr>
        <p:txBody>
          <a:bodyPr wrap="square" lIns="0" tIns="0" rIns="0" bIns="0" rtlCol="0" anchor="ctr">
            <a:normAutofit/>
          </a:bodyPr>
          <a:lstStyle/>
          <a:p>
            <a:pPr algn="l" indent="0" marL="0">
              <a:buNone/>
            </a:pPr>
            <a:r>
              <a:rPr lang="en-US" sz="900" b="1" dirty="0">
                <a:solidFill>
                  <a:srgbClr val="6B7785"/>
                </a:solidFill>
                <a:latin typeface="Aptos" pitchFamily="34" charset="0"/>
                <a:ea typeface="Aptos" pitchFamily="34" charset="-122"/>
                <a:cs typeface="Aptos" pitchFamily="34" charset="-120"/>
              </a:rPr>
              <a:t>CUSTOMER-LEVEL OUTCOME</a:t>
            </a:r>
            <a:endParaRPr lang="en-US" sz="900" dirty="0"/>
          </a:p>
        </p:txBody>
      </p:sp>
      <p:sp>
        <p:nvSpPr>
          <p:cNvPr id="9" name="Shape 7"/>
          <p:cNvSpPr/>
          <p:nvPr/>
        </p:nvSpPr>
        <p:spPr>
          <a:xfrm>
            <a:off x="566928" y="2084832"/>
            <a:ext cx="11082528" cy="685800"/>
          </a:xfrm>
          <a:prstGeom prst="rect">
            <a:avLst/>
          </a:prstGeom>
          <a:solidFill>
            <a:srgbClr val="FFFFFF"/>
          </a:solidFill>
          <a:ln w="12700">
            <a:solidFill>
              <a:srgbClr val="FFFFFF"/>
            </a:solidFill>
            <a:prstDash val="solid"/>
          </a:ln>
        </p:spPr>
      </p:sp>
      <p:sp>
        <p:nvSpPr>
          <p:cNvPr id="10" name="Text 8"/>
          <p:cNvSpPr/>
          <p:nvPr/>
        </p:nvSpPr>
        <p:spPr>
          <a:xfrm>
            <a:off x="658368" y="2212848"/>
            <a:ext cx="2606040" cy="320040"/>
          </a:xfrm>
          <a:prstGeom prst="rect">
            <a:avLst/>
          </a:prstGeom>
          <a:noFill/>
          <a:ln/>
        </p:spPr>
        <p:txBody>
          <a:bodyPr wrap="square" lIns="0" tIns="0" rIns="0" bIns="0" rtlCol="0" anchor="ctr">
            <a:normAutofit/>
          </a:bodyPr>
          <a:lstStyle/>
          <a:p>
            <a:pPr algn="l" indent="0" marL="0">
              <a:buNone/>
            </a:pPr>
            <a:r>
              <a:rPr lang="en-US" sz="1250" b="1" dirty="0">
                <a:solidFill>
                  <a:srgbClr val="102A43"/>
                </a:solidFill>
                <a:latin typeface="Aptos" pitchFamily="34" charset="0"/>
                <a:ea typeface="Aptos" pitchFamily="34" charset="-122"/>
                <a:cs typeface="Aptos" pitchFamily="34" charset="-120"/>
              </a:rPr>
              <a:t>Pain and sensitivity</a:t>
            </a:r>
            <a:endParaRPr lang="en-US" sz="1250" dirty="0"/>
          </a:p>
        </p:txBody>
      </p:sp>
      <p:sp>
        <p:nvSpPr>
          <p:cNvPr id="11" name="Text 9"/>
          <p:cNvSpPr/>
          <p:nvPr/>
        </p:nvSpPr>
        <p:spPr>
          <a:xfrm>
            <a:off x="3730752" y="2185416"/>
            <a:ext cx="2578608" cy="402336"/>
          </a:xfrm>
          <a:prstGeom prst="rect">
            <a:avLst/>
          </a:prstGeom>
          <a:noFill/>
          <a:ln/>
        </p:spPr>
        <p:txBody>
          <a:bodyPr wrap="square" lIns="0" tIns="0" rIns="0" bIns="0" rtlCol="0" anchor="t">
            <a:normAutofit/>
          </a:bodyPr>
          <a:lstStyle/>
          <a:p>
            <a:pPr algn="l" indent="0" marL="0">
              <a:buNone/>
            </a:pPr>
            <a:r>
              <a:rPr lang="en-US" sz="1050" dirty="0">
                <a:solidFill>
                  <a:srgbClr val="203040"/>
                </a:solidFill>
                <a:latin typeface="Aptos" pitchFamily="34" charset="0"/>
                <a:ea typeface="Aptos" pitchFamily="34" charset="-122"/>
                <a:cs typeface="Aptos" pitchFamily="34" charset="-120"/>
              </a:rPr>
              <a:t>Gentle, adjustable thermal or subthermal support</a:t>
            </a:r>
            <a:endParaRPr lang="en-US" sz="1050" dirty="0"/>
          </a:p>
        </p:txBody>
      </p:sp>
      <p:sp>
        <p:nvSpPr>
          <p:cNvPr id="12" name="Text 10"/>
          <p:cNvSpPr/>
          <p:nvPr/>
        </p:nvSpPr>
        <p:spPr>
          <a:xfrm>
            <a:off x="6839712" y="2185416"/>
            <a:ext cx="2176272" cy="402336"/>
          </a:xfrm>
          <a:prstGeom prst="rect">
            <a:avLst/>
          </a:prstGeom>
          <a:noFill/>
          <a:ln/>
        </p:spPr>
        <p:txBody>
          <a:bodyPr wrap="square" lIns="0" tIns="0" rIns="0" bIns="0" rtlCol="0" anchor="t">
            <a:normAutofit/>
          </a:bodyPr>
          <a:lstStyle/>
          <a:p>
            <a:pPr algn="l" indent="0" marL="0">
              <a:buNone/>
            </a:pPr>
            <a:r>
              <a:rPr lang="en-US" sz="1050" dirty="0">
                <a:solidFill>
                  <a:srgbClr val="203040"/>
                </a:solidFill>
                <a:latin typeface="Aptos" pitchFamily="34" charset="0"/>
                <a:ea typeface="Aptos" pitchFamily="34" charset="-122"/>
                <a:cs typeface="Aptos" pitchFamily="34" charset="-120"/>
              </a:rPr>
              <a:t>High-intensity pulse with localized cooling</a:t>
            </a:r>
            <a:endParaRPr lang="en-US" sz="1050" dirty="0"/>
          </a:p>
        </p:txBody>
      </p:sp>
      <p:sp>
        <p:nvSpPr>
          <p:cNvPr id="13" name="Text 11"/>
          <p:cNvSpPr/>
          <p:nvPr/>
        </p:nvSpPr>
        <p:spPr>
          <a:xfrm>
            <a:off x="9235440" y="2185416"/>
            <a:ext cx="2148840" cy="402336"/>
          </a:xfrm>
          <a:prstGeom prst="rect">
            <a:avLst/>
          </a:prstGeom>
          <a:noFill/>
          <a:ln/>
        </p:spPr>
        <p:txBody>
          <a:bodyPr wrap="square" lIns="0" tIns="0" rIns="0" bIns="0" rtlCol="0" anchor="t">
            <a:normAutofit/>
          </a:bodyPr>
          <a:lstStyle/>
          <a:p>
            <a:pPr algn="l" indent="0" marL="0">
              <a:buNone/>
            </a:pPr>
            <a:r>
              <a:rPr lang="en-US" sz="1050" b="1" dirty="0">
                <a:solidFill>
                  <a:srgbClr val="102A43"/>
                </a:solidFill>
                <a:latin typeface="Aptos" pitchFamily="34" charset="0"/>
                <a:ea typeface="Aptos" pitchFamily="34" charset="-122"/>
                <a:cs typeface="Aptos" pitchFamily="34" charset="-120"/>
              </a:rPr>
              <a:t>A more comfortable start to treatment</a:t>
            </a:r>
            <a:endParaRPr lang="en-US" sz="1050" dirty="0"/>
          </a:p>
        </p:txBody>
      </p:sp>
      <p:sp>
        <p:nvSpPr>
          <p:cNvPr id="14" name="Shape 12"/>
          <p:cNvSpPr/>
          <p:nvPr/>
        </p:nvSpPr>
        <p:spPr>
          <a:xfrm>
            <a:off x="566928" y="2926080"/>
            <a:ext cx="11082528" cy="685800"/>
          </a:xfrm>
          <a:prstGeom prst="rect">
            <a:avLst/>
          </a:prstGeom>
          <a:solidFill>
            <a:srgbClr val="F8FAFC"/>
          </a:solidFill>
          <a:ln w="12700">
            <a:solidFill>
              <a:srgbClr val="F8FAFC"/>
            </a:solidFill>
            <a:prstDash val="solid"/>
          </a:ln>
        </p:spPr>
      </p:sp>
      <p:sp>
        <p:nvSpPr>
          <p:cNvPr id="15" name="Text 13"/>
          <p:cNvSpPr/>
          <p:nvPr/>
        </p:nvSpPr>
        <p:spPr>
          <a:xfrm>
            <a:off x="658368" y="3054096"/>
            <a:ext cx="2606040" cy="320040"/>
          </a:xfrm>
          <a:prstGeom prst="rect">
            <a:avLst/>
          </a:prstGeom>
          <a:noFill/>
          <a:ln/>
        </p:spPr>
        <p:txBody>
          <a:bodyPr wrap="square" lIns="0" tIns="0" rIns="0" bIns="0" rtlCol="0" anchor="ctr">
            <a:normAutofit/>
          </a:bodyPr>
          <a:lstStyle/>
          <a:p>
            <a:pPr algn="l" indent="0" marL="0">
              <a:buNone/>
            </a:pPr>
            <a:r>
              <a:rPr lang="en-US" sz="1250" b="1" dirty="0">
                <a:solidFill>
                  <a:srgbClr val="102A43"/>
                </a:solidFill>
                <a:latin typeface="Aptos" pitchFamily="34" charset="0"/>
                <a:ea typeface="Aptos" pitchFamily="34" charset="-122"/>
                <a:cs typeface="Aptos" pitchFamily="34" charset="-120"/>
              </a:rPr>
              <a:t>Acute injury / edema</a:t>
            </a:r>
            <a:endParaRPr lang="en-US" sz="1250" dirty="0"/>
          </a:p>
        </p:txBody>
      </p:sp>
      <p:sp>
        <p:nvSpPr>
          <p:cNvPr id="16" name="Text 14"/>
          <p:cNvSpPr/>
          <p:nvPr/>
        </p:nvSpPr>
        <p:spPr>
          <a:xfrm>
            <a:off x="3730752" y="3026664"/>
            <a:ext cx="2578608" cy="402336"/>
          </a:xfrm>
          <a:prstGeom prst="rect">
            <a:avLst/>
          </a:prstGeom>
          <a:noFill/>
          <a:ln/>
        </p:spPr>
        <p:txBody>
          <a:bodyPr wrap="square" lIns="0" tIns="0" rIns="0" bIns="0" rtlCol="0" anchor="t">
            <a:normAutofit/>
          </a:bodyPr>
          <a:lstStyle/>
          <a:p>
            <a:pPr algn="l" indent="0" marL="0">
              <a:buNone/>
            </a:pPr>
            <a:r>
              <a:rPr lang="en-US" sz="1050" dirty="0">
                <a:solidFill>
                  <a:srgbClr val="203040"/>
                </a:solidFill>
                <a:latin typeface="Aptos" pitchFamily="34" charset="0"/>
                <a:ea typeface="Aptos" pitchFamily="34" charset="-122"/>
                <a:cs typeface="Aptos" pitchFamily="34" charset="-120"/>
              </a:rPr>
              <a:t>Support circulation and tissue recovery</a:t>
            </a:r>
            <a:endParaRPr lang="en-US" sz="1050" dirty="0"/>
          </a:p>
        </p:txBody>
      </p:sp>
      <p:sp>
        <p:nvSpPr>
          <p:cNvPr id="17" name="Text 15"/>
          <p:cNvSpPr/>
          <p:nvPr/>
        </p:nvSpPr>
        <p:spPr>
          <a:xfrm>
            <a:off x="6839712" y="3026664"/>
            <a:ext cx="2176272" cy="402336"/>
          </a:xfrm>
          <a:prstGeom prst="rect">
            <a:avLst/>
          </a:prstGeom>
          <a:noFill/>
          <a:ln/>
        </p:spPr>
        <p:txBody>
          <a:bodyPr wrap="square" lIns="0" tIns="0" rIns="0" bIns="0" rtlCol="0" anchor="t">
            <a:normAutofit/>
          </a:bodyPr>
          <a:lstStyle/>
          <a:p>
            <a:pPr algn="l" indent="0" marL="0">
              <a:buNone/>
            </a:pPr>
            <a:r>
              <a:rPr lang="en-US" sz="1050" dirty="0">
                <a:solidFill>
                  <a:srgbClr val="203040"/>
                </a:solidFill>
                <a:latin typeface="Aptos" pitchFamily="34" charset="0"/>
                <a:ea typeface="Aptos" pitchFamily="34" charset="-122"/>
                <a:cs typeface="Aptos" pitchFamily="34" charset="-120"/>
              </a:rPr>
              <a:t>Immediate intervention with thermal exchange</a:t>
            </a:r>
            <a:endParaRPr lang="en-US" sz="1050" dirty="0"/>
          </a:p>
        </p:txBody>
      </p:sp>
      <p:sp>
        <p:nvSpPr>
          <p:cNvPr id="18" name="Text 16"/>
          <p:cNvSpPr/>
          <p:nvPr/>
        </p:nvSpPr>
        <p:spPr>
          <a:xfrm>
            <a:off x="9235440" y="3026664"/>
            <a:ext cx="2148840" cy="402336"/>
          </a:xfrm>
          <a:prstGeom prst="rect">
            <a:avLst/>
          </a:prstGeom>
          <a:noFill/>
          <a:ln/>
        </p:spPr>
        <p:txBody>
          <a:bodyPr wrap="square" lIns="0" tIns="0" rIns="0" bIns="0" rtlCol="0" anchor="t">
            <a:normAutofit/>
          </a:bodyPr>
          <a:lstStyle/>
          <a:p>
            <a:pPr algn="l" indent="0" marL="0">
              <a:buNone/>
            </a:pPr>
            <a:r>
              <a:rPr lang="en-US" sz="1050" b="1" dirty="0">
                <a:solidFill>
                  <a:srgbClr val="102A43"/>
                </a:solidFill>
                <a:latin typeface="Aptos" pitchFamily="34" charset="0"/>
                <a:ea typeface="Aptos" pitchFamily="34" charset="-122"/>
                <a:cs typeface="Aptos" pitchFamily="34" charset="-120"/>
              </a:rPr>
              <a:t>Earlier, more confident treatment</a:t>
            </a:r>
            <a:endParaRPr lang="en-US" sz="1050" dirty="0"/>
          </a:p>
        </p:txBody>
      </p:sp>
      <p:sp>
        <p:nvSpPr>
          <p:cNvPr id="19" name="Shape 17"/>
          <p:cNvSpPr/>
          <p:nvPr/>
        </p:nvSpPr>
        <p:spPr>
          <a:xfrm>
            <a:off x="566928" y="3767328"/>
            <a:ext cx="11082528" cy="685800"/>
          </a:xfrm>
          <a:prstGeom prst="rect">
            <a:avLst/>
          </a:prstGeom>
          <a:solidFill>
            <a:srgbClr val="FFFFFF"/>
          </a:solidFill>
          <a:ln w="12700">
            <a:solidFill>
              <a:srgbClr val="FFFFFF"/>
            </a:solidFill>
            <a:prstDash val="solid"/>
          </a:ln>
        </p:spPr>
      </p:sp>
      <p:sp>
        <p:nvSpPr>
          <p:cNvPr id="20" name="Text 18"/>
          <p:cNvSpPr/>
          <p:nvPr/>
        </p:nvSpPr>
        <p:spPr>
          <a:xfrm>
            <a:off x="658368" y="3895344"/>
            <a:ext cx="2606040" cy="320040"/>
          </a:xfrm>
          <a:prstGeom prst="rect">
            <a:avLst/>
          </a:prstGeom>
          <a:noFill/>
          <a:ln/>
        </p:spPr>
        <p:txBody>
          <a:bodyPr wrap="square" lIns="0" tIns="0" rIns="0" bIns="0" rtlCol="0" anchor="ctr">
            <a:normAutofit/>
          </a:bodyPr>
          <a:lstStyle/>
          <a:p>
            <a:pPr algn="l" indent="0" marL="0">
              <a:buNone/>
            </a:pPr>
            <a:r>
              <a:rPr lang="en-US" sz="1250" b="1" dirty="0">
                <a:solidFill>
                  <a:srgbClr val="102A43"/>
                </a:solidFill>
                <a:latin typeface="Aptos" pitchFamily="34" charset="0"/>
                <a:ea typeface="Aptos" pitchFamily="34" charset="-122"/>
                <a:cs typeface="Aptos" pitchFamily="34" charset="-120"/>
              </a:rPr>
              <a:t>Deep musculoskeletal target</a:t>
            </a:r>
            <a:endParaRPr lang="en-US" sz="1250" dirty="0"/>
          </a:p>
        </p:txBody>
      </p:sp>
      <p:sp>
        <p:nvSpPr>
          <p:cNvPr id="21" name="Text 19"/>
          <p:cNvSpPr/>
          <p:nvPr/>
        </p:nvSpPr>
        <p:spPr>
          <a:xfrm>
            <a:off x="3730752" y="3867912"/>
            <a:ext cx="2578608" cy="402336"/>
          </a:xfrm>
          <a:prstGeom prst="rect">
            <a:avLst/>
          </a:prstGeom>
          <a:noFill/>
          <a:ln/>
        </p:spPr>
        <p:txBody>
          <a:bodyPr wrap="square" lIns="0" tIns="0" rIns="0" bIns="0" rtlCol="0" anchor="t">
            <a:normAutofit/>
          </a:bodyPr>
          <a:lstStyle/>
          <a:p>
            <a:pPr algn="l" indent="0" marL="0">
              <a:buNone/>
            </a:pPr>
            <a:r>
              <a:rPr lang="en-US" sz="1050" dirty="0">
                <a:solidFill>
                  <a:srgbClr val="203040"/>
                </a:solidFill>
                <a:latin typeface="Aptos" pitchFamily="34" charset="0"/>
                <a:ea typeface="Aptos" pitchFamily="34" charset="-122"/>
                <a:cs typeface="Aptos" pitchFamily="34" charset="-120"/>
              </a:rPr>
              <a:t>Prepare tissue and integrate with manual care</a:t>
            </a:r>
            <a:endParaRPr lang="en-US" sz="1050" dirty="0"/>
          </a:p>
        </p:txBody>
      </p:sp>
      <p:sp>
        <p:nvSpPr>
          <p:cNvPr id="22" name="Text 20"/>
          <p:cNvSpPr/>
          <p:nvPr/>
        </p:nvSpPr>
        <p:spPr>
          <a:xfrm>
            <a:off x="6839712" y="3867912"/>
            <a:ext cx="2176272" cy="402336"/>
          </a:xfrm>
          <a:prstGeom prst="rect">
            <a:avLst/>
          </a:prstGeom>
          <a:noFill/>
          <a:ln/>
        </p:spPr>
        <p:txBody>
          <a:bodyPr wrap="square" lIns="0" tIns="0" rIns="0" bIns="0" rtlCol="0" anchor="t">
            <a:normAutofit/>
          </a:bodyPr>
          <a:lstStyle/>
          <a:p>
            <a:pPr algn="l" indent="0" marL="0">
              <a:buNone/>
            </a:pPr>
            <a:r>
              <a:rPr lang="en-US" sz="1050" dirty="0">
                <a:solidFill>
                  <a:srgbClr val="203040"/>
                </a:solidFill>
                <a:latin typeface="Aptos" pitchFamily="34" charset="0"/>
                <a:ea typeface="Aptos" pitchFamily="34" charset="-122"/>
                <a:cs typeface="Aptos" pitchFamily="34" charset="-120"/>
              </a:rPr>
              <a:t>Pulse delivery designed for depth</a:t>
            </a:r>
            <a:endParaRPr lang="en-US" sz="1050" dirty="0"/>
          </a:p>
        </p:txBody>
      </p:sp>
      <p:sp>
        <p:nvSpPr>
          <p:cNvPr id="23" name="Text 21"/>
          <p:cNvSpPr/>
          <p:nvPr/>
        </p:nvSpPr>
        <p:spPr>
          <a:xfrm>
            <a:off x="9235440" y="3867912"/>
            <a:ext cx="2148840" cy="402336"/>
          </a:xfrm>
          <a:prstGeom prst="rect">
            <a:avLst/>
          </a:prstGeom>
          <a:noFill/>
          <a:ln/>
        </p:spPr>
        <p:txBody>
          <a:bodyPr wrap="square" lIns="0" tIns="0" rIns="0" bIns="0" rtlCol="0" anchor="t">
            <a:normAutofit/>
          </a:bodyPr>
          <a:lstStyle/>
          <a:p>
            <a:pPr algn="l" indent="0" marL="0">
              <a:buNone/>
            </a:pPr>
            <a:r>
              <a:rPr lang="en-US" sz="1050" b="1" dirty="0">
                <a:solidFill>
                  <a:srgbClr val="102A43"/>
                </a:solidFill>
                <a:latin typeface="Aptos" pitchFamily="34" charset="0"/>
                <a:ea typeface="Aptos" pitchFamily="34" charset="-122"/>
                <a:cs typeface="Aptos" pitchFamily="34" charset="-120"/>
              </a:rPr>
              <a:t>More differentiated clinical offer</a:t>
            </a:r>
            <a:endParaRPr lang="en-US" sz="1050" dirty="0"/>
          </a:p>
        </p:txBody>
      </p:sp>
      <p:sp>
        <p:nvSpPr>
          <p:cNvPr id="24" name="Shape 22"/>
          <p:cNvSpPr/>
          <p:nvPr/>
        </p:nvSpPr>
        <p:spPr>
          <a:xfrm>
            <a:off x="566928" y="4608576"/>
            <a:ext cx="11082528" cy="685800"/>
          </a:xfrm>
          <a:prstGeom prst="rect">
            <a:avLst/>
          </a:prstGeom>
          <a:solidFill>
            <a:srgbClr val="F8FAFC"/>
          </a:solidFill>
          <a:ln w="12700">
            <a:solidFill>
              <a:srgbClr val="F8FAFC"/>
            </a:solidFill>
            <a:prstDash val="solid"/>
          </a:ln>
        </p:spPr>
      </p:sp>
      <p:sp>
        <p:nvSpPr>
          <p:cNvPr id="25" name="Text 23"/>
          <p:cNvSpPr/>
          <p:nvPr/>
        </p:nvSpPr>
        <p:spPr>
          <a:xfrm>
            <a:off x="658368" y="4736592"/>
            <a:ext cx="2606040" cy="320040"/>
          </a:xfrm>
          <a:prstGeom prst="rect">
            <a:avLst/>
          </a:prstGeom>
          <a:noFill/>
          <a:ln/>
        </p:spPr>
        <p:txBody>
          <a:bodyPr wrap="square" lIns="0" tIns="0" rIns="0" bIns="0" rtlCol="0" anchor="ctr">
            <a:normAutofit/>
          </a:bodyPr>
          <a:lstStyle/>
          <a:p>
            <a:pPr algn="l" indent="0" marL="0">
              <a:buNone/>
            </a:pPr>
            <a:r>
              <a:rPr lang="en-US" sz="1250" b="1" dirty="0">
                <a:solidFill>
                  <a:srgbClr val="102A43"/>
                </a:solidFill>
                <a:latin typeface="Aptos" pitchFamily="34" charset="0"/>
                <a:ea typeface="Aptos" pitchFamily="34" charset="-122"/>
                <a:cs typeface="Aptos" pitchFamily="34" charset="-120"/>
              </a:rPr>
              <a:t>Rehab progression</a:t>
            </a:r>
            <a:endParaRPr lang="en-US" sz="1250" dirty="0"/>
          </a:p>
        </p:txBody>
      </p:sp>
      <p:sp>
        <p:nvSpPr>
          <p:cNvPr id="26" name="Text 24"/>
          <p:cNvSpPr/>
          <p:nvPr/>
        </p:nvSpPr>
        <p:spPr>
          <a:xfrm>
            <a:off x="3730752" y="4709160"/>
            <a:ext cx="2578608" cy="402336"/>
          </a:xfrm>
          <a:prstGeom prst="rect">
            <a:avLst/>
          </a:prstGeom>
          <a:noFill/>
          <a:ln/>
        </p:spPr>
        <p:txBody>
          <a:bodyPr wrap="square" lIns="0" tIns="0" rIns="0" bIns="0" rtlCol="0" anchor="t">
            <a:normAutofit/>
          </a:bodyPr>
          <a:lstStyle/>
          <a:p>
            <a:pPr algn="l" indent="0" marL="0">
              <a:buNone/>
            </a:pPr>
            <a:r>
              <a:rPr lang="en-US" sz="1050" dirty="0">
                <a:solidFill>
                  <a:srgbClr val="203040"/>
                </a:solidFill>
                <a:latin typeface="Aptos" pitchFamily="34" charset="0"/>
                <a:ea typeface="Aptos" pitchFamily="34" charset="-122"/>
                <a:cs typeface="Aptos" pitchFamily="34" charset="-120"/>
              </a:rPr>
              <a:t>Pair treatment with movement and exercise</a:t>
            </a:r>
            <a:endParaRPr lang="en-US" sz="1050" dirty="0"/>
          </a:p>
        </p:txBody>
      </p:sp>
      <p:sp>
        <p:nvSpPr>
          <p:cNvPr id="27" name="Text 25"/>
          <p:cNvSpPr/>
          <p:nvPr/>
        </p:nvSpPr>
        <p:spPr>
          <a:xfrm>
            <a:off x="6839712" y="4709160"/>
            <a:ext cx="2176272" cy="402336"/>
          </a:xfrm>
          <a:prstGeom prst="rect">
            <a:avLst/>
          </a:prstGeom>
          <a:noFill/>
          <a:ln/>
        </p:spPr>
        <p:txBody>
          <a:bodyPr wrap="square" lIns="0" tIns="0" rIns="0" bIns="0" rtlCol="0" anchor="t">
            <a:normAutofit/>
          </a:bodyPr>
          <a:lstStyle/>
          <a:p>
            <a:pPr algn="l" indent="0" marL="0">
              <a:buNone/>
            </a:pPr>
            <a:r>
              <a:rPr lang="en-US" sz="1050" dirty="0">
                <a:solidFill>
                  <a:srgbClr val="203040"/>
                </a:solidFill>
                <a:latin typeface="Aptos" pitchFamily="34" charset="0"/>
                <a:ea typeface="Aptos" pitchFamily="34" charset="-122"/>
                <a:cs typeface="Aptos" pitchFamily="34" charset="-120"/>
              </a:rPr>
              <a:t>Target stubborn or chronic areas</a:t>
            </a:r>
            <a:endParaRPr lang="en-US" sz="1050" dirty="0"/>
          </a:p>
        </p:txBody>
      </p:sp>
      <p:sp>
        <p:nvSpPr>
          <p:cNvPr id="28" name="Text 26"/>
          <p:cNvSpPr/>
          <p:nvPr/>
        </p:nvSpPr>
        <p:spPr>
          <a:xfrm>
            <a:off x="9235440" y="4709160"/>
            <a:ext cx="2148840" cy="402336"/>
          </a:xfrm>
          <a:prstGeom prst="rect">
            <a:avLst/>
          </a:prstGeom>
          <a:noFill/>
          <a:ln/>
        </p:spPr>
        <p:txBody>
          <a:bodyPr wrap="square" lIns="0" tIns="0" rIns="0" bIns="0" rtlCol="0" anchor="t">
            <a:normAutofit/>
          </a:bodyPr>
          <a:lstStyle/>
          <a:p>
            <a:pPr algn="l" indent="0" marL="0">
              <a:buNone/>
            </a:pPr>
            <a:r>
              <a:rPr lang="en-US" sz="1050" b="1" dirty="0">
                <a:solidFill>
                  <a:srgbClr val="102A43"/>
                </a:solidFill>
                <a:latin typeface="Aptos" pitchFamily="34" charset="0"/>
                <a:ea typeface="Aptos" pitchFamily="34" charset="-122"/>
                <a:cs typeface="Aptos" pitchFamily="34" charset="-120"/>
              </a:rPr>
              <a:t>A coherent pathway, not a single session</a:t>
            </a:r>
            <a:endParaRPr lang="en-US" sz="1050" dirty="0"/>
          </a:p>
        </p:txBody>
      </p:sp>
      <p:sp>
        <p:nvSpPr>
          <p:cNvPr id="29" name="Shape 27"/>
          <p:cNvSpPr/>
          <p:nvPr/>
        </p:nvSpPr>
        <p:spPr>
          <a:xfrm>
            <a:off x="658368" y="5715000"/>
            <a:ext cx="10972800" cy="0"/>
          </a:xfrm>
          <a:prstGeom prst="line">
            <a:avLst/>
          </a:prstGeom>
          <a:noFill/>
          <a:ln w="15240">
            <a:solidFill>
              <a:srgbClr val="16B8C4"/>
            </a:solidFill>
            <a:prstDash val="solid"/>
          </a:ln>
        </p:spPr>
      </p:sp>
      <p:sp>
        <p:nvSpPr>
          <p:cNvPr id="30" name="Text 28"/>
          <p:cNvSpPr/>
          <p:nvPr/>
        </p:nvSpPr>
        <p:spPr>
          <a:xfrm>
            <a:off x="658368" y="5870448"/>
            <a:ext cx="10881360" cy="292608"/>
          </a:xfrm>
          <a:prstGeom prst="rect">
            <a:avLst/>
          </a:prstGeom>
          <a:noFill/>
          <a:ln/>
        </p:spPr>
        <p:txBody>
          <a:bodyPr wrap="square" lIns="0" tIns="0" rIns="0" bIns="0" rtlCol="0" anchor="ctr">
            <a:normAutofit/>
          </a:bodyPr>
          <a:lstStyle/>
          <a:p>
            <a:pPr algn="l" indent="0" marL="0">
              <a:buNone/>
            </a:pPr>
            <a:r>
              <a:rPr lang="en-US" sz="1350" b="1" dirty="0">
                <a:solidFill>
                  <a:srgbClr val="102A43"/>
                </a:solidFill>
                <a:latin typeface="Aptos" pitchFamily="34" charset="0"/>
                <a:ea typeface="Aptos" pitchFamily="34" charset="-122"/>
                <a:cs typeface="Aptos" pitchFamily="34" charset="-120"/>
              </a:rPr>
              <a:t>The sales point: clinical benefits become more persuasive when they are connected to a patient pathway and a repeatable service line.</a:t>
            </a:r>
            <a:endParaRPr lang="en-US" sz="1350" dirty="0"/>
          </a:p>
        </p:txBody>
      </p:sp>
      <p:sp>
        <p:nvSpPr>
          <p:cNvPr id="25" name="Slide Number Placeholder 0"/>
          <p:cNvSpPr>
            <a:spLocks noGrp="1"/>
          </p:cNvSpPr>
          <p:nvPr>
            <p:ph type="sldNum" sz="quarter" idx="4294967295"/>
          </p:nvPr>
        </p:nvSpPr>
        <p:spPr>
          <a:xfrm>
            <a:off x="11841480" y="6492240"/>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785"/>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4389120" cy="201168"/>
          </a:xfrm>
          <a:prstGeom prst="rect">
            <a:avLst/>
          </a:prstGeom>
          <a:noFill/>
          <a:ln/>
        </p:spPr>
        <p:txBody>
          <a:bodyPr wrap="square" lIns="0" tIns="0" rIns="0" bIns="0" rtlCol="0" anchor="ctr">
            <a:normAutofit/>
          </a:bodyPr>
          <a:lstStyle/>
          <a:p>
            <a:pPr algn="l" indent="0" marL="0">
              <a:buNone/>
            </a:pPr>
            <a:r>
              <a:rPr lang="en-US" sz="950" b="1" dirty="0">
                <a:solidFill>
                  <a:srgbClr val="16B8C4"/>
                </a:solidFill>
                <a:latin typeface="Aptos" pitchFamily="34" charset="0"/>
                <a:ea typeface="Aptos" pitchFamily="34" charset="-122"/>
                <a:cs typeface="Aptos" pitchFamily="34" charset="-120"/>
              </a:rPr>
              <a:t>TREATMENT FIT</a:t>
            </a:r>
            <a:endParaRPr lang="en-US" sz="950" dirty="0"/>
          </a:p>
        </p:txBody>
      </p:sp>
      <p:sp>
        <p:nvSpPr>
          <p:cNvPr id="3" name="Text 1"/>
          <p:cNvSpPr/>
          <p:nvPr/>
        </p:nvSpPr>
        <p:spPr>
          <a:xfrm>
            <a:off x="548640" y="658368"/>
            <a:ext cx="10789920" cy="512064"/>
          </a:xfrm>
          <a:prstGeom prst="rect">
            <a:avLst/>
          </a:prstGeom>
          <a:noFill/>
          <a:ln/>
        </p:spPr>
        <p:txBody>
          <a:bodyPr wrap="square" lIns="0" tIns="0" rIns="0" bIns="0" rtlCol="0" anchor="ctr">
            <a:normAutofit/>
          </a:bodyPr>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Where each platform wins in the conversation</a:t>
            </a:r>
            <a:endParaRPr lang="en-US" sz="2800" dirty="0"/>
          </a:p>
        </p:txBody>
      </p:sp>
      <p:sp>
        <p:nvSpPr>
          <p:cNvPr id="4" name="Text 2"/>
          <p:cNvSpPr/>
          <p:nvPr/>
        </p:nvSpPr>
        <p:spPr>
          <a:xfrm>
            <a:off x="548640" y="1207008"/>
            <a:ext cx="10515600" cy="292608"/>
          </a:xfrm>
          <a:prstGeom prst="rect">
            <a:avLst/>
          </a:prstGeom>
          <a:noFill/>
          <a:ln/>
        </p:spPr>
        <p:txBody>
          <a:bodyPr wrap="square" lIns="0" tIns="0" rIns="0" bIns="0" rtlCol="0" anchor="ctr">
            <a:normAutofit/>
          </a:bodyPr>
          <a:lstStyle/>
          <a:p>
            <a:pPr algn="l" indent="0" marL="0">
              <a:buNone/>
            </a:pPr>
            <a:r>
              <a:rPr lang="en-US" sz="1250" dirty="0">
                <a:solidFill>
                  <a:srgbClr val="6B7785"/>
                </a:solidFill>
                <a:latin typeface="Aptos" pitchFamily="34" charset="0"/>
                <a:ea typeface="Aptos" pitchFamily="34" charset="-122"/>
                <a:cs typeface="Aptos" pitchFamily="34" charset="-120"/>
              </a:rPr>
              <a:t>A confident Product Specialist knows when to recommend, when to combine and when to ask one more question.</a:t>
            </a:r>
            <a:endParaRPr lang="en-US" sz="1250" dirty="0"/>
          </a:p>
        </p:txBody>
      </p:sp>
      <p:sp>
        <p:nvSpPr>
          <p:cNvPr id="5" name="Shape 3"/>
          <p:cNvSpPr/>
          <p:nvPr/>
        </p:nvSpPr>
        <p:spPr>
          <a:xfrm>
            <a:off x="640080" y="1828800"/>
            <a:ext cx="5074920" cy="3611880"/>
          </a:xfrm>
          <a:prstGeom prst="roundRect">
            <a:avLst>
              <a:gd name="adj" fmla="val 2025"/>
            </a:avLst>
          </a:prstGeom>
          <a:solidFill>
            <a:srgbClr val="DFF5F6"/>
          </a:solidFill>
          <a:ln w="12700">
            <a:solidFill>
              <a:srgbClr val="B8E8EA"/>
            </a:solidFill>
            <a:prstDash val="solid"/>
          </a:ln>
        </p:spPr>
      </p:sp>
      <p:sp>
        <p:nvSpPr>
          <p:cNvPr id="6" name="Text 4"/>
          <p:cNvSpPr/>
          <p:nvPr/>
        </p:nvSpPr>
        <p:spPr>
          <a:xfrm>
            <a:off x="914400" y="2148840"/>
            <a:ext cx="4297680" cy="320040"/>
          </a:xfrm>
          <a:prstGeom prst="rect">
            <a:avLst/>
          </a:prstGeom>
          <a:noFill/>
          <a:ln/>
        </p:spPr>
        <p:txBody>
          <a:bodyPr wrap="square" lIns="0" tIns="0" rIns="0" bIns="0" rtlCol="0" anchor="ctr">
            <a:normAutofit/>
          </a:bodyPr>
          <a:lstStyle/>
          <a:p>
            <a:pPr algn="l" indent="0" marL="0">
              <a:buNone/>
            </a:pPr>
            <a:r>
              <a:rPr lang="en-US" sz="2200" b="1" dirty="0">
                <a:solidFill>
                  <a:srgbClr val="102A43"/>
                </a:solidFill>
                <a:latin typeface="Aptos Display" pitchFamily="34" charset="0"/>
                <a:ea typeface="Aptos Display" pitchFamily="34" charset="-122"/>
                <a:cs typeface="Aptos Display" pitchFamily="34" charset="-120"/>
              </a:rPr>
              <a:t>Recommend CT9 when…</a:t>
            </a:r>
            <a:endParaRPr lang="en-US" sz="2200" dirty="0"/>
          </a:p>
        </p:txBody>
      </p:sp>
      <p:sp>
        <p:nvSpPr>
          <p:cNvPr id="7" name="Shape 5"/>
          <p:cNvSpPr/>
          <p:nvPr/>
        </p:nvSpPr>
        <p:spPr>
          <a:xfrm>
            <a:off x="932688" y="2715768"/>
            <a:ext cx="384048" cy="384048"/>
          </a:xfrm>
          <a:prstGeom prst="ellipse">
            <a:avLst/>
          </a:prstGeom>
          <a:solidFill>
            <a:srgbClr val="16B8C4"/>
          </a:solidFill>
          <a:ln w="12700">
            <a:solidFill>
              <a:srgbClr val="16B8C4"/>
            </a:solidFill>
            <a:prstDash val="solid"/>
          </a:ln>
        </p:spPr>
      </p:sp>
      <p:sp>
        <p:nvSpPr>
          <p:cNvPr id="8" name="Text 6"/>
          <p:cNvSpPr/>
          <p:nvPr/>
        </p:nvSpPr>
        <p:spPr>
          <a:xfrm>
            <a:off x="932688" y="2724912"/>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0B1F33"/>
                </a:solidFill>
                <a:latin typeface="Aptos" pitchFamily="34" charset="0"/>
                <a:ea typeface="Aptos" pitchFamily="34" charset="-122"/>
                <a:cs typeface="Aptos" pitchFamily="34" charset="-120"/>
              </a:rPr>
              <a:t>✓</a:t>
            </a:r>
            <a:endParaRPr lang="en-US" sz="1600" dirty="0"/>
          </a:p>
        </p:txBody>
      </p:sp>
      <p:sp>
        <p:nvSpPr>
          <p:cNvPr id="9" name="Text 7"/>
          <p:cNvSpPr/>
          <p:nvPr/>
        </p:nvSpPr>
        <p:spPr>
          <a:xfrm>
            <a:off x="1444752" y="2734056"/>
            <a:ext cx="3794760" cy="301752"/>
          </a:xfrm>
          <a:prstGeom prst="rect">
            <a:avLst/>
          </a:prstGeom>
          <a:noFill/>
          <a:ln/>
        </p:spPr>
        <p:txBody>
          <a:bodyPr wrap="square" lIns="0" tIns="0" rIns="0" bIns="0" rtlCol="0" anchor="t">
            <a:normAutofit/>
          </a:bodyPr>
          <a:lstStyle/>
          <a:p>
            <a:pPr algn="l" indent="0" marL="0">
              <a:buNone/>
            </a:pPr>
            <a:r>
              <a:rPr lang="en-US" sz="1200" dirty="0">
                <a:solidFill>
                  <a:srgbClr val="203040"/>
                </a:solidFill>
                <a:latin typeface="Aptos" pitchFamily="34" charset="0"/>
                <a:ea typeface="Aptos" pitchFamily="34" charset="-122"/>
                <a:cs typeface="Aptos" pitchFamily="34" charset="-120"/>
              </a:rPr>
              <a:t>The clinic wants one versatile platform used by several therapists.</a:t>
            </a:r>
            <a:endParaRPr lang="en-US" sz="1200" dirty="0"/>
          </a:p>
        </p:txBody>
      </p:sp>
      <p:sp>
        <p:nvSpPr>
          <p:cNvPr id="10" name="Shape 8"/>
          <p:cNvSpPr/>
          <p:nvPr/>
        </p:nvSpPr>
        <p:spPr>
          <a:xfrm>
            <a:off x="932688" y="3282696"/>
            <a:ext cx="384048" cy="384048"/>
          </a:xfrm>
          <a:prstGeom prst="ellipse">
            <a:avLst/>
          </a:prstGeom>
          <a:solidFill>
            <a:srgbClr val="16B8C4"/>
          </a:solidFill>
          <a:ln w="12700">
            <a:solidFill>
              <a:srgbClr val="16B8C4"/>
            </a:solidFill>
            <a:prstDash val="solid"/>
          </a:ln>
        </p:spPr>
      </p:sp>
      <p:sp>
        <p:nvSpPr>
          <p:cNvPr id="11" name="Text 9"/>
          <p:cNvSpPr/>
          <p:nvPr/>
        </p:nvSpPr>
        <p:spPr>
          <a:xfrm>
            <a:off x="932688" y="3291840"/>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0B1F33"/>
                </a:solidFill>
                <a:latin typeface="Aptos" pitchFamily="34" charset="0"/>
                <a:ea typeface="Aptos" pitchFamily="34" charset="-122"/>
                <a:cs typeface="Aptos" pitchFamily="34" charset="-120"/>
              </a:rPr>
              <a:t>✓</a:t>
            </a:r>
            <a:endParaRPr lang="en-US" sz="1600" dirty="0"/>
          </a:p>
        </p:txBody>
      </p:sp>
      <p:sp>
        <p:nvSpPr>
          <p:cNvPr id="12" name="Text 10"/>
          <p:cNvSpPr/>
          <p:nvPr/>
        </p:nvSpPr>
        <p:spPr>
          <a:xfrm>
            <a:off x="1444752" y="3300984"/>
            <a:ext cx="3794760" cy="301752"/>
          </a:xfrm>
          <a:prstGeom prst="rect">
            <a:avLst/>
          </a:prstGeom>
          <a:noFill/>
          <a:ln/>
        </p:spPr>
        <p:txBody>
          <a:bodyPr wrap="square" lIns="0" tIns="0" rIns="0" bIns="0" rtlCol="0" anchor="t">
            <a:normAutofit/>
          </a:bodyPr>
          <a:lstStyle/>
          <a:p>
            <a:pPr algn="l" indent="0" marL="0">
              <a:buNone/>
            </a:pPr>
            <a:r>
              <a:rPr lang="en-US" sz="1200" dirty="0">
                <a:solidFill>
                  <a:srgbClr val="203040"/>
                </a:solidFill>
                <a:latin typeface="Aptos" pitchFamily="34" charset="0"/>
                <a:ea typeface="Aptos" pitchFamily="34" charset="-122"/>
                <a:cs typeface="Aptos" pitchFamily="34" charset="-120"/>
              </a:rPr>
              <a:t>The owner prioritizes daily utilization and multiple specialties.</a:t>
            </a:r>
            <a:endParaRPr lang="en-US" sz="1200" dirty="0"/>
          </a:p>
        </p:txBody>
      </p:sp>
      <p:sp>
        <p:nvSpPr>
          <p:cNvPr id="13" name="Shape 11"/>
          <p:cNvSpPr/>
          <p:nvPr/>
        </p:nvSpPr>
        <p:spPr>
          <a:xfrm>
            <a:off x="932688" y="3849624"/>
            <a:ext cx="384048" cy="384048"/>
          </a:xfrm>
          <a:prstGeom prst="ellipse">
            <a:avLst/>
          </a:prstGeom>
          <a:solidFill>
            <a:srgbClr val="16B8C4"/>
          </a:solidFill>
          <a:ln w="12700">
            <a:solidFill>
              <a:srgbClr val="16B8C4"/>
            </a:solidFill>
            <a:prstDash val="solid"/>
          </a:ln>
        </p:spPr>
      </p:sp>
      <p:sp>
        <p:nvSpPr>
          <p:cNvPr id="14" name="Text 12"/>
          <p:cNvSpPr/>
          <p:nvPr/>
        </p:nvSpPr>
        <p:spPr>
          <a:xfrm>
            <a:off x="932688" y="3858768"/>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0B1F33"/>
                </a:solidFill>
                <a:latin typeface="Aptos" pitchFamily="34" charset="0"/>
                <a:ea typeface="Aptos" pitchFamily="34" charset="-122"/>
                <a:cs typeface="Aptos" pitchFamily="34" charset="-120"/>
              </a:rPr>
              <a:t>✓</a:t>
            </a:r>
            <a:endParaRPr lang="en-US" sz="1600" dirty="0"/>
          </a:p>
        </p:txBody>
      </p:sp>
      <p:sp>
        <p:nvSpPr>
          <p:cNvPr id="15" name="Text 13"/>
          <p:cNvSpPr/>
          <p:nvPr/>
        </p:nvSpPr>
        <p:spPr>
          <a:xfrm>
            <a:off x="1444752" y="3867912"/>
            <a:ext cx="3794760" cy="301752"/>
          </a:xfrm>
          <a:prstGeom prst="rect">
            <a:avLst/>
          </a:prstGeom>
          <a:noFill/>
          <a:ln/>
        </p:spPr>
        <p:txBody>
          <a:bodyPr wrap="square" lIns="0" tIns="0" rIns="0" bIns="0" rtlCol="0" anchor="t">
            <a:normAutofit/>
          </a:bodyPr>
          <a:lstStyle/>
          <a:p>
            <a:pPr algn="l" indent="0" marL="0">
              <a:buNone/>
            </a:pPr>
            <a:r>
              <a:rPr lang="en-US" sz="1200" dirty="0">
                <a:solidFill>
                  <a:srgbClr val="203040"/>
                </a:solidFill>
                <a:latin typeface="Aptos" pitchFamily="34" charset="0"/>
                <a:ea typeface="Aptos" pitchFamily="34" charset="-122"/>
                <a:cs typeface="Aptos" pitchFamily="34" charset="-120"/>
              </a:rPr>
              <a:t>The team already combines modalities with manual therapy or exercise.</a:t>
            </a:r>
            <a:endParaRPr lang="en-US" sz="1200" dirty="0"/>
          </a:p>
        </p:txBody>
      </p:sp>
      <p:sp>
        <p:nvSpPr>
          <p:cNvPr id="16" name="Shape 14"/>
          <p:cNvSpPr/>
          <p:nvPr/>
        </p:nvSpPr>
        <p:spPr>
          <a:xfrm>
            <a:off x="932688" y="4416552"/>
            <a:ext cx="384048" cy="384048"/>
          </a:xfrm>
          <a:prstGeom prst="ellipse">
            <a:avLst/>
          </a:prstGeom>
          <a:solidFill>
            <a:srgbClr val="16B8C4"/>
          </a:solidFill>
          <a:ln w="12700">
            <a:solidFill>
              <a:srgbClr val="16B8C4"/>
            </a:solidFill>
            <a:prstDash val="solid"/>
          </a:ln>
        </p:spPr>
      </p:sp>
      <p:sp>
        <p:nvSpPr>
          <p:cNvPr id="17" name="Text 15"/>
          <p:cNvSpPr/>
          <p:nvPr/>
        </p:nvSpPr>
        <p:spPr>
          <a:xfrm>
            <a:off x="932688" y="4425696"/>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0B1F33"/>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444752" y="4434840"/>
            <a:ext cx="3794760" cy="301752"/>
          </a:xfrm>
          <a:prstGeom prst="rect">
            <a:avLst/>
          </a:prstGeom>
          <a:noFill/>
          <a:ln/>
        </p:spPr>
        <p:txBody>
          <a:bodyPr wrap="square" lIns="0" tIns="0" rIns="0" bIns="0" rtlCol="0" anchor="t">
            <a:normAutofit/>
          </a:bodyPr>
          <a:lstStyle/>
          <a:p>
            <a:pPr algn="l" indent="0" marL="0">
              <a:buNone/>
            </a:pPr>
            <a:r>
              <a:rPr lang="en-US" sz="1200" dirty="0">
                <a:solidFill>
                  <a:srgbClr val="203040"/>
                </a:solidFill>
                <a:latin typeface="Aptos" pitchFamily="34" charset="0"/>
                <a:ea typeface="Aptos" pitchFamily="34" charset="-122"/>
                <a:cs typeface="Aptos" pitchFamily="34" charset="-120"/>
              </a:rPr>
              <a:t>Patient comfort, workflow simplicity and broad adoption are central.</a:t>
            </a:r>
            <a:endParaRPr lang="en-US" sz="1200" dirty="0"/>
          </a:p>
        </p:txBody>
      </p:sp>
      <p:sp>
        <p:nvSpPr>
          <p:cNvPr id="19" name="Shape 17"/>
          <p:cNvSpPr/>
          <p:nvPr/>
        </p:nvSpPr>
        <p:spPr>
          <a:xfrm>
            <a:off x="6446520" y="1828800"/>
            <a:ext cx="5074920" cy="3611880"/>
          </a:xfrm>
          <a:prstGeom prst="roundRect">
            <a:avLst>
              <a:gd name="adj" fmla="val 2025"/>
            </a:avLst>
          </a:prstGeom>
          <a:solidFill>
            <a:srgbClr val="FFF1ED"/>
          </a:solidFill>
          <a:ln w="12700">
            <a:solidFill>
              <a:srgbClr val="F6CFC7"/>
            </a:solidFill>
            <a:prstDash val="solid"/>
          </a:ln>
        </p:spPr>
      </p:sp>
      <p:sp>
        <p:nvSpPr>
          <p:cNvPr id="20" name="Text 18"/>
          <p:cNvSpPr/>
          <p:nvPr/>
        </p:nvSpPr>
        <p:spPr>
          <a:xfrm>
            <a:off x="6720840" y="2148840"/>
            <a:ext cx="4297680" cy="320040"/>
          </a:xfrm>
          <a:prstGeom prst="rect">
            <a:avLst/>
          </a:prstGeom>
          <a:noFill/>
          <a:ln/>
        </p:spPr>
        <p:txBody>
          <a:bodyPr wrap="square" lIns="0" tIns="0" rIns="0" bIns="0" rtlCol="0" anchor="ctr">
            <a:normAutofit/>
          </a:bodyPr>
          <a:lstStyle/>
          <a:p>
            <a:pPr algn="l" indent="0" marL="0">
              <a:buNone/>
            </a:pPr>
            <a:r>
              <a:rPr lang="en-US" sz="2200" b="1" dirty="0">
                <a:solidFill>
                  <a:srgbClr val="102A43"/>
                </a:solidFill>
                <a:latin typeface="Aptos Display" pitchFamily="34" charset="0"/>
                <a:ea typeface="Aptos Display" pitchFamily="34" charset="-122"/>
                <a:cs typeface="Aptos Display" pitchFamily="34" charset="-120"/>
              </a:rPr>
              <a:t>Recommend HIRO TT when…</a:t>
            </a:r>
            <a:endParaRPr lang="en-US" sz="2200" dirty="0"/>
          </a:p>
        </p:txBody>
      </p:sp>
      <p:sp>
        <p:nvSpPr>
          <p:cNvPr id="21" name="Shape 19"/>
          <p:cNvSpPr/>
          <p:nvPr/>
        </p:nvSpPr>
        <p:spPr>
          <a:xfrm>
            <a:off x="6739128" y="2715768"/>
            <a:ext cx="384048" cy="384048"/>
          </a:xfrm>
          <a:prstGeom prst="ellipse">
            <a:avLst/>
          </a:prstGeom>
          <a:solidFill>
            <a:srgbClr val="F47C6C"/>
          </a:solidFill>
          <a:ln w="12700">
            <a:solidFill>
              <a:srgbClr val="F47C6C"/>
            </a:solidFill>
            <a:prstDash val="solid"/>
          </a:ln>
        </p:spPr>
      </p:sp>
      <p:sp>
        <p:nvSpPr>
          <p:cNvPr id="22" name="Text 20"/>
          <p:cNvSpPr/>
          <p:nvPr/>
        </p:nvSpPr>
        <p:spPr>
          <a:xfrm>
            <a:off x="6739128" y="2724912"/>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7251192" y="2734056"/>
            <a:ext cx="3794760" cy="301752"/>
          </a:xfrm>
          <a:prstGeom prst="rect">
            <a:avLst/>
          </a:prstGeom>
          <a:noFill/>
          <a:ln/>
        </p:spPr>
        <p:txBody>
          <a:bodyPr wrap="square" lIns="0" tIns="0" rIns="0" bIns="0" rtlCol="0" anchor="t">
            <a:normAutofit/>
          </a:bodyPr>
          <a:lstStyle/>
          <a:p>
            <a:pPr algn="l" indent="0" marL="0">
              <a:buNone/>
            </a:pPr>
            <a:r>
              <a:rPr lang="en-US" sz="1200" dirty="0">
                <a:solidFill>
                  <a:srgbClr val="203040"/>
                </a:solidFill>
                <a:latin typeface="Aptos" pitchFamily="34" charset="0"/>
                <a:ea typeface="Aptos" pitchFamily="34" charset="-122"/>
                <a:cs typeface="Aptos" pitchFamily="34" charset="-120"/>
              </a:rPr>
              <a:t>The clinic sees acute pain, deep targets or demanding sports cases.</a:t>
            </a:r>
            <a:endParaRPr lang="en-US" sz="1200" dirty="0"/>
          </a:p>
        </p:txBody>
      </p:sp>
      <p:sp>
        <p:nvSpPr>
          <p:cNvPr id="24" name="Shape 22"/>
          <p:cNvSpPr/>
          <p:nvPr/>
        </p:nvSpPr>
        <p:spPr>
          <a:xfrm>
            <a:off x="6739128" y="3282696"/>
            <a:ext cx="384048" cy="384048"/>
          </a:xfrm>
          <a:prstGeom prst="ellipse">
            <a:avLst/>
          </a:prstGeom>
          <a:solidFill>
            <a:srgbClr val="F47C6C"/>
          </a:solidFill>
          <a:ln w="12700">
            <a:solidFill>
              <a:srgbClr val="F47C6C"/>
            </a:solidFill>
            <a:prstDash val="solid"/>
          </a:ln>
        </p:spPr>
      </p:sp>
      <p:sp>
        <p:nvSpPr>
          <p:cNvPr id="25" name="Text 23"/>
          <p:cNvSpPr/>
          <p:nvPr/>
        </p:nvSpPr>
        <p:spPr>
          <a:xfrm>
            <a:off x="6739128" y="3291840"/>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a:t>
            </a:r>
            <a:endParaRPr lang="en-US" sz="1600" dirty="0"/>
          </a:p>
        </p:txBody>
      </p:sp>
      <p:sp>
        <p:nvSpPr>
          <p:cNvPr id="26" name="Text 24"/>
          <p:cNvSpPr/>
          <p:nvPr/>
        </p:nvSpPr>
        <p:spPr>
          <a:xfrm>
            <a:off x="7251192" y="3300984"/>
            <a:ext cx="3794760" cy="301752"/>
          </a:xfrm>
          <a:prstGeom prst="rect">
            <a:avLst/>
          </a:prstGeom>
          <a:noFill/>
          <a:ln/>
        </p:spPr>
        <p:txBody>
          <a:bodyPr wrap="square" lIns="0" tIns="0" rIns="0" bIns="0" rtlCol="0" anchor="t">
            <a:normAutofit/>
          </a:bodyPr>
          <a:lstStyle/>
          <a:p>
            <a:pPr algn="l" indent="0" marL="0">
              <a:buNone/>
            </a:pPr>
            <a:r>
              <a:rPr lang="en-US" sz="1200" dirty="0">
                <a:solidFill>
                  <a:srgbClr val="203040"/>
                </a:solidFill>
                <a:latin typeface="Aptos" pitchFamily="34" charset="0"/>
                <a:ea typeface="Aptos" pitchFamily="34" charset="-122"/>
                <a:cs typeface="Aptos" pitchFamily="34" charset="-120"/>
              </a:rPr>
              <a:t>The team wants a premium, clearly differentiated intervention.</a:t>
            </a:r>
            <a:endParaRPr lang="en-US" sz="1200" dirty="0"/>
          </a:p>
        </p:txBody>
      </p:sp>
      <p:sp>
        <p:nvSpPr>
          <p:cNvPr id="27" name="Shape 25"/>
          <p:cNvSpPr/>
          <p:nvPr/>
        </p:nvSpPr>
        <p:spPr>
          <a:xfrm>
            <a:off x="6739128" y="3849624"/>
            <a:ext cx="384048" cy="384048"/>
          </a:xfrm>
          <a:prstGeom prst="ellipse">
            <a:avLst/>
          </a:prstGeom>
          <a:solidFill>
            <a:srgbClr val="F47C6C"/>
          </a:solidFill>
          <a:ln w="12700">
            <a:solidFill>
              <a:srgbClr val="F47C6C"/>
            </a:solidFill>
            <a:prstDash val="solid"/>
          </a:ln>
        </p:spPr>
      </p:sp>
      <p:sp>
        <p:nvSpPr>
          <p:cNvPr id="28" name="Text 26"/>
          <p:cNvSpPr/>
          <p:nvPr/>
        </p:nvSpPr>
        <p:spPr>
          <a:xfrm>
            <a:off x="6739128" y="3858768"/>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a:t>
            </a:r>
            <a:endParaRPr lang="en-US" sz="1600" dirty="0"/>
          </a:p>
        </p:txBody>
      </p:sp>
      <p:sp>
        <p:nvSpPr>
          <p:cNvPr id="29" name="Text 27"/>
          <p:cNvSpPr/>
          <p:nvPr/>
        </p:nvSpPr>
        <p:spPr>
          <a:xfrm>
            <a:off x="7251192" y="3867912"/>
            <a:ext cx="3794760" cy="301752"/>
          </a:xfrm>
          <a:prstGeom prst="rect">
            <a:avLst/>
          </a:prstGeom>
          <a:noFill/>
          <a:ln/>
        </p:spPr>
        <p:txBody>
          <a:bodyPr wrap="square" lIns="0" tIns="0" rIns="0" bIns="0" rtlCol="0" anchor="t">
            <a:normAutofit/>
          </a:bodyPr>
          <a:lstStyle/>
          <a:p>
            <a:pPr algn="l" indent="0" marL="0">
              <a:buNone/>
            </a:pPr>
            <a:r>
              <a:rPr lang="en-US" sz="1200" dirty="0">
                <a:solidFill>
                  <a:srgbClr val="203040"/>
                </a:solidFill>
                <a:latin typeface="Aptos" pitchFamily="34" charset="0"/>
                <a:ea typeface="Aptos" pitchFamily="34" charset="-122"/>
                <a:cs typeface="Aptos" pitchFamily="34" charset="-120"/>
              </a:rPr>
              <a:t>The clinician values intensity with an added comfort strategy.</a:t>
            </a:r>
            <a:endParaRPr lang="en-US" sz="1200" dirty="0"/>
          </a:p>
        </p:txBody>
      </p:sp>
      <p:sp>
        <p:nvSpPr>
          <p:cNvPr id="30" name="Shape 28"/>
          <p:cNvSpPr/>
          <p:nvPr/>
        </p:nvSpPr>
        <p:spPr>
          <a:xfrm>
            <a:off x="6739128" y="4416552"/>
            <a:ext cx="384048" cy="384048"/>
          </a:xfrm>
          <a:prstGeom prst="ellipse">
            <a:avLst/>
          </a:prstGeom>
          <a:solidFill>
            <a:srgbClr val="F47C6C"/>
          </a:solidFill>
          <a:ln w="12700">
            <a:solidFill>
              <a:srgbClr val="F47C6C"/>
            </a:solidFill>
            <a:prstDash val="solid"/>
          </a:ln>
        </p:spPr>
      </p:sp>
      <p:sp>
        <p:nvSpPr>
          <p:cNvPr id="31" name="Text 29"/>
          <p:cNvSpPr/>
          <p:nvPr/>
        </p:nvSpPr>
        <p:spPr>
          <a:xfrm>
            <a:off x="6739128" y="4425696"/>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a:t>
            </a:r>
            <a:endParaRPr lang="en-US" sz="1600" dirty="0"/>
          </a:p>
        </p:txBody>
      </p:sp>
      <p:sp>
        <p:nvSpPr>
          <p:cNvPr id="32" name="Text 30"/>
          <p:cNvSpPr/>
          <p:nvPr/>
        </p:nvSpPr>
        <p:spPr>
          <a:xfrm>
            <a:off x="7251192" y="4434840"/>
            <a:ext cx="3794760" cy="301752"/>
          </a:xfrm>
          <a:prstGeom prst="rect">
            <a:avLst/>
          </a:prstGeom>
          <a:noFill/>
          <a:ln/>
        </p:spPr>
        <p:txBody>
          <a:bodyPr wrap="square" lIns="0" tIns="0" rIns="0" bIns="0" rtlCol="0" anchor="t">
            <a:normAutofit/>
          </a:bodyPr>
          <a:lstStyle/>
          <a:p>
            <a:pPr algn="l" indent="0" marL="0">
              <a:buNone/>
            </a:pPr>
            <a:r>
              <a:rPr lang="en-US" sz="1200" dirty="0">
                <a:solidFill>
                  <a:srgbClr val="203040"/>
                </a:solidFill>
                <a:latin typeface="Aptos" pitchFamily="34" charset="0"/>
                <a:ea typeface="Aptos" pitchFamily="34" charset="-122"/>
                <a:cs typeface="Aptos" pitchFamily="34" charset="-120"/>
              </a:rPr>
              <a:t>The business model supports a focused, higher-value service line.</a:t>
            </a:r>
            <a:endParaRPr lang="en-US" sz="1200" dirty="0"/>
          </a:p>
        </p:txBody>
      </p:sp>
      <p:sp>
        <p:nvSpPr>
          <p:cNvPr id="33" name="Shape 31"/>
          <p:cNvSpPr/>
          <p:nvPr/>
        </p:nvSpPr>
        <p:spPr>
          <a:xfrm>
            <a:off x="1901952" y="5669280"/>
            <a:ext cx="8366760" cy="530352"/>
          </a:xfrm>
          <a:prstGeom prst="roundRect">
            <a:avLst>
              <a:gd name="adj" fmla="val 13793"/>
            </a:avLst>
          </a:prstGeom>
          <a:solidFill>
            <a:srgbClr val="102A43"/>
          </a:solidFill>
          <a:ln w="12700">
            <a:solidFill>
              <a:srgbClr val="102A43"/>
            </a:solidFill>
            <a:prstDash val="solid"/>
          </a:ln>
        </p:spPr>
      </p:sp>
      <p:sp>
        <p:nvSpPr>
          <p:cNvPr id="34" name="Text 32"/>
          <p:cNvSpPr/>
          <p:nvPr/>
        </p:nvSpPr>
        <p:spPr>
          <a:xfrm>
            <a:off x="2121408" y="5797296"/>
            <a:ext cx="7909560" cy="201168"/>
          </a:xfrm>
          <a:prstGeom prst="rect">
            <a:avLst/>
          </a:prstGeom>
          <a:noFill/>
          <a:ln/>
        </p:spPr>
        <p:txBody>
          <a:bodyPr wrap="square" lIns="0" tIns="0" rIns="0" bIns="0" rtlCol="0" anchor="ctr">
            <a:normAutofit/>
          </a:bodyPr>
          <a:lstStyle/>
          <a:p>
            <a:pPr algn="ctr" indent="0" marL="0">
              <a:buNone/>
            </a:pPr>
            <a:r>
              <a:rPr lang="en-US" sz="1350" b="1" dirty="0">
                <a:solidFill>
                  <a:srgbClr val="FFFFFF"/>
                </a:solidFill>
                <a:latin typeface="Aptos" pitchFamily="34" charset="0"/>
                <a:ea typeface="Aptos" pitchFamily="34" charset="-122"/>
                <a:cs typeface="Aptos" pitchFamily="34" charset="-120"/>
              </a:rPr>
              <a:t>Best discovery question: “Which patient group do you most want to treat better or more profitably over the next 12 months?”</a:t>
            </a:r>
            <a:endParaRPr lang="en-US" sz="1350" dirty="0"/>
          </a:p>
        </p:txBody>
      </p:sp>
      <p:sp>
        <p:nvSpPr>
          <p:cNvPr id="25" name="Slide Number Placeholder 0"/>
          <p:cNvSpPr>
            <a:spLocks noGrp="1"/>
          </p:cNvSpPr>
          <p:nvPr>
            <p:ph type="sldNum" sz="quarter" idx="4294967295"/>
          </p:nvPr>
        </p:nvSpPr>
        <p:spPr>
          <a:xfrm>
            <a:off x="11841480" y="6492240"/>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785"/>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4389120" cy="201168"/>
          </a:xfrm>
          <a:prstGeom prst="rect">
            <a:avLst/>
          </a:prstGeom>
          <a:noFill/>
          <a:ln/>
        </p:spPr>
        <p:txBody>
          <a:bodyPr wrap="square" lIns="0" tIns="0" rIns="0" bIns="0" rtlCol="0" anchor="ctr">
            <a:normAutofit/>
          </a:bodyPr>
          <a:lstStyle/>
          <a:p>
            <a:pPr algn="l" indent="0" marL="0">
              <a:buNone/>
            </a:pPr>
            <a:r>
              <a:rPr lang="en-US" sz="950" b="1" dirty="0">
                <a:solidFill>
                  <a:srgbClr val="16B8C4"/>
                </a:solidFill>
                <a:latin typeface="Aptos" pitchFamily="34" charset="0"/>
                <a:ea typeface="Aptos" pitchFamily="34" charset="-122"/>
                <a:cs typeface="Aptos" pitchFamily="34" charset="-120"/>
              </a:rPr>
              <a:t>COMPARISON</a:t>
            </a:r>
            <a:endParaRPr lang="en-US" sz="950" dirty="0"/>
          </a:p>
        </p:txBody>
      </p:sp>
      <p:sp>
        <p:nvSpPr>
          <p:cNvPr id="3" name="Text 1"/>
          <p:cNvSpPr/>
          <p:nvPr/>
        </p:nvSpPr>
        <p:spPr>
          <a:xfrm>
            <a:off x="548640" y="658368"/>
            <a:ext cx="10789920" cy="512064"/>
          </a:xfrm>
          <a:prstGeom prst="rect">
            <a:avLst/>
          </a:prstGeom>
          <a:noFill/>
          <a:ln/>
        </p:spPr>
        <p:txBody>
          <a:bodyPr wrap="square" lIns="0" tIns="0" rIns="0" bIns="0" rtlCol="0" anchor="ctr">
            <a:normAutofit/>
          </a:bodyPr>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Side-by-side: two technologies, two buying cases</a:t>
            </a:r>
            <a:endParaRPr lang="en-US" sz="2800" dirty="0"/>
          </a:p>
        </p:txBody>
      </p:sp>
      <p:sp>
        <p:nvSpPr>
          <p:cNvPr id="4" name="Text 2"/>
          <p:cNvSpPr/>
          <p:nvPr/>
        </p:nvSpPr>
        <p:spPr>
          <a:xfrm>
            <a:off x="548640" y="1207008"/>
            <a:ext cx="10515600" cy="292608"/>
          </a:xfrm>
          <a:prstGeom prst="rect">
            <a:avLst/>
          </a:prstGeom>
          <a:noFill/>
          <a:ln/>
        </p:spPr>
        <p:txBody>
          <a:bodyPr wrap="square" lIns="0" tIns="0" rIns="0" bIns="0" rtlCol="0" anchor="ctr">
            <a:normAutofit/>
          </a:bodyPr>
          <a:lstStyle/>
          <a:p>
            <a:pPr algn="l" indent="0" marL="0">
              <a:buNone/>
            </a:pPr>
            <a:r>
              <a:rPr lang="en-US" sz="1250" dirty="0">
                <a:solidFill>
                  <a:srgbClr val="6B7785"/>
                </a:solidFill>
                <a:latin typeface="Aptos" pitchFamily="34" charset="0"/>
                <a:ea typeface="Aptos" pitchFamily="34" charset="-122"/>
                <a:cs typeface="Aptos" pitchFamily="34" charset="-120"/>
              </a:rPr>
              <a:t>The comparison is designed to support a recommendation, not create a winner.</a:t>
            </a:r>
            <a:endParaRPr lang="en-US" sz="1250" dirty="0"/>
          </a:p>
        </p:txBody>
      </p:sp>
      <p:sp>
        <p:nvSpPr>
          <p:cNvPr id="5" name="Shape 3"/>
          <p:cNvSpPr/>
          <p:nvPr/>
        </p:nvSpPr>
        <p:spPr>
          <a:xfrm>
            <a:off x="594360" y="1828800"/>
            <a:ext cx="2240280" cy="502920"/>
          </a:xfrm>
          <a:prstGeom prst="rect">
            <a:avLst/>
          </a:prstGeom>
          <a:solidFill>
            <a:srgbClr val="102A43"/>
          </a:solidFill>
          <a:ln w="12700">
            <a:solidFill>
              <a:srgbClr val="FFFFFF"/>
            </a:solidFill>
            <a:prstDash val="solid"/>
          </a:ln>
        </p:spPr>
      </p:sp>
      <p:sp>
        <p:nvSpPr>
          <p:cNvPr id="6" name="Text 4"/>
          <p:cNvSpPr/>
          <p:nvPr/>
        </p:nvSpPr>
        <p:spPr>
          <a:xfrm>
            <a:off x="685800" y="1929384"/>
            <a:ext cx="2057400" cy="228600"/>
          </a:xfrm>
          <a:prstGeom prst="rect">
            <a:avLst/>
          </a:prstGeom>
          <a:noFill/>
          <a:ln/>
        </p:spPr>
        <p:txBody>
          <a:bodyPr wrap="square" lIns="0" tIns="0" rIns="0" bIns="0" rtlCol="0" anchor="ctr">
            <a:normAutofit/>
          </a:bodyPr>
          <a:lstStyle/>
          <a:p>
            <a:pPr algn="l" indent="0" marL="0">
              <a:buNone/>
            </a:pPr>
            <a:r>
              <a:rPr lang="en-US" sz="1050" b="1" dirty="0">
                <a:solidFill>
                  <a:srgbClr val="FFFFFF"/>
                </a:solidFill>
                <a:latin typeface="Aptos" pitchFamily="34" charset="0"/>
                <a:ea typeface="Aptos" pitchFamily="34" charset="-122"/>
                <a:cs typeface="Aptos" pitchFamily="34" charset="-120"/>
              </a:rPr>
              <a:t>Decision lens</a:t>
            </a:r>
            <a:endParaRPr lang="en-US" sz="1050" dirty="0"/>
          </a:p>
        </p:txBody>
      </p:sp>
      <p:sp>
        <p:nvSpPr>
          <p:cNvPr id="7" name="Shape 5"/>
          <p:cNvSpPr/>
          <p:nvPr/>
        </p:nvSpPr>
        <p:spPr>
          <a:xfrm>
            <a:off x="2834640" y="1828800"/>
            <a:ext cx="2926080" cy="502920"/>
          </a:xfrm>
          <a:prstGeom prst="rect">
            <a:avLst/>
          </a:prstGeom>
          <a:solidFill>
            <a:srgbClr val="16B8C4"/>
          </a:solidFill>
          <a:ln w="12700">
            <a:solidFill>
              <a:srgbClr val="FFFFFF"/>
            </a:solidFill>
            <a:prstDash val="solid"/>
          </a:ln>
        </p:spPr>
      </p:sp>
      <p:sp>
        <p:nvSpPr>
          <p:cNvPr id="8" name="Text 6"/>
          <p:cNvSpPr/>
          <p:nvPr/>
        </p:nvSpPr>
        <p:spPr>
          <a:xfrm>
            <a:off x="2926080" y="1929384"/>
            <a:ext cx="2743200" cy="228600"/>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INDIBA CT9</a:t>
            </a:r>
            <a:endParaRPr lang="en-US" sz="1050" dirty="0"/>
          </a:p>
        </p:txBody>
      </p:sp>
      <p:sp>
        <p:nvSpPr>
          <p:cNvPr id="9" name="Shape 7"/>
          <p:cNvSpPr/>
          <p:nvPr/>
        </p:nvSpPr>
        <p:spPr>
          <a:xfrm>
            <a:off x="5760720" y="1828800"/>
            <a:ext cx="2926080" cy="502920"/>
          </a:xfrm>
          <a:prstGeom prst="rect">
            <a:avLst/>
          </a:prstGeom>
          <a:solidFill>
            <a:srgbClr val="F47C6C"/>
          </a:solidFill>
          <a:ln w="12700">
            <a:solidFill>
              <a:srgbClr val="FFFFFF"/>
            </a:solidFill>
            <a:prstDash val="solid"/>
          </a:ln>
        </p:spPr>
      </p:sp>
      <p:sp>
        <p:nvSpPr>
          <p:cNvPr id="10" name="Text 8"/>
          <p:cNvSpPr/>
          <p:nvPr/>
        </p:nvSpPr>
        <p:spPr>
          <a:xfrm>
            <a:off x="5852160" y="1929384"/>
            <a:ext cx="2743200" cy="228600"/>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ASA HIRO TT</a:t>
            </a:r>
            <a:endParaRPr lang="en-US" sz="1050" dirty="0"/>
          </a:p>
        </p:txBody>
      </p:sp>
      <p:sp>
        <p:nvSpPr>
          <p:cNvPr id="11" name="Shape 9"/>
          <p:cNvSpPr/>
          <p:nvPr/>
        </p:nvSpPr>
        <p:spPr>
          <a:xfrm>
            <a:off x="8686800" y="1828800"/>
            <a:ext cx="2926080" cy="502920"/>
          </a:xfrm>
          <a:prstGeom prst="rect">
            <a:avLst/>
          </a:prstGeom>
          <a:solidFill>
            <a:srgbClr val="102A43"/>
          </a:solidFill>
          <a:ln w="12700">
            <a:solidFill>
              <a:srgbClr val="FFFFFF"/>
            </a:solidFill>
            <a:prstDash val="solid"/>
          </a:ln>
        </p:spPr>
      </p:sp>
      <p:sp>
        <p:nvSpPr>
          <p:cNvPr id="12" name="Text 10"/>
          <p:cNvSpPr/>
          <p:nvPr/>
        </p:nvSpPr>
        <p:spPr>
          <a:xfrm>
            <a:off x="8778240" y="1929384"/>
            <a:ext cx="2743200" cy="228600"/>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Why it matters to the clinic</a:t>
            </a:r>
            <a:endParaRPr lang="en-US" sz="1050" dirty="0"/>
          </a:p>
        </p:txBody>
      </p:sp>
      <p:sp>
        <p:nvSpPr>
          <p:cNvPr id="13" name="Shape 11"/>
          <p:cNvSpPr/>
          <p:nvPr/>
        </p:nvSpPr>
        <p:spPr>
          <a:xfrm>
            <a:off x="594360" y="2331720"/>
            <a:ext cx="2240280" cy="603504"/>
          </a:xfrm>
          <a:prstGeom prst="rect">
            <a:avLst/>
          </a:prstGeom>
          <a:solidFill>
            <a:srgbClr val="FFFFFF"/>
          </a:solidFill>
          <a:ln w="8890">
            <a:solidFill>
              <a:srgbClr val="D7E0E8"/>
            </a:solidFill>
            <a:prstDash val="solid"/>
          </a:ln>
        </p:spPr>
      </p:sp>
      <p:sp>
        <p:nvSpPr>
          <p:cNvPr id="14" name="Text 12"/>
          <p:cNvSpPr/>
          <p:nvPr/>
        </p:nvSpPr>
        <p:spPr>
          <a:xfrm>
            <a:off x="685800" y="2414016"/>
            <a:ext cx="2057400" cy="420624"/>
          </a:xfrm>
          <a:prstGeom prst="rect">
            <a:avLst/>
          </a:prstGeom>
          <a:noFill/>
          <a:ln/>
        </p:spPr>
        <p:txBody>
          <a:bodyPr wrap="square" lIns="0" tIns="0" rIns="0" bIns="0" rtlCol="0" anchor="t">
            <a:normAutofit/>
          </a:bodyPr>
          <a:lstStyle/>
          <a:p>
            <a:pPr algn="l" indent="0" marL="0">
              <a:buNone/>
            </a:pPr>
            <a:r>
              <a:rPr lang="en-US" sz="1050" b="1" dirty="0">
                <a:solidFill>
                  <a:srgbClr val="102A43"/>
                </a:solidFill>
                <a:latin typeface="Aptos" pitchFamily="34" charset="0"/>
                <a:ea typeface="Aptos" pitchFamily="34" charset="-122"/>
                <a:cs typeface="Aptos" pitchFamily="34" charset="-120"/>
              </a:rPr>
              <a:t>Core modality</a:t>
            </a:r>
            <a:endParaRPr lang="en-US" sz="1050" dirty="0"/>
          </a:p>
        </p:txBody>
      </p:sp>
      <p:sp>
        <p:nvSpPr>
          <p:cNvPr id="15" name="Shape 13"/>
          <p:cNvSpPr/>
          <p:nvPr/>
        </p:nvSpPr>
        <p:spPr>
          <a:xfrm>
            <a:off x="2834640" y="2331720"/>
            <a:ext cx="2926080" cy="603504"/>
          </a:xfrm>
          <a:prstGeom prst="rect">
            <a:avLst/>
          </a:prstGeom>
          <a:solidFill>
            <a:srgbClr val="FFFFFF"/>
          </a:solidFill>
          <a:ln w="8890">
            <a:solidFill>
              <a:srgbClr val="D7E0E8"/>
            </a:solidFill>
            <a:prstDash val="solid"/>
          </a:ln>
        </p:spPr>
      </p:sp>
      <p:sp>
        <p:nvSpPr>
          <p:cNvPr id="16" name="Text 14"/>
          <p:cNvSpPr/>
          <p:nvPr/>
        </p:nvSpPr>
        <p:spPr>
          <a:xfrm>
            <a:off x="2926080" y="2414016"/>
            <a:ext cx="2743200" cy="420624"/>
          </a:xfrm>
          <a:prstGeom prst="rect">
            <a:avLst/>
          </a:prstGeom>
          <a:noFill/>
          <a:ln/>
        </p:spPr>
        <p:txBody>
          <a:bodyPr wrap="square" lIns="0" tIns="0" rIns="0" bIns="0" rtlCol="0" anchor="t">
            <a:normAutofit/>
          </a:bodyPr>
          <a:lstStyle/>
          <a:p>
            <a:pPr algn="l" indent="0" marL="0">
              <a:buNone/>
            </a:pPr>
            <a:r>
              <a:rPr lang="en-US" sz="980" dirty="0">
                <a:solidFill>
                  <a:srgbClr val="203040"/>
                </a:solidFill>
                <a:latin typeface="Aptos" pitchFamily="34" charset="0"/>
                <a:ea typeface="Aptos" pitchFamily="34" charset="-122"/>
                <a:cs typeface="Aptos" pitchFamily="34" charset="-120"/>
              </a:rPr>
              <a:t>448 kHz monopolar RF</a:t>
            </a:r>
            <a:endParaRPr lang="en-US" sz="980" dirty="0"/>
          </a:p>
        </p:txBody>
      </p:sp>
      <p:sp>
        <p:nvSpPr>
          <p:cNvPr id="17" name="Shape 15"/>
          <p:cNvSpPr/>
          <p:nvPr/>
        </p:nvSpPr>
        <p:spPr>
          <a:xfrm>
            <a:off x="5760720" y="2331720"/>
            <a:ext cx="2926080" cy="603504"/>
          </a:xfrm>
          <a:prstGeom prst="rect">
            <a:avLst/>
          </a:prstGeom>
          <a:solidFill>
            <a:srgbClr val="FFFFFF"/>
          </a:solidFill>
          <a:ln w="8890">
            <a:solidFill>
              <a:srgbClr val="D7E0E8"/>
            </a:solidFill>
            <a:prstDash val="solid"/>
          </a:ln>
        </p:spPr>
      </p:sp>
      <p:sp>
        <p:nvSpPr>
          <p:cNvPr id="18" name="Text 16"/>
          <p:cNvSpPr/>
          <p:nvPr/>
        </p:nvSpPr>
        <p:spPr>
          <a:xfrm>
            <a:off x="5852160" y="2414016"/>
            <a:ext cx="2743200" cy="420624"/>
          </a:xfrm>
          <a:prstGeom prst="rect">
            <a:avLst/>
          </a:prstGeom>
          <a:noFill/>
          <a:ln/>
        </p:spPr>
        <p:txBody>
          <a:bodyPr wrap="square" lIns="0" tIns="0" rIns="0" bIns="0" rtlCol="0" anchor="t">
            <a:normAutofit/>
          </a:bodyPr>
          <a:lstStyle/>
          <a:p>
            <a:pPr algn="l" indent="0" marL="0">
              <a:buNone/>
            </a:pPr>
            <a:r>
              <a:rPr lang="en-US" sz="980" dirty="0">
                <a:solidFill>
                  <a:srgbClr val="203040"/>
                </a:solidFill>
                <a:latin typeface="Aptos" pitchFamily="34" charset="0"/>
                <a:ea typeface="Aptos" pitchFamily="34" charset="-122"/>
                <a:cs typeface="Aptos" pitchFamily="34" charset="-120"/>
              </a:rPr>
              <a:t>Pulsed Nd:YAG HILT®</a:t>
            </a:r>
            <a:endParaRPr lang="en-US" sz="980" dirty="0"/>
          </a:p>
        </p:txBody>
      </p:sp>
      <p:sp>
        <p:nvSpPr>
          <p:cNvPr id="19" name="Shape 17"/>
          <p:cNvSpPr/>
          <p:nvPr/>
        </p:nvSpPr>
        <p:spPr>
          <a:xfrm>
            <a:off x="8686800" y="2331720"/>
            <a:ext cx="2926080" cy="603504"/>
          </a:xfrm>
          <a:prstGeom prst="rect">
            <a:avLst/>
          </a:prstGeom>
          <a:solidFill>
            <a:srgbClr val="FFFFFF"/>
          </a:solidFill>
          <a:ln w="8890">
            <a:solidFill>
              <a:srgbClr val="D7E0E8"/>
            </a:solidFill>
            <a:prstDash val="solid"/>
          </a:ln>
        </p:spPr>
      </p:sp>
      <p:sp>
        <p:nvSpPr>
          <p:cNvPr id="20" name="Text 18"/>
          <p:cNvSpPr/>
          <p:nvPr/>
        </p:nvSpPr>
        <p:spPr>
          <a:xfrm>
            <a:off x="8778240" y="2414016"/>
            <a:ext cx="2743200" cy="420624"/>
          </a:xfrm>
          <a:prstGeom prst="rect">
            <a:avLst/>
          </a:prstGeom>
          <a:noFill/>
          <a:ln/>
        </p:spPr>
        <p:txBody>
          <a:bodyPr wrap="square" lIns="0" tIns="0" rIns="0" bIns="0" rtlCol="0" anchor="t">
            <a:normAutofit/>
          </a:bodyPr>
          <a:lstStyle/>
          <a:p>
            <a:pPr algn="l" indent="0" marL="0">
              <a:buNone/>
            </a:pPr>
            <a:r>
              <a:rPr lang="en-US" sz="980" b="1" dirty="0">
                <a:solidFill>
                  <a:srgbClr val="203040"/>
                </a:solidFill>
                <a:latin typeface="Aptos" pitchFamily="34" charset="0"/>
                <a:ea typeface="Aptos" pitchFamily="34" charset="-122"/>
                <a:cs typeface="Aptos" pitchFamily="34" charset="-120"/>
              </a:rPr>
              <a:t>Different mechanisms for different clinical asks</a:t>
            </a:r>
            <a:endParaRPr lang="en-US" sz="980" dirty="0"/>
          </a:p>
        </p:txBody>
      </p:sp>
      <p:sp>
        <p:nvSpPr>
          <p:cNvPr id="21" name="Shape 19"/>
          <p:cNvSpPr/>
          <p:nvPr/>
        </p:nvSpPr>
        <p:spPr>
          <a:xfrm>
            <a:off x="594360" y="2935224"/>
            <a:ext cx="2240280" cy="603504"/>
          </a:xfrm>
          <a:prstGeom prst="rect">
            <a:avLst/>
          </a:prstGeom>
          <a:solidFill>
            <a:srgbClr val="F8FAFC"/>
          </a:solidFill>
          <a:ln w="8890">
            <a:solidFill>
              <a:srgbClr val="D7E0E8"/>
            </a:solidFill>
            <a:prstDash val="solid"/>
          </a:ln>
        </p:spPr>
      </p:sp>
      <p:sp>
        <p:nvSpPr>
          <p:cNvPr id="22" name="Text 20"/>
          <p:cNvSpPr/>
          <p:nvPr/>
        </p:nvSpPr>
        <p:spPr>
          <a:xfrm>
            <a:off x="685800" y="3017520"/>
            <a:ext cx="2057400" cy="420624"/>
          </a:xfrm>
          <a:prstGeom prst="rect">
            <a:avLst/>
          </a:prstGeom>
          <a:noFill/>
          <a:ln/>
        </p:spPr>
        <p:txBody>
          <a:bodyPr wrap="square" lIns="0" tIns="0" rIns="0" bIns="0" rtlCol="0" anchor="t">
            <a:normAutofit/>
          </a:bodyPr>
          <a:lstStyle/>
          <a:p>
            <a:pPr algn="l" indent="0" marL="0">
              <a:buNone/>
            </a:pPr>
            <a:r>
              <a:rPr lang="en-US" sz="1050" b="1" dirty="0">
                <a:solidFill>
                  <a:srgbClr val="102A43"/>
                </a:solidFill>
                <a:latin typeface="Aptos" pitchFamily="34" charset="0"/>
                <a:ea typeface="Aptos" pitchFamily="34" charset="-122"/>
                <a:cs typeface="Aptos" pitchFamily="34" charset="-120"/>
              </a:rPr>
              <a:t>Primary strength</a:t>
            </a:r>
            <a:endParaRPr lang="en-US" sz="1050" dirty="0"/>
          </a:p>
        </p:txBody>
      </p:sp>
      <p:sp>
        <p:nvSpPr>
          <p:cNvPr id="23" name="Shape 21"/>
          <p:cNvSpPr/>
          <p:nvPr/>
        </p:nvSpPr>
        <p:spPr>
          <a:xfrm>
            <a:off x="2834640" y="2935224"/>
            <a:ext cx="2926080" cy="603504"/>
          </a:xfrm>
          <a:prstGeom prst="rect">
            <a:avLst/>
          </a:prstGeom>
          <a:solidFill>
            <a:srgbClr val="F8FAFC"/>
          </a:solidFill>
          <a:ln w="8890">
            <a:solidFill>
              <a:srgbClr val="D7E0E8"/>
            </a:solidFill>
            <a:prstDash val="solid"/>
          </a:ln>
        </p:spPr>
      </p:sp>
      <p:sp>
        <p:nvSpPr>
          <p:cNvPr id="24" name="Text 22"/>
          <p:cNvSpPr/>
          <p:nvPr/>
        </p:nvSpPr>
        <p:spPr>
          <a:xfrm>
            <a:off x="2926080" y="3017520"/>
            <a:ext cx="2743200" cy="420624"/>
          </a:xfrm>
          <a:prstGeom prst="rect">
            <a:avLst/>
          </a:prstGeom>
          <a:noFill/>
          <a:ln/>
        </p:spPr>
        <p:txBody>
          <a:bodyPr wrap="square" lIns="0" tIns="0" rIns="0" bIns="0" rtlCol="0" anchor="t">
            <a:normAutofit/>
          </a:bodyPr>
          <a:lstStyle/>
          <a:p>
            <a:pPr algn="l" indent="0" marL="0">
              <a:buNone/>
            </a:pPr>
            <a:r>
              <a:rPr lang="en-US" sz="980" dirty="0">
                <a:solidFill>
                  <a:srgbClr val="203040"/>
                </a:solidFill>
                <a:latin typeface="Aptos" pitchFamily="34" charset="0"/>
                <a:ea typeface="Aptos" pitchFamily="34" charset="-122"/>
                <a:cs typeface="Aptos" pitchFamily="34" charset="-120"/>
              </a:rPr>
              <a:t>Versatility and integration</a:t>
            </a:r>
            <a:endParaRPr lang="en-US" sz="980" dirty="0"/>
          </a:p>
        </p:txBody>
      </p:sp>
      <p:sp>
        <p:nvSpPr>
          <p:cNvPr id="25" name="Shape 23"/>
          <p:cNvSpPr/>
          <p:nvPr/>
        </p:nvSpPr>
        <p:spPr>
          <a:xfrm>
            <a:off x="5760720" y="2935224"/>
            <a:ext cx="2926080" cy="603504"/>
          </a:xfrm>
          <a:prstGeom prst="rect">
            <a:avLst/>
          </a:prstGeom>
          <a:solidFill>
            <a:srgbClr val="F8FAFC"/>
          </a:solidFill>
          <a:ln w="8890">
            <a:solidFill>
              <a:srgbClr val="D7E0E8"/>
            </a:solidFill>
            <a:prstDash val="solid"/>
          </a:ln>
        </p:spPr>
      </p:sp>
      <p:sp>
        <p:nvSpPr>
          <p:cNvPr id="26" name="Text 24"/>
          <p:cNvSpPr/>
          <p:nvPr/>
        </p:nvSpPr>
        <p:spPr>
          <a:xfrm>
            <a:off x="5852160" y="3017520"/>
            <a:ext cx="2743200" cy="420624"/>
          </a:xfrm>
          <a:prstGeom prst="rect">
            <a:avLst/>
          </a:prstGeom>
          <a:noFill/>
          <a:ln/>
        </p:spPr>
        <p:txBody>
          <a:bodyPr wrap="square" lIns="0" tIns="0" rIns="0" bIns="0" rtlCol="0" anchor="t">
            <a:normAutofit/>
          </a:bodyPr>
          <a:lstStyle/>
          <a:p>
            <a:pPr algn="l" indent="0" marL="0">
              <a:buNone/>
            </a:pPr>
            <a:r>
              <a:rPr lang="en-US" sz="980" dirty="0">
                <a:solidFill>
                  <a:srgbClr val="203040"/>
                </a:solidFill>
                <a:latin typeface="Aptos" pitchFamily="34" charset="0"/>
                <a:ea typeface="Aptos" pitchFamily="34" charset="-122"/>
                <a:cs typeface="Aptos" pitchFamily="34" charset="-120"/>
              </a:rPr>
              <a:t>Intensity, depth and differentiation</a:t>
            </a:r>
            <a:endParaRPr lang="en-US" sz="980" dirty="0"/>
          </a:p>
        </p:txBody>
      </p:sp>
      <p:sp>
        <p:nvSpPr>
          <p:cNvPr id="27" name="Shape 25"/>
          <p:cNvSpPr/>
          <p:nvPr/>
        </p:nvSpPr>
        <p:spPr>
          <a:xfrm>
            <a:off x="8686800" y="2935224"/>
            <a:ext cx="2926080" cy="603504"/>
          </a:xfrm>
          <a:prstGeom prst="rect">
            <a:avLst/>
          </a:prstGeom>
          <a:solidFill>
            <a:srgbClr val="F8FAFC"/>
          </a:solidFill>
          <a:ln w="8890">
            <a:solidFill>
              <a:srgbClr val="D7E0E8"/>
            </a:solidFill>
            <a:prstDash val="solid"/>
          </a:ln>
        </p:spPr>
      </p:sp>
      <p:sp>
        <p:nvSpPr>
          <p:cNvPr id="28" name="Text 26"/>
          <p:cNvSpPr/>
          <p:nvPr/>
        </p:nvSpPr>
        <p:spPr>
          <a:xfrm>
            <a:off x="8778240" y="3017520"/>
            <a:ext cx="2743200" cy="420624"/>
          </a:xfrm>
          <a:prstGeom prst="rect">
            <a:avLst/>
          </a:prstGeom>
          <a:noFill/>
          <a:ln/>
        </p:spPr>
        <p:txBody>
          <a:bodyPr wrap="square" lIns="0" tIns="0" rIns="0" bIns="0" rtlCol="0" anchor="t">
            <a:normAutofit/>
          </a:bodyPr>
          <a:lstStyle/>
          <a:p>
            <a:pPr algn="l" indent="0" marL="0">
              <a:buNone/>
            </a:pPr>
            <a:r>
              <a:rPr lang="en-US" sz="980" b="1" dirty="0">
                <a:solidFill>
                  <a:srgbClr val="203040"/>
                </a:solidFill>
                <a:latin typeface="Aptos" pitchFamily="34" charset="0"/>
                <a:ea typeface="Aptos" pitchFamily="34" charset="-122"/>
                <a:cs typeface="Aptos" pitchFamily="34" charset="-120"/>
              </a:rPr>
              <a:t>Match investment to the clinic’s ambition</a:t>
            </a:r>
            <a:endParaRPr lang="en-US" sz="980" dirty="0"/>
          </a:p>
        </p:txBody>
      </p:sp>
      <p:sp>
        <p:nvSpPr>
          <p:cNvPr id="29" name="Shape 27"/>
          <p:cNvSpPr/>
          <p:nvPr/>
        </p:nvSpPr>
        <p:spPr>
          <a:xfrm>
            <a:off x="594360" y="3538728"/>
            <a:ext cx="2240280" cy="603504"/>
          </a:xfrm>
          <a:prstGeom prst="rect">
            <a:avLst/>
          </a:prstGeom>
          <a:solidFill>
            <a:srgbClr val="FFFFFF"/>
          </a:solidFill>
          <a:ln w="8890">
            <a:solidFill>
              <a:srgbClr val="D7E0E8"/>
            </a:solidFill>
            <a:prstDash val="solid"/>
          </a:ln>
        </p:spPr>
      </p:sp>
      <p:sp>
        <p:nvSpPr>
          <p:cNvPr id="30" name="Text 28"/>
          <p:cNvSpPr/>
          <p:nvPr/>
        </p:nvSpPr>
        <p:spPr>
          <a:xfrm>
            <a:off x="685800" y="3621024"/>
            <a:ext cx="2057400" cy="420624"/>
          </a:xfrm>
          <a:prstGeom prst="rect">
            <a:avLst/>
          </a:prstGeom>
          <a:noFill/>
          <a:ln/>
        </p:spPr>
        <p:txBody>
          <a:bodyPr wrap="square" lIns="0" tIns="0" rIns="0" bIns="0" rtlCol="0" anchor="t">
            <a:normAutofit/>
          </a:bodyPr>
          <a:lstStyle/>
          <a:p>
            <a:pPr algn="l" indent="0" marL="0">
              <a:buNone/>
            </a:pPr>
            <a:r>
              <a:rPr lang="en-US" sz="1050" b="1" dirty="0">
                <a:solidFill>
                  <a:srgbClr val="102A43"/>
                </a:solidFill>
                <a:latin typeface="Aptos" pitchFamily="34" charset="0"/>
                <a:ea typeface="Aptos" pitchFamily="34" charset="-122"/>
                <a:cs typeface="Aptos" pitchFamily="34" charset="-120"/>
              </a:rPr>
              <a:t>Best-fit workflow</a:t>
            </a:r>
            <a:endParaRPr lang="en-US" sz="1050" dirty="0"/>
          </a:p>
        </p:txBody>
      </p:sp>
      <p:sp>
        <p:nvSpPr>
          <p:cNvPr id="31" name="Shape 29"/>
          <p:cNvSpPr/>
          <p:nvPr/>
        </p:nvSpPr>
        <p:spPr>
          <a:xfrm>
            <a:off x="2834640" y="3538728"/>
            <a:ext cx="2926080" cy="603504"/>
          </a:xfrm>
          <a:prstGeom prst="rect">
            <a:avLst/>
          </a:prstGeom>
          <a:solidFill>
            <a:srgbClr val="FFFFFF"/>
          </a:solidFill>
          <a:ln w="8890">
            <a:solidFill>
              <a:srgbClr val="D7E0E8"/>
            </a:solidFill>
            <a:prstDash val="solid"/>
          </a:ln>
        </p:spPr>
      </p:sp>
      <p:sp>
        <p:nvSpPr>
          <p:cNvPr id="32" name="Text 30"/>
          <p:cNvSpPr/>
          <p:nvPr/>
        </p:nvSpPr>
        <p:spPr>
          <a:xfrm>
            <a:off x="2926080" y="3621024"/>
            <a:ext cx="2743200" cy="420624"/>
          </a:xfrm>
          <a:prstGeom prst="rect">
            <a:avLst/>
          </a:prstGeom>
          <a:noFill/>
          <a:ln/>
        </p:spPr>
        <p:txBody>
          <a:bodyPr wrap="square" lIns="0" tIns="0" rIns="0" bIns="0" rtlCol="0" anchor="t">
            <a:normAutofit/>
          </a:bodyPr>
          <a:lstStyle/>
          <a:p>
            <a:pPr algn="l" indent="0" marL="0">
              <a:buNone/>
            </a:pPr>
            <a:r>
              <a:rPr lang="en-US" sz="980" dirty="0">
                <a:solidFill>
                  <a:srgbClr val="203040"/>
                </a:solidFill>
                <a:latin typeface="Aptos" pitchFamily="34" charset="0"/>
                <a:ea typeface="Aptos" pitchFamily="34" charset="-122"/>
                <a:cs typeface="Aptos" pitchFamily="34" charset="-120"/>
              </a:rPr>
              <a:t>Daily use with manual therapy and exercise</a:t>
            </a:r>
            <a:endParaRPr lang="en-US" sz="980" dirty="0"/>
          </a:p>
        </p:txBody>
      </p:sp>
      <p:sp>
        <p:nvSpPr>
          <p:cNvPr id="33" name="Shape 31"/>
          <p:cNvSpPr/>
          <p:nvPr/>
        </p:nvSpPr>
        <p:spPr>
          <a:xfrm>
            <a:off x="5760720" y="3538728"/>
            <a:ext cx="2926080" cy="603504"/>
          </a:xfrm>
          <a:prstGeom prst="rect">
            <a:avLst/>
          </a:prstGeom>
          <a:solidFill>
            <a:srgbClr val="FFFFFF"/>
          </a:solidFill>
          <a:ln w="8890">
            <a:solidFill>
              <a:srgbClr val="D7E0E8"/>
            </a:solidFill>
            <a:prstDash val="solid"/>
          </a:ln>
        </p:spPr>
      </p:sp>
      <p:sp>
        <p:nvSpPr>
          <p:cNvPr id="34" name="Text 32"/>
          <p:cNvSpPr/>
          <p:nvPr/>
        </p:nvSpPr>
        <p:spPr>
          <a:xfrm>
            <a:off x="5852160" y="3621024"/>
            <a:ext cx="2743200" cy="420624"/>
          </a:xfrm>
          <a:prstGeom prst="rect">
            <a:avLst/>
          </a:prstGeom>
          <a:noFill/>
          <a:ln/>
        </p:spPr>
        <p:txBody>
          <a:bodyPr wrap="square" lIns="0" tIns="0" rIns="0" bIns="0" rtlCol="0" anchor="t">
            <a:normAutofit/>
          </a:bodyPr>
          <a:lstStyle/>
          <a:p>
            <a:pPr algn="l" indent="0" marL="0">
              <a:buNone/>
            </a:pPr>
            <a:r>
              <a:rPr lang="en-US" sz="980" dirty="0">
                <a:solidFill>
                  <a:srgbClr val="203040"/>
                </a:solidFill>
                <a:latin typeface="Aptos" pitchFamily="34" charset="0"/>
                <a:ea typeface="Aptos" pitchFamily="34" charset="-122"/>
                <a:cs typeface="Aptos" pitchFamily="34" charset="-120"/>
              </a:rPr>
              <a:t>Focused protocols and premium interventions</a:t>
            </a:r>
            <a:endParaRPr lang="en-US" sz="980" dirty="0"/>
          </a:p>
        </p:txBody>
      </p:sp>
      <p:sp>
        <p:nvSpPr>
          <p:cNvPr id="35" name="Shape 33"/>
          <p:cNvSpPr/>
          <p:nvPr/>
        </p:nvSpPr>
        <p:spPr>
          <a:xfrm>
            <a:off x="8686800" y="3538728"/>
            <a:ext cx="2926080" cy="603504"/>
          </a:xfrm>
          <a:prstGeom prst="rect">
            <a:avLst/>
          </a:prstGeom>
          <a:solidFill>
            <a:srgbClr val="FFFFFF"/>
          </a:solidFill>
          <a:ln w="8890">
            <a:solidFill>
              <a:srgbClr val="D7E0E8"/>
            </a:solidFill>
            <a:prstDash val="solid"/>
          </a:ln>
        </p:spPr>
      </p:sp>
      <p:sp>
        <p:nvSpPr>
          <p:cNvPr id="36" name="Text 34"/>
          <p:cNvSpPr/>
          <p:nvPr/>
        </p:nvSpPr>
        <p:spPr>
          <a:xfrm>
            <a:off x="8778240" y="3621024"/>
            <a:ext cx="2743200" cy="420624"/>
          </a:xfrm>
          <a:prstGeom prst="rect">
            <a:avLst/>
          </a:prstGeom>
          <a:noFill/>
          <a:ln/>
        </p:spPr>
        <p:txBody>
          <a:bodyPr wrap="square" lIns="0" tIns="0" rIns="0" bIns="0" rtlCol="0" anchor="t">
            <a:normAutofit/>
          </a:bodyPr>
          <a:lstStyle/>
          <a:p>
            <a:pPr algn="l" indent="0" marL="0">
              <a:buNone/>
            </a:pPr>
            <a:r>
              <a:rPr lang="en-US" sz="980" b="1" dirty="0">
                <a:solidFill>
                  <a:srgbClr val="203040"/>
                </a:solidFill>
                <a:latin typeface="Aptos" pitchFamily="34" charset="0"/>
                <a:ea typeface="Aptos" pitchFamily="34" charset="-122"/>
                <a:cs typeface="Aptos" pitchFamily="34" charset="-120"/>
              </a:rPr>
              <a:t>Adoption depends on workflow fit</a:t>
            </a:r>
            <a:endParaRPr lang="en-US" sz="980" dirty="0"/>
          </a:p>
        </p:txBody>
      </p:sp>
      <p:sp>
        <p:nvSpPr>
          <p:cNvPr id="37" name="Shape 35"/>
          <p:cNvSpPr/>
          <p:nvPr/>
        </p:nvSpPr>
        <p:spPr>
          <a:xfrm>
            <a:off x="594360" y="4142232"/>
            <a:ext cx="2240280" cy="603504"/>
          </a:xfrm>
          <a:prstGeom prst="rect">
            <a:avLst/>
          </a:prstGeom>
          <a:solidFill>
            <a:srgbClr val="F8FAFC"/>
          </a:solidFill>
          <a:ln w="8890">
            <a:solidFill>
              <a:srgbClr val="D7E0E8"/>
            </a:solidFill>
            <a:prstDash val="solid"/>
          </a:ln>
        </p:spPr>
      </p:sp>
      <p:sp>
        <p:nvSpPr>
          <p:cNvPr id="38" name="Text 36"/>
          <p:cNvSpPr/>
          <p:nvPr/>
        </p:nvSpPr>
        <p:spPr>
          <a:xfrm>
            <a:off x="685800" y="4224528"/>
            <a:ext cx="2057400" cy="420624"/>
          </a:xfrm>
          <a:prstGeom prst="rect">
            <a:avLst/>
          </a:prstGeom>
          <a:noFill/>
          <a:ln/>
        </p:spPr>
        <p:txBody>
          <a:bodyPr wrap="square" lIns="0" tIns="0" rIns="0" bIns="0" rtlCol="0" anchor="t">
            <a:normAutofit/>
          </a:bodyPr>
          <a:lstStyle/>
          <a:p>
            <a:pPr algn="l" indent="0" marL="0">
              <a:buNone/>
            </a:pPr>
            <a:r>
              <a:rPr lang="en-US" sz="1050" b="1" dirty="0">
                <a:solidFill>
                  <a:srgbClr val="102A43"/>
                </a:solidFill>
                <a:latin typeface="Aptos" pitchFamily="34" charset="0"/>
                <a:ea typeface="Aptos" pitchFamily="34" charset="-122"/>
                <a:cs typeface="Aptos" pitchFamily="34" charset="-120"/>
              </a:rPr>
              <a:t>Patient experience</a:t>
            </a:r>
            <a:endParaRPr lang="en-US" sz="1050" dirty="0"/>
          </a:p>
        </p:txBody>
      </p:sp>
      <p:sp>
        <p:nvSpPr>
          <p:cNvPr id="39" name="Shape 37"/>
          <p:cNvSpPr/>
          <p:nvPr/>
        </p:nvSpPr>
        <p:spPr>
          <a:xfrm>
            <a:off x="2834640" y="4142232"/>
            <a:ext cx="2926080" cy="603504"/>
          </a:xfrm>
          <a:prstGeom prst="rect">
            <a:avLst/>
          </a:prstGeom>
          <a:solidFill>
            <a:srgbClr val="F8FAFC"/>
          </a:solidFill>
          <a:ln w="8890">
            <a:solidFill>
              <a:srgbClr val="D7E0E8"/>
            </a:solidFill>
            <a:prstDash val="solid"/>
          </a:ln>
        </p:spPr>
      </p:sp>
      <p:sp>
        <p:nvSpPr>
          <p:cNvPr id="40" name="Text 38"/>
          <p:cNvSpPr/>
          <p:nvPr/>
        </p:nvSpPr>
        <p:spPr>
          <a:xfrm>
            <a:off x="2926080" y="4224528"/>
            <a:ext cx="2743200" cy="420624"/>
          </a:xfrm>
          <a:prstGeom prst="rect">
            <a:avLst/>
          </a:prstGeom>
          <a:noFill/>
          <a:ln/>
        </p:spPr>
        <p:txBody>
          <a:bodyPr wrap="square" lIns="0" tIns="0" rIns="0" bIns="0" rtlCol="0" anchor="t">
            <a:normAutofit/>
          </a:bodyPr>
          <a:lstStyle/>
          <a:p>
            <a:pPr algn="l" indent="0" marL="0">
              <a:buNone/>
            </a:pPr>
            <a:r>
              <a:rPr lang="en-US" sz="980" dirty="0">
                <a:solidFill>
                  <a:srgbClr val="203040"/>
                </a:solidFill>
                <a:latin typeface="Aptos" pitchFamily="34" charset="0"/>
                <a:ea typeface="Aptos" pitchFamily="34" charset="-122"/>
                <a:cs typeface="Aptos" pitchFamily="34" charset="-120"/>
              </a:rPr>
              <a:t>Comfortable, adjustable warmth</a:t>
            </a:r>
            <a:endParaRPr lang="en-US" sz="980" dirty="0"/>
          </a:p>
        </p:txBody>
      </p:sp>
      <p:sp>
        <p:nvSpPr>
          <p:cNvPr id="41" name="Shape 39"/>
          <p:cNvSpPr/>
          <p:nvPr/>
        </p:nvSpPr>
        <p:spPr>
          <a:xfrm>
            <a:off x="5760720" y="4142232"/>
            <a:ext cx="2926080" cy="603504"/>
          </a:xfrm>
          <a:prstGeom prst="rect">
            <a:avLst/>
          </a:prstGeom>
          <a:solidFill>
            <a:srgbClr val="F8FAFC"/>
          </a:solidFill>
          <a:ln w="8890">
            <a:solidFill>
              <a:srgbClr val="D7E0E8"/>
            </a:solidFill>
            <a:prstDash val="solid"/>
          </a:ln>
        </p:spPr>
      </p:sp>
      <p:sp>
        <p:nvSpPr>
          <p:cNvPr id="42" name="Text 40"/>
          <p:cNvSpPr/>
          <p:nvPr/>
        </p:nvSpPr>
        <p:spPr>
          <a:xfrm>
            <a:off x="5852160" y="4224528"/>
            <a:ext cx="2743200" cy="420624"/>
          </a:xfrm>
          <a:prstGeom prst="rect">
            <a:avLst/>
          </a:prstGeom>
          <a:noFill/>
          <a:ln/>
        </p:spPr>
        <p:txBody>
          <a:bodyPr wrap="square" lIns="0" tIns="0" rIns="0" bIns="0" rtlCol="0" anchor="t">
            <a:normAutofit/>
          </a:bodyPr>
          <a:lstStyle/>
          <a:p>
            <a:pPr algn="l" indent="0" marL="0">
              <a:buNone/>
            </a:pPr>
            <a:r>
              <a:rPr lang="en-US" sz="980" dirty="0">
                <a:solidFill>
                  <a:srgbClr val="203040"/>
                </a:solidFill>
                <a:latin typeface="Aptos" pitchFamily="34" charset="0"/>
                <a:ea typeface="Aptos" pitchFamily="34" charset="-122"/>
                <a:cs typeface="Aptos" pitchFamily="34" charset="-120"/>
              </a:rPr>
              <a:t>High intensity with SmartCooler support</a:t>
            </a:r>
            <a:endParaRPr lang="en-US" sz="980" dirty="0"/>
          </a:p>
        </p:txBody>
      </p:sp>
      <p:sp>
        <p:nvSpPr>
          <p:cNvPr id="43" name="Shape 41"/>
          <p:cNvSpPr/>
          <p:nvPr/>
        </p:nvSpPr>
        <p:spPr>
          <a:xfrm>
            <a:off x="8686800" y="4142232"/>
            <a:ext cx="2926080" cy="603504"/>
          </a:xfrm>
          <a:prstGeom prst="rect">
            <a:avLst/>
          </a:prstGeom>
          <a:solidFill>
            <a:srgbClr val="F8FAFC"/>
          </a:solidFill>
          <a:ln w="8890">
            <a:solidFill>
              <a:srgbClr val="D7E0E8"/>
            </a:solidFill>
            <a:prstDash val="solid"/>
          </a:ln>
        </p:spPr>
      </p:sp>
      <p:sp>
        <p:nvSpPr>
          <p:cNvPr id="44" name="Text 42"/>
          <p:cNvSpPr/>
          <p:nvPr/>
        </p:nvSpPr>
        <p:spPr>
          <a:xfrm>
            <a:off x="8778240" y="4224528"/>
            <a:ext cx="2743200" cy="420624"/>
          </a:xfrm>
          <a:prstGeom prst="rect">
            <a:avLst/>
          </a:prstGeom>
          <a:noFill/>
          <a:ln/>
        </p:spPr>
        <p:txBody>
          <a:bodyPr wrap="square" lIns="0" tIns="0" rIns="0" bIns="0" rtlCol="0" anchor="t">
            <a:normAutofit/>
          </a:bodyPr>
          <a:lstStyle/>
          <a:p>
            <a:pPr algn="l" indent="0" marL="0">
              <a:buNone/>
            </a:pPr>
            <a:r>
              <a:rPr lang="en-US" sz="980" b="1" dirty="0">
                <a:solidFill>
                  <a:srgbClr val="203040"/>
                </a:solidFill>
                <a:latin typeface="Aptos" pitchFamily="34" charset="0"/>
                <a:ea typeface="Aptos" pitchFamily="34" charset="-122"/>
                <a:cs typeface="Aptos" pitchFamily="34" charset="-120"/>
              </a:rPr>
              <a:t>A treatment patients can feel and value</a:t>
            </a:r>
            <a:endParaRPr lang="en-US" sz="980" dirty="0"/>
          </a:p>
        </p:txBody>
      </p:sp>
      <p:sp>
        <p:nvSpPr>
          <p:cNvPr id="45" name="Shape 43"/>
          <p:cNvSpPr/>
          <p:nvPr/>
        </p:nvSpPr>
        <p:spPr>
          <a:xfrm>
            <a:off x="594360" y="4745736"/>
            <a:ext cx="2240280" cy="603504"/>
          </a:xfrm>
          <a:prstGeom prst="rect">
            <a:avLst/>
          </a:prstGeom>
          <a:solidFill>
            <a:srgbClr val="FFFFFF"/>
          </a:solidFill>
          <a:ln w="8890">
            <a:solidFill>
              <a:srgbClr val="D7E0E8"/>
            </a:solidFill>
            <a:prstDash val="solid"/>
          </a:ln>
        </p:spPr>
      </p:sp>
      <p:sp>
        <p:nvSpPr>
          <p:cNvPr id="46" name="Text 44"/>
          <p:cNvSpPr/>
          <p:nvPr/>
        </p:nvSpPr>
        <p:spPr>
          <a:xfrm>
            <a:off x="685800" y="4828032"/>
            <a:ext cx="2057400" cy="420624"/>
          </a:xfrm>
          <a:prstGeom prst="rect">
            <a:avLst/>
          </a:prstGeom>
          <a:noFill/>
          <a:ln/>
        </p:spPr>
        <p:txBody>
          <a:bodyPr wrap="square" lIns="0" tIns="0" rIns="0" bIns="0" rtlCol="0" anchor="t">
            <a:normAutofit/>
          </a:bodyPr>
          <a:lstStyle/>
          <a:p>
            <a:pPr algn="l" indent="0" marL="0">
              <a:buNone/>
            </a:pPr>
            <a:r>
              <a:rPr lang="en-US" sz="1050" b="1" dirty="0">
                <a:solidFill>
                  <a:srgbClr val="102A43"/>
                </a:solidFill>
                <a:latin typeface="Aptos" pitchFamily="34" charset="0"/>
                <a:ea typeface="Aptos" pitchFamily="34" charset="-122"/>
                <a:cs typeface="Aptos" pitchFamily="34" charset="-120"/>
              </a:rPr>
              <a:t>Commercial role</a:t>
            </a:r>
            <a:endParaRPr lang="en-US" sz="1050" dirty="0"/>
          </a:p>
        </p:txBody>
      </p:sp>
      <p:sp>
        <p:nvSpPr>
          <p:cNvPr id="47" name="Shape 45"/>
          <p:cNvSpPr/>
          <p:nvPr/>
        </p:nvSpPr>
        <p:spPr>
          <a:xfrm>
            <a:off x="2834640" y="4745736"/>
            <a:ext cx="2926080" cy="603504"/>
          </a:xfrm>
          <a:prstGeom prst="rect">
            <a:avLst/>
          </a:prstGeom>
          <a:solidFill>
            <a:srgbClr val="FFFFFF"/>
          </a:solidFill>
          <a:ln w="8890">
            <a:solidFill>
              <a:srgbClr val="D7E0E8"/>
            </a:solidFill>
            <a:prstDash val="solid"/>
          </a:ln>
        </p:spPr>
      </p:sp>
      <p:sp>
        <p:nvSpPr>
          <p:cNvPr id="48" name="Text 46"/>
          <p:cNvSpPr/>
          <p:nvPr/>
        </p:nvSpPr>
        <p:spPr>
          <a:xfrm>
            <a:off x="2926080" y="4828032"/>
            <a:ext cx="2743200" cy="420624"/>
          </a:xfrm>
          <a:prstGeom prst="rect">
            <a:avLst/>
          </a:prstGeom>
          <a:noFill/>
          <a:ln/>
        </p:spPr>
        <p:txBody>
          <a:bodyPr wrap="square" lIns="0" tIns="0" rIns="0" bIns="0" rtlCol="0" anchor="t">
            <a:normAutofit/>
          </a:bodyPr>
          <a:lstStyle/>
          <a:p>
            <a:pPr algn="l" indent="0" marL="0">
              <a:buNone/>
            </a:pPr>
            <a:r>
              <a:rPr lang="en-US" sz="980" dirty="0">
                <a:solidFill>
                  <a:srgbClr val="203040"/>
                </a:solidFill>
                <a:latin typeface="Aptos" pitchFamily="34" charset="0"/>
                <a:ea typeface="Aptos" pitchFamily="34" charset="-122"/>
                <a:cs typeface="Aptos" pitchFamily="34" charset="-120"/>
              </a:rPr>
              <a:t>Broad utilization across specialties</a:t>
            </a:r>
            <a:endParaRPr lang="en-US" sz="980" dirty="0"/>
          </a:p>
        </p:txBody>
      </p:sp>
      <p:sp>
        <p:nvSpPr>
          <p:cNvPr id="49" name="Shape 47"/>
          <p:cNvSpPr/>
          <p:nvPr/>
        </p:nvSpPr>
        <p:spPr>
          <a:xfrm>
            <a:off x="5760720" y="4745736"/>
            <a:ext cx="2926080" cy="603504"/>
          </a:xfrm>
          <a:prstGeom prst="rect">
            <a:avLst/>
          </a:prstGeom>
          <a:solidFill>
            <a:srgbClr val="FFFFFF"/>
          </a:solidFill>
          <a:ln w="8890">
            <a:solidFill>
              <a:srgbClr val="D7E0E8"/>
            </a:solidFill>
            <a:prstDash val="solid"/>
          </a:ln>
        </p:spPr>
      </p:sp>
      <p:sp>
        <p:nvSpPr>
          <p:cNvPr id="50" name="Text 48"/>
          <p:cNvSpPr/>
          <p:nvPr/>
        </p:nvSpPr>
        <p:spPr>
          <a:xfrm>
            <a:off x="5852160" y="4828032"/>
            <a:ext cx="2743200" cy="420624"/>
          </a:xfrm>
          <a:prstGeom prst="rect">
            <a:avLst/>
          </a:prstGeom>
          <a:noFill/>
          <a:ln/>
        </p:spPr>
        <p:txBody>
          <a:bodyPr wrap="square" lIns="0" tIns="0" rIns="0" bIns="0" rtlCol="0" anchor="t">
            <a:normAutofit/>
          </a:bodyPr>
          <a:lstStyle/>
          <a:p>
            <a:pPr algn="l" indent="0" marL="0">
              <a:buNone/>
            </a:pPr>
            <a:r>
              <a:rPr lang="en-US" sz="980" dirty="0">
                <a:solidFill>
                  <a:srgbClr val="203040"/>
                </a:solidFill>
                <a:latin typeface="Aptos" pitchFamily="34" charset="0"/>
                <a:ea typeface="Aptos" pitchFamily="34" charset="-122"/>
                <a:cs typeface="Aptos" pitchFamily="34" charset="-120"/>
              </a:rPr>
              <a:t>Focused, higher-value service line</a:t>
            </a:r>
            <a:endParaRPr lang="en-US" sz="980" dirty="0"/>
          </a:p>
        </p:txBody>
      </p:sp>
      <p:sp>
        <p:nvSpPr>
          <p:cNvPr id="51" name="Shape 49"/>
          <p:cNvSpPr/>
          <p:nvPr/>
        </p:nvSpPr>
        <p:spPr>
          <a:xfrm>
            <a:off x="8686800" y="4745736"/>
            <a:ext cx="2926080" cy="603504"/>
          </a:xfrm>
          <a:prstGeom prst="rect">
            <a:avLst/>
          </a:prstGeom>
          <a:solidFill>
            <a:srgbClr val="FFFFFF"/>
          </a:solidFill>
          <a:ln w="8890">
            <a:solidFill>
              <a:srgbClr val="D7E0E8"/>
            </a:solidFill>
            <a:prstDash val="solid"/>
          </a:ln>
        </p:spPr>
      </p:sp>
      <p:sp>
        <p:nvSpPr>
          <p:cNvPr id="52" name="Text 50"/>
          <p:cNvSpPr/>
          <p:nvPr/>
        </p:nvSpPr>
        <p:spPr>
          <a:xfrm>
            <a:off x="8778240" y="4828032"/>
            <a:ext cx="2743200" cy="420624"/>
          </a:xfrm>
          <a:prstGeom prst="rect">
            <a:avLst/>
          </a:prstGeom>
          <a:noFill/>
          <a:ln/>
        </p:spPr>
        <p:txBody>
          <a:bodyPr wrap="square" lIns="0" tIns="0" rIns="0" bIns="0" rtlCol="0" anchor="t">
            <a:normAutofit/>
          </a:bodyPr>
          <a:lstStyle/>
          <a:p>
            <a:pPr algn="l" indent="0" marL="0">
              <a:buNone/>
            </a:pPr>
            <a:r>
              <a:rPr lang="en-US" sz="980" b="1" dirty="0">
                <a:solidFill>
                  <a:srgbClr val="203040"/>
                </a:solidFill>
                <a:latin typeface="Aptos" pitchFamily="34" charset="0"/>
                <a:ea typeface="Aptos" pitchFamily="34" charset="-122"/>
                <a:cs typeface="Aptos" pitchFamily="34" charset="-120"/>
              </a:rPr>
              <a:t>One expands the base; one elevates the offer</a:t>
            </a:r>
            <a:endParaRPr lang="en-US" sz="980" dirty="0"/>
          </a:p>
        </p:txBody>
      </p:sp>
      <p:sp>
        <p:nvSpPr>
          <p:cNvPr id="53" name="Shape 51"/>
          <p:cNvSpPr/>
          <p:nvPr/>
        </p:nvSpPr>
        <p:spPr>
          <a:xfrm>
            <a:off x="594360" y="5349240"/>
            <a:ext cx="2240280" cy="603504"/>
          </a:xfrm>
          <a:prstGeom prst="rect">
            <a:avLst/>
          </a:prstGeom>
          <a:solidFill>
            <a:srgbClr val="F8FAFC"/>
          </a:solidFill>
          <a:ln w="8890">
            <a:solidFill>
              <a:srgbClr val="D7E0E8"/>
            </a:solidFill>
            <a:prstDash val="solid"/>
          </a:ln>
        </p:spPr>
      </p:sp>
      <p:sp>
        <p:nvSpPr>
          <p:cNvPr id="54" name="Text 52"/>
          <p:cNvSpPr/>
          <p:nvPr/>
        </p:nvSpPr>
        <p:spPr>
          <a:xfrm>
            <a:off x="685800" y="5431536"/>
            <a:ext cx="2057400" cy="420624"/>
          </a:xfrm>
          <a:prstGeom prst="rect">
            <a:avLst/>
          </a:prstGeom>
          <a:noFill/>
          <a:ln/>
        </p:spPr>
        <p:txBody>
          <a:bodyPr wrap="square" lIns="0" tIns="0" rIns="0" bIns="0" rtlCol="0" anchor="t">
            <a:normAutofit/>
          </a:bodyPr>
          <a:lstStyle/>
          <a:p>
            <a:pPr algn="l" indent="0" marL="0">
              <a:buNone/>
            </a:pPr>
            <a:r>
              <a:rPr lang="en-US" sz="1050" b="1" dirty="0">
                <a:solidFill>
                  <a:srgbClr val="102A43"/>
                </a:solidFill>
                <a:latin typeface="Aptos" pitchFamily="34" charset="0"/>
                <a:ea typeface="Aptos" pitchFamily="34" charset="-122"/>
                <a:cs typeface="Aptos" pitchFamily="34" charset="-120"/>
              </a:rPr>
              <a:t>Proof points</a:t>
            </a:r>
            <a:endParaRPr lang="en-US" sz="1050" dirty="0"/>
          </a:p>
        </p:txBody>
      </p:sp>
      <p:sp>
        <p:nvSpPr>
          <p:cNvPr id="55" name="Shape 53"/>
          <p:cNvSpPr/>
          <p:nvPr/>
        </p:nvSpPr>
        <p:spPr>
          <a:xfrm>
            <a:off x="2834640" y="5349240"/>
            <a:ext cx="2926080" cy="603504"/>
          </a:xfrm>
          <a:prstGeom prst="rect">
            <a:avLst/>
          </a:prstGeom>
          <a:solidFill>
            <a:srgbClr val="F8FAFC"/>
          </a:solidFill>
          <a:ln w="8890">
            <a:solidFill>
              <a:srgbClr val="D7E0E8"/>
            </a:solidFill>
            <a:prstDash val="solid"/>
          </a:ln>
        </p:spPr>
      </p:sp>
      <p:sp>
        <p:nvSpPr>
          <p:cNvPr id="56" name="Text 54"/>
          <p:cNvSpPr/>
          <p:nvPr/>
        </p:nvSpPr>
        <p:spPr>
          <a:xfrm>
            <a:off x="2926080" y="5431536"/>
            <a:ext cx="2743200" cy="420624"/>
          </a:xfrm>
          <a:prstGeom prst="rect">
            <a:avLst/>
          </a:prstGeom>
          <a:noFill/>
          <a:ln/>
        </p:spPr>
        <p:txBody>
          <a:bodyPr wrap="square" lIns="0" tIns="0" rIns="0" bIns="0" rtlCol="0" anchor="t">
            <a:normAutofit/>
          </a:bodyPr>
          <a:lstStyle/>
          <a:p>
            <a:pPr algn="l" indent="0" marL="0">
              <a:buNone/>
            </a:pPr>
            <a:r>
              <a:rPr lang="en-US" sz="980" dirty="0">
                <a:solidFill>
                  <a:srgbClr val="203040"/>
                </a:solidFill>
                <a:latin typeface="Aptos" pitchFamily="34" charset="0"/>
                <a:ea typeface="Aptos" pitchFamily="34" charset="-122"/>
                <a:cs typeface="Aptos" pitchFamily="34" charset="-120"/>
              </a:rPr>
              <a:t>Power, stability, 448 kHz, accessories</a:t>
            </a:r>
            <a:endParaRPr lang="en-US" sz="980" dirty="0"/>
          </a:p>
        </p:txBody>
      </p:sp>
      <p:sp>
        <p:nvSpPr>
          <p:cNvPr id="57" name="Shape 55"/>
          <p:cNvSpPr/>
          <p:nvPr/>
        </p:nvSpPr>
        <p:spPr>
          <a:xfrm>
            <a:off x="5760720" y="5349240"/>
            <a:ext cx="2926080" cy="603504"/>
          </a:xfrm>
          <a:prstGeom prst="rect">
            <a:avLst/>
          </a:prstGeom>
          <a:solidFill>
            <a:srgbClr val="F8FAFC"/>
          </a:solidFill>
          <a:ln w="8890">
            <a:solidFill>
              <a:srgbClr val="D7E0E8"/>
            </a:solidFill>
            <a:prstDash val="solid"/>
          </a:ln>
        </p:spPr>
      </p:sp>
      <p:sp>
        <p:nvSpPr>
          <p:cNvPr id="58" name="Text 56"/>
          <p:cNvSpPr/>
          <p:nvPr/>
        </p:nvSpPr>
        <p:spPr>
          <a:xfrm>
            <a:off x="5852160" y="5431536"/>
            <a:ext cx="2743200" cy="420624"/>
          </a:xfrm>
          <a:prstGeom prst="rect">
            <a:avLst/>
          </a:prstGeom>
          <a:noFill/>
          <a:ln/>
        </p:spPr>
        <p:txBody>
          <a:bodyPr wrap="square" lIns="0" tIns="0" rIns="0" bIns="0" rtlCol="0" anchor="t">
            <a:normAutofit/>
          </a:bodyPr>
          <a:lstStyle/>
          <a:p>
            <a:pPr algn="l" indent="0" marL="0">
              <a:buNone/>
            </a:pPr>
            <a:r>
              <a:rPr lang="en-US" sz="980" dirty="0">
                <a:solidFill>
                  <a:srgbClr val="203040"/>
                </a:solidFill>
                <a:latin typeface="Aptos" pitchFamily="34" charset="0"/>
                <a:ea typeface="Aptos" pitchFamily="34" charset="-122"/>
                <a:cs typeface="Aptos" pitchFamily="34" charset="-120"/>
              </a:rPr>
              <a:t>15,000 W/cm², ≤100 μs, 10″ UI</a:t>
            </a:r>
            <a:endParaRPr lang="en-US" sz="980" dirty="0"/>
          </a:p>
        </p:txBody>
      </p:sp>
      <p:sp>
        <p:nvSpPr>
          <p:cNvPr id="59" name="Shape 57"/>
          <p:cNvSpPr/>
          <p:nvPr/>
        </p:nvSpPr>
        <p:spPr>
          <a:xfrm>
            <a:off x="8686800" y="5349240"/>
            <a:ext cx="2926080" cy="603504"/>
          </a:xfrm>
          <a:prstGeom prst="rect">
            <a:avLst/>
          </a:prstGeom>
          <a:solidFill>
            <a:srgbClr val="F8FAFC"/>
          </a:solidFill>
          <a:ln w="8890">
            <a:solidFill>
              <a:srgbClr val="D7E0E8"/>
            </a:solidFill>
            <a:prstDash val="solid"/>
          </a:ln>
        </p:spPr>
      </p:sp>
      <p:sp>
        <p:nvSpPr>
          <p:cNvPr id="60" name="Text 58"/>
          <p:cNvSpPr/>
          <p:nvPr/>
        </p:nvSpPr>
        <p:spPr>
          <a:xfrm>
            <a:off x="8778240" y="5431536"/>
            <a:ext cx="2743200" cy="420624"/>
          </a:xfrm>
          <a:prstGeom prst="rect">
            <a:avLst/>
          </a:prstGeom>
          <a:noFill/>
          <a:ln/>
        </p:spPr>
        <p:txBody>
          <a:bodyPr wrap="square" lIns="0" tIns="0" rIns="0" bIns="0" rtlCol="0" anchor="t">
            <a:normAutofit/>
          </a:bodyPr>
          <a:lstStyle/>
          <a:p>
            <a:pPr algn="l" indent="0" marL="0">
              <a:buNone/>
            </a:pPr>
            <a:r>
              <a:rPr lang="en-US" sz="980" b="1" dirty="0">
                <a:solidFill>
                  <a:srgbClr val="203040"/>
                </a:solidFill>
                <a:latin typeface="Aptos" pitchFamily="34" charset="0"/>
                <a:ea typeface="Aptos" pitchFamily="34" charset="-122"/>
                <a:cs typeface="Aptos" pitchFamily="34" charset="-120"/>
              </a:rPr>
              <a:t>Specific, memorable reasons to believe</a:t>
            </a:r>
            <a:endParaRPr lang="en-US" sz="980" dirty="0"/>
          </a:p>
        </p:txBody>
      </p:sp>
      <p:sp>
        <p:nvSpPr>
          <p:cNvPr id="61" name="Text 59"/>
          <p:cNvSpPr/>
          <p:nvPr/>
        </p:nvSpPr>
        <p:spPr>
          <a:xfrm>
            <a:off x="658368" y="6172200"/>
            <a:ext cx="10789920" cy="182880"/>
          </a:xfrm>
          <a:prstGeom prst="rect">
            <a:avLst/>
          </a:prstGeom>
          <a:noFill/>
          <a:ln/>
        </p:spPr>
        <p:txBody>
          <a:bodyPr wrap="square" lIns="0" tIns="0" rIns="0" bIns="0" rtlCol="0" anchor="ctr">
            <a:normAutofit/>
          </a:bodyPr>
          <a:lstStyle/>
          <a:p>
            <a:pPr algn="l" indent="0" marL="0">
              <a:buNone/>
            </a:pPr>
            <a:r>
              <a:rPr lang="en-US" sz="850" i="1" dirty="0">
                <a:solidFill>
                  <a:srgbClr val="6B7785"/>
                </a:solidFill>
                <a:latin typeface="Aptos" pitchFamily="34" charset="0"/>
                <a:ea typeface="Aptos" pitchFamily="34" charset="-122"/>
                <a:cs typeface="Aptos" pitchFamily="34" charset="-120"/>
              </a:rPr>
              <a:t>Clinical claims should always be presented within the manufacturer’s approved indications, training and local regulatory framework.</a:t>
            </a:r>
            <a:endParaRPr lang="en-US" sz="850" dirty="0"/>
          </a:p>
        </p:txBody>
      </p:sp>
      <p:sp>
        <p:nvSpPr>
          <p:cNvPr id="25" name="Slide Number Placeholder 0"/>
          <p:cNvSpPr>
            <a:spLocks noGrp="1"/>
          </p:cNvSpPr>
          <p:nvPr>
            <p:ph type="sldNum" sz="quarter" idx="4294967295"/>
          </p:nvPr>
        </p:nvSpPr>
        <p:spPr>
          <a:xfrm>
            <a:off x="11841480" y="6492240"/>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785"/>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4389120" cy="201168"/>
          </a:xfrm>
          <a:prstGeom prst="rect">
            <a:avLst/>
          </a:prstGeom>
          <a:noFill/>
          <a:ln/>
        </p:spPr>
        <p:txBody>
          <a:bodyPr wrap="square" lIns="0" tIns="0" rIns="0" bIns="0" rtlCol="0" anchor="ctr">
            <a:normAutofit/>
          </a:bodyPr>
          <a:lstStyle/>
          <a:p>
            <a:pPr algn="l" indent="0" marL="0">
              <a:buNone/>
            </a:pPr>
            <a:r>
              <a:rPr lang="en-US" sz="950" b="1" dirty="0">
                <a:solidFill>
                  <a:srgbClr val="16B8C4"/>
                </a:solidFill>
                <a:latin typeface="Aptos" pitchFamily="34" charset="0"/>
                <a:ea typeface="Aptos" pitchFamily="34" charset="-122"/>
                <a:cs typeface="Aptos" pitchFamily="34" charset="-120"/>
              </a:rPr>
              <a:t>USE CASE 01</a:t>
            </a:r>
            <a:endParaRPr lang="en-US" sz="950" dirty="0"/>
          </a:p>
        </p:txBody>
      </p:sp>
      <p:sp>
        <p:nvSpPr>
          <p:cNvPr id="3" name="Text 1"/>
          <p:cNvSpPr/>
          <p:nvPr/>
        </p:nvSpPr>
        <p:spPr>
          <a:xfrm>
            <a:off x="548640" y="658368"/>
            <a:ext cx="10789920" cy="512064"/>
          </a:xfrm>
          <a:prstGeom prst="rect">
            <a:avLst/>
          </a:prstGeom>
          <a:noFill/>
          <a:ln/>
        </p:spPr>
        <p:txBody>
          <a:bodyPr wrap="square" lIns="0" tIns="0" rIns="0" bIns="0" rtlCol="0" anchor="ctr">
            <a:normAutofit/>
          </a:bodyPr>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Sports clinic: from acute complaint to return-to-play</a:t>
            </a:r>
            <a:endParaRPr lang="en-US" sz="2800" dirty="0"/>
          </a:p>
        </p:txBody>
      </p:sp>
      <p:sp>
        <p:nvSpPr>
          <p:cNvPr id="4" name="Text 2"/>
          <p:cNvSpPr/>
          <p:nvPr/>
        </p:nvSpPr>
        <p:spPr>
          <a:xfrm>
            <a:off x="548640" y="1207008"/>
            <a:ext cx="10515600" cy="292608"/>
          </a:xfrm>
          <a:prstGeom prst="rect">
            <a:avLst/>
          </a:prstGeom>
          <a:noFill/>
          <a:ln/>
        </p:spPr>
        <p:txBody>
          <a:bodyPr wrap="square" lIns="0" tIns="0" rIns="0" bIns="0" rtlCol="0" anchor="ctr">
            <a:normAutofit/>
          </a:bodyPr>
          <a:lstStyle/>
          <a:p>
            <a:pPr algn="l" indent="0" marL="0">
              <a:buNone/>
            </a:pPr>
            <a:r>
              <a:rPr lang="en-US" sz="1250" dirty="0">
                <a:solidFill>
                  <a:srgbClr val="6B7785"/>
                </a:solidFill>
                <a:latin typeface="Aptos" pitchFamily="34" charset="0"/>
                <a:ea typeface="Aptos" pitchFamily="34" charset="-122"/>
                <a:cs typeface="Aptos" pitchFamily="34" charset="-120"/>
              </a:rPr>
              <a:t>A service-line story that combines speed, comfort and clinical progression.</a:t>
            </a:r>
            <a:endParaRPr lang="en-US" sz="1250" dirty="0"/>
          </a:p>
        </p:txBody>
      </p:sp>
      <p:pic>
        <p:nvPicPr>
          <p:cNvPr id="5" name="Image 0" descr="G:\herott\assets\sport-physio.jpg">    </p:cNvPr>
          <p:cNvPicPr>
            <a:picLocks noChangeAspect="1"/>
          </p:cNvPicPr>
          <p:nvPr/>
        </p:nvPicPr>
        <p:blipFill>
          <a:blip r:embed="rId1"/>
          <a:srcRect l="0" r="0" t="0" b="0"/>
          <a:stretch/>
        </p:blipFill>
        <p:spPr>
          <a:xfrm>
            <a:off x="548640" y="1783080"/>
            <a:ext cx="3840480" cy="4251960"/>
          </a:xfrm>
          <a:prstGeom prst="rect">
            <a:avLst/>
          </a:prstGeom>
        </p:spPr>
      </p:pic>
      <p:sp>
        <p:nvSpPr>
          <p:cNvPr id="6" name="Shape 3"/>
          <p:cNvSpPr/>
          <p:nvPr/>
        </p:nvSpPr>
        <p:spPr>
          <a:xfrm>
            <a:off x="548640" y="1783080"/>
            <a:ext cx="3840480" cy="4251960"/>
          </a:xfrm>
          <a:prstGeom prst="rect">
            <a:avLst/>
          </a:prstGeom>
          <a:solidFill>
            <a:srgbClr val="0B1F33">
              <a:alpha val="30000"/>
            </a:srgbClr>
          </a:solidFill>
          <a:ln w="12700">
            <a:solidFill>
              <a:srgbClr val="0B1F33">
                <a:alpha val="0"/>
              </a:srgbClr>
            </a:solidFill>
            <a:prstDash val="solid"/>
          </a:ln>
        </p:spPr>
      </p:sp>
      <p:sp>
        <p:nvSpPr>
          <p:cNvPr id="7" name="Text 4"/>
          <p:cNvSpPr/>
          <p:nvPr/>
        </p:nvSpPr>
        <p:spPr>
          <a:xfrm>
            <a:off x="841248" y="2103120"/>
            <a:ext cx="1828800" cy="228600"/>
          </a:xfrm>
          <a:prstGeom prst="rect">
            <a:avLst/>
          </a:prstGeom>
          <a:noFill/>
          <a:ln/>
        </p:spPr>
        <p:txBody>
          <a:bodyPr wrap="square" lIns="0" tIns="0" rIns="0" bIns="0" rtlCol="0" anchor="ctr">
            <a:normAutofit/>
          </a:bodyPr>
          <a:lstStyle/>
          <a:p>
            <a:pPr algn="l" indent="0" marL="0">
              <a:buNone/>
            </a:pPr>
            <a:r>
              <a:rPr lang="en-US" sz="1000" b="1" dirty="0">
                <a:solidFill>
                  <a:srgbClr val="16B8C4"/>
                </a:solidFill>
                <a:latin typeface="Aptos" pitchFamily="34" charset="0"/>
                <a:ea typeface="Aptos" pitchFamily="34" charset="-122"/>
                <a:cs typeface="Aptos" pitchFamily="34" charset="-120"/>
              </a:rPr>
              <a:t>SPORTS REHAB</a:t>
            </a:r>
            <a:endParaRPr lang="en-US" sz="1000" dirty="0"/>
          </a:p>
        </p:txBody>
      </p:sp>
      <p:sp>
        <p:nvSpPr>
          <p:cNvPr id="8" name="Text 5"/>
          <p:cNvSpPr/>
          <p:nvPr/>
        </p:nvSpPr>
        <p:spPr>
          <a:xfrm>
            <a:off x="841248" y="2487168"/>
            <a:ext cx="2926080" cy="713232"/>
          </a:xfrm>
          <a:prstGeom prst="rect">
            <a:avLst/>
          </a:prstGeom>
          <a:noFill/>
          <a:ln/>
        </p:spPr>
        <p:txBody>
          <a:bodyPr wrap="square" lIns="0" tIns="0" rIns="0" bIns="0" rtlCol="0" anchor="t">
            <a:normAutofit/>
          </a:bodyPr>
          <a:lstStyle/>
          <a:p>
            <a:pPr algn="l" indent="0" marL="0">
              <a:buNone/>
            </a:pPr>
            <a:r>
              <a:rPr lang="en-US" sz="2400" b="1" dirty="0">
                <a:solidFill>
                  <a:srgbClr val="FFFFFF"/>
                </a:solidFill>
                <a:latin typeface="Aptos Display" pitchFamily="34" charset="0"/>
                <a:ea typeface="Aptos Display" pitchFamily="34" charset="-122"/>
                <a:cs typeface="Aptos Display" pitchFamily="34" charset="-120"/>
              </a:rPr>
              <a:t>The patient wants confidence, not just relief.</a:t>
            </a:r>
            <a:endParaRPr lang="en-US" sz="2400" dirty="0"/>
          </a:p>
        </p:txBody>
      </p:sp>
      <p:sp>
        <p:nvSpPr>
          <p:cNvPr id="9" name="Text 6"/>
          <p:cNvSpPr/>
          <p:nvPr/>
        </p:nvSpPr>
        <p:spPr>
          <a:xfrm>
            <a:off x="841248" y="3657600"/>
            <a:ext cx="2834640" cy="822960"/>
          </a:xfrm>
          <a:prstGeom prst="rect">
            <a:avLst/>
          </a:prstGeom>
          <a:noFill/>
          <a:ln/>
        </p:spPr>
        <p:txBody>
          <a:bodyPr wrap="square" lIns="0" tIns="0" rIns="0" bIns="0" rtlCol="0" anchor="t">
            <a:normAutofit/>
          </a:bodyPr>
          <a:lstStyle/>
          <a:p>
            <a:pPr algn="l" indent="0" marL="0">
              <a:buNone/>
            </a:pPr>
            <a:r>
              <a:rPr lang="en-US" sz="1300" dirty="0">
                <a:solidFill>
                  <a:srgbClr val="E8F1F5"/>
                </a:solidFill>
                <a:latin typeface="Aptos" pitchFamily="34" charset="0"/>
                <a:ea typeface="Aptos" pitchFamily="34" charset="-122"/>
                <a:cs typeface="Aptos" pitchFamily="34" charset="-120"/>
              </a:rPr>
              <a:t>The clinic needs a pathway that is visible, repeatable and easy to communicate to athletes, coaches and parents.</a:t>
            </a:r>
            <a:endParaRPr lang="en-US" sz="1300" dirty="0"/>
          </a:p>
        </p:txBody>
      </p:sp>
      <p:sp>
        <p:nvSpPr>
          <p:cNvPr id="10" name="Shape 7"/>
          <p:cNvSpPr/>
          <p:nvPr/>
        </p:nvSpPr>
        <p:spPr>
          <a:xfrm>
            <a:off x="4846320" y="2057400"/>
            <a:ext cx="6675120" cy="786384"/>
          </a:xfrm>
          <a:prstGeom prst="roundRect">
            <a:avLst>
              <a:gd name="adj" fmla="val 9302"/>
            </a:avLst>
          </a:prstGeom>
          <a:solidFill>
            <a:srgbClr val="FFFFFF"/>
          </a:solidFill>
          <a:ln w="12700">
            <a:solidFill>
              <a:srgbClr val="D7E0E8"/>
            </a:solidFill>
            <a:prstDash val="solid"/>
          </a:ln>
        </p:spPr>
      </p:sp>
      <p:sp>
        <p:nvSpPr>
          <p:cNvPr id="11" name="Text 8"/>
          <p:cNvSpPr/>
          <p:nvPr/>
        </p:nvSpPr>
        <p:spPr>
          <a:xfrm>
            <a:off x="5102352" y="2203704"/>
            <a:ext cx="365760" cy="256032"/>
          </a:xfrm>
          <a:prstGeom prst="rect">
            <a:avLst/>
          </a:prstGeom>
          <a:noFill/>
          <a:ln/>
        </p:spPr>
        <p:txBody>
          <a:bodyPr wrap="square" lIns="0" tIns="0" rIns="0" bIns="0" rtlCol="0" anchor="ctr">
            <a:normAutofit/>
          </a:bodyPr>
          <a:lstStyle/>
          <a:p>
            <a:pPr algn="l" indent="0" marL="0">
              <a:buNone/>
            </a:pPr>
            <a:r>
              <a:rPr lang="en-US" sz="1700" b="1" dirty="0">
                <a:solidFill>
                  <a:srgbClr val="16B8C4"/>
                </a:solidFill>
                <a:latin typeface="Aptos Display" pitchFamily="34" charset="0"/>
                <a:ea typeface="Aptos Display" pitchFamily="34" charset="-122"/>
                <a:cs typeface="Aptos Display" pitchFamily="34" charset="-120"/>
              </a:rPr>
              <a:t>01</a:t>
            </a:r>
            <a:endParaRPr lang="en-US" sz="1700" dirty="0"/>
          </a:p>
        </p:txBody>
      </p:sp>
      <p:sp>
        <p:nvSpPr>
          <p:cNvPr id="12" name="Text 9"/>
          <p:cNvSpPr/>
          <p:nvPr/>
        </p:nvSpPr>
        <p:spPr>
          <a:xfrm>
            <a:off x="5669280" y="2185416"/>
            <a:ext cx="1005840" cy="228600"/>
          </a:xfrm>
          <a:prstGeom prst="rect">
            <a:avLst/>
          </a:prstGeom>
          <a:noFill/>
          <a:ln/>
        </p:spPr>
        <p:txBody>
          <a:bodyPr wrap="square" lIns="0" tIns="0" rIns="0" bIns="0" rtlCol="0" anchor="ctr">
            <a:normAutofit/>
          </a:bodyPr>
          <a:lstStyle/>
          <a:p>
            <a:pPr algn="l" indent="0" marL="0">
              <a:buNone/>
            </a:pPr>
            <a:r>
              <a:rPr lang="en-US" sz="1300" b="1" dirty="0">
                <a:solidFill>
                  <a:srgbClr val="102A43"/>
                </a:solidFill>
                <a:latin typeface="Aptos" pitchFamily="34" charset="0"/>
                <a:ea typeface="Aptos" pitchFamily="34" charset="-122"/>
                <a:cs typeface="Aptos" pitchFamily="34" charset="-120"/>
              </a:rPr>
              <a:t>Settle</a:t>
            </a:r>
            <a:endParaRPr lang="en-US" sz="1300" dirty="0"/>
          </a:p>
        </p:txBody>
      </p:sp>
      <p:sp>
        <p:nvSpPr>
          <p:cNvPr id="13" name="Text 10"/>
          <p:cNvSpPr/>
          <p:nvPr/>
        </p:nvSpPr>
        <p:spPr>
          <a:xfrm>
            <a:off x="6812280" y="2176272"/>
            <a:ext cx="4160520" cy="292608"/>
          </a:xfrm>
          <a:prstGeom prst="rect">
            <a:avLst/>
          </a:prstGeom>
          <a:noFill/>
          <a:ln/>
        </p:spPr>
        <p:txBody>
          <a:bodyPr wrap="square" lIns="0" tIns="0" rIns="0" bIns="0" rtlCol="0" anchor="t">
            <a:normAutofit/>
          </a:bodyPr>
          <a:lstStyle/>
          <a:p>
            <a:pPr algn="l" indent="0" marL="0">
              <a:buNone/>
            </a:pPr>
            <a:r>
              <a:rPr lang="en-US" sz="1150" dirty="0">
                <a:solidFill>
                  <a:srgbClr val="203040"/>
                </a:solidFill>
                <a:latin typeface="Aptos" pitchFamily="34" charset="0"/>
                <a:ea typeface="Aptos" pitchFamily="34" charset="-122"/>
                <a:cs typeface="Aptos" pitchFamily="34" charset="-120"/>
              </a:rPr>
              <a:t>CT9 supports comfort and tissue preparation.</a:t>
            </a:r>
            <a:endParaRPr lang="en-US" sz="1150" dirty="0"/>
          </a:p>
        </p:txBody>
      </p:sp>
      <p:sp>
        <p:nvSpPr>
          <p:cNvPr id="14" name="Shape 11"/>
          <p:cNvSpPr/>
          <p:nvPr/>
        </p:nvSpPr>
        <p:spPr>
          <a:xfrm>
            <a:off x="4846320" y="3127248"/>
            <a:ext cx="6675120" cy="786384"/>
          </a:xfrm>
          <a:prstGeom prst="roundRect">
            <a:avLst>
              <a:gd name="adj" fmla="val 9302"/>
            </a:avLst>
          </a:prstGeom>
          <a:solidFill>
            <a:srgbClr val="FFF1ED"/>
          </a:solidFill>
          <a:ln w="12700">
            <a:solidFill>
              <a:srgbClr val="F6CFC7"/>
            </a:solidFill>
            <a:prstDash val="solid"/>
          </a:ln>
        </p:spPr>
      </p:sp>
      <p:sp>
        <p:nvSpPr>
          <p:cNvPr id="15" name="Text 12"/>
          <p:cNvSpPr/>
          <p:nvPr/>
        </p:nvSpPr>
        <p:spPr>
          <a:xfrm>
            <a:off x="5102352" y="3273552"/>
            <a:ext cx="365760" cy="256032"/>
          </a:xfrm>
          <a:prstGeom prst="rect">
            <a:avLst/>
          </a:prstGeom>
          <a:noFill/>
          <a:ln/>
        </p:spPr>
        <p:txBody>
          <a:bodyPr wrap="square" lIns="0" tIns="0" rIns="0" bIns="0" rtlCol="0" anchor="ctr">
            <a:normAutofit/>
          </a:bodyPr>
          <a:lstStyle/>
          <a:p>
            <a:pPr algn="l" indent="0" marL="0">
              <a:buNone/>
            </a:pPr>
            <a:r>
              <a:rPr lang="en-US" sz="1700" b="1" dirty="0">
                <a:solidFill>
                  <a:srgbClr val="F47C6C"/>
                </a:solidFill>
                <a:latin typeface="Aptos Display" pitchFamily="34" charset="0"/>
                <a:ea typeface="Aptos Display" pitchFamily="34" charset="-122"/>
                <a:cs typeface="Aptos Display" pitchFamily="34" charset="-120"/>
              </a:rPr>
              <a:t>02</a:t>
            </a:r>
            <a:endParaRPr lang="en-US" sz="1700" dirty="0"/>
          </a:p>
        </p:txBody>
      </p:sp>
      <p:sp>
        <p:nvSpPr>
          <p:cNvPr id="16" name="Text 13"/>
          <p:cNvSpPr/>
          <p:nvPr/>
        </p:nvSpPr>
        <p:spPr>
          <a:xfrm>
            <a:off x="5669280" y="3255264"/>
            <a:ext cx="1005840" cy="228600"/>
          </a:xfrm>
          <a:prstGeom prst="rect">
            <a:avLst/>
          </a:prstGeom>
          <a:noFill/>
          <a:ln/>
        </p:spPr>
        <p:txBody>
          <a:bodyPr wrap="square" lIns="0" tIns="0" rIns="0" bIns="0" rtlCol="0" anchor="ctr">
            <a:normAutofit/>
          </a:bodyPr>
          <a:lstStyle/>
          <a:p>
            <a:pPr algn="l" indent="0" marL="0">
              <a:buNone/>
            </a:pPr>
            <a:r>
              <a:rPr lang="en-US" sz="1300" b="1" dirty="0">
                <a:solidFill>
                  <a:srgbClr val="102A43"/>
                </a:solidFill>
                <a:latin typeface="Aptos" pitchFamily="34" charset="0"/>
                <a:ea typeface="Aptos" pitchFamily="34" charset="-122"/>
                <a:cs typeface="Aptos" pitchFamily="34" charset="-120"/>
              </a:rPr>
              <a:t>Target</a:t>
            </a:r>
            <a:endParaRPr lang="en-US" sz="1300" dirty="0"/>
          </a:p>
        </p:txBody>
      </p:sp>
      <p:sp>
        <p:nvSpPr>
          <p:cNvPr id="17" name="Text 14"/>
          <p:cNvSpPr/>
          <p:nvPr/>
        </p:nvSpPr>
        <p:spPr>
          <a:xfrm>
            <a:off x="6812280" y="3246120"/>
            <a:ext cx="4160520" cy="292608"/>
          </a:xfrm>
          <a:prstGeom prst="rect">
            <a:avLst/>
          </a:prstGeom>
          <a:noFill/>
          <a:ln/>
        </p:spPr>
        <p:txBody>
          <a:bodyPr wrap="square" lIns="0" tIns="0" rIns="0" bIns="0" rtlCol="0" anchor="t">
            <a:normAutofit/>
          </a:bodyPr>
          <a:lstStyle/>
          <a:p>
            <a:pPr algn="l" indent="0" marL="0">
              <a:buNone/>
            </a:pPr>
            <a:r>
              <a:rPr lang="en-US" sz="1150" dirty="0">
                <a:solidFill>
                  <a:srgbClr val="203040"/>
                </a:solidFill>
                <a:latin typeface="Aptos" pitchFamily="34" charset="0"/>
                <a:ea typeface="Aptos" pitchFamily="34" charset="-122"/>
                <a:cs typeface="Aptos" pitchFamily="34" charset="-120"/>
              </a:rPr>
              <a:t>HIRO TT adds a focused, deeper intervention when appropriate.</a:t>
            </a:r>
            <a:endParaRPr lang="en-US" sz="1150" dirty="0"/>
          </a:p>
        </p:txBody>
      </p:sp>
      <p:sp>
        <p:nvSpPr>
          <p:cNvPr id="18" name="Shape 15"/>
          <p:cNvSpPr/>
          <p:nvPr/>
        </p:nvSpPr>
        <p:spPr>
          <a:xfrm>
            <a:off x="4846320" y="4197096"/>
            <a:ext cx="6675120" cy="786384"/>
          </a:xfrm>
          <a:prstGeom prst="roundRect">
            <a:avLst>
              <a:gd name="adj" fmla="val 9302"/>
            </a:avLst>
          </a:prstGeom>
          <a:solidFill>
            <a:srgbClr val="FFFFFF"/>
          </a:solidFill>
          <a:ln w="12700">
            <a:solidFill>
              <a:srgbClr val="D7E0E8"/>
            </a:solidFill>
            <a:prstDash val="solid"/>
          </a:ln>
        </p:spPr>
      </p:sp>
      <p:sp>
        <p:nvSpPr>
          <p:cNvPr id="19" name="Text 16"/>
          <p:cNvSpPr/>
          <p:nvPr/>
        </p:nvSpPr>
        <p:spPr>
          <a:xfrm>
            <a:off x="5102352" y="4343400"/>
            <a:ext cx="365760" cy="256032"/>
          </a:xfrm>
          <a:prstGeom prst="rect">
            <a:avLst/>
          </a:prstGeom>
          <a:noFill/>
          <a:ln/>
        </p:spPr>
        <p:txBody>
          <a:bodyPr wrap="square" lIns="0" tIns="0" rIns="0" bIns="0" rtlCol="0" anchor="ctr">
            <a:normAutofit/>
          </a:bodyPr>
          <a:lstStyle/>
          <a:p>
            <a:pPr algn="l" indent="0" marL="0">
              <a:buNone/>
            </a:pPr>
            <a:r>
              <a:rPr lang="en-US" sz="1700" b="1" dirty="0">
                <a:solidFill>
                  <a:srgbClr val="16B8C4"/>
                </a:solidFill>
                <a:latin typeface="Aptos Display" pitchFamily="34" charset="0"/>
                <a:ea typeface="Aptos Display" pitchFamily="34" charset="-122"/>
                <a:cs typeface="Aptos Display" pitchFamily="34" charset="-120"/>
              </a:rPr>
              <a:t>03</a:t>
            </a:r>
            <a:endParaRPr lang="en-US" sz="1700" dirty="0"/>
          </a:p>
        </p:txBody>
      </p:sp>
      <p:sp>
        <p:nvSpPr>
          <p:cNvPr id="20" name="Text 17"/>
          <p:cNvSpPr/>
          <p:nvPr/>
        </p:nvSpPr>
        <p:spPr>
          <a:xfrm>
            <a:off x="5669280" y="4325112"/>
            <a:ext cx="1005840" cy="228600"/>
          </a:xfrm>
          <a:prstGeom prst="rect">
            <a:avLst/>
          </a:prstGeom>
          <a:noFill/>
          <a:ln/>
        </p:spPr>
        <p:txBody>
          <a:bodyPr wrap="square" lIns="0" tIns="0" rIns="0" bIns="0" rtlCol="0" anchor="ctr">
            <a:normAutofit/>
          </a:bodyPr>
          <a:lstStyle/>
          <a:p>
            <a:pPr algn="l" indent="0" marL="0">
              <a:buNone/>
            </a:pPr>
            <a:r>
              <a:rPr lang="en-US" sz="1300" b="1" dirty="0">
                <a:solidFill>
                  <a:srgbClr val="102A43"/>
                </a:solidFill>
                <a:latin typeface="Aptos" pitchFamily="34" charset="0"/>
                <a:ea typeface="Aptos" pitchFamily="34" charset="-122"/>
                <a:cs typeface="Aptos" pitchFamily="34" charset="-120"/>
              </a:rPr>
              <a:t>Progress</a:t>
            </a:r>
            <a:endParaRPr lang="en-US" sz="1300" dirty="0"/>
          </a:p>
        </p:txBody>
      </p:sp>
      <p:sp>
        <p:nvSpPr>
          <p:cNvPr id="21" name="Text 18"/>
          <p:cNvSpPr/>
          <p:nvPr/>
        </p:nvSpPr>
        <p:spPr>
          <a:xfrm>
            <a:off x="6812280" y="4315968"/>
            <a:ext cx="4160520" cy="292608"/>
          </a:xfrm>
          <a:prstGeom prst="rect">
            <a:avLst/>
          </a:prstGeom>
          <a:noFill/>
          <a:ln/>
        </p:spPr>
        <p:txBody>
          <a:bodyPr wrap="square" lIns="0" tIns="0" rIns="0" bIns="0" rtlCol="0" anchor="t">
            <a:normAutofit/>
          </a:bodyPr>
          <a:lstStyle/>
          <a:p>
            <a:pPr algn="l" indent="0" marL="0">
              <a:buNone/>
            </a:pPr>
            <a:r>
              <a:rPr lang="en-US" sz="1150" dirty="0">
                <a:solidFill>
                  <a:srgbClr val="203040"/>
                </a:solidFill>
                <a:latin typeface="Aptos" pitchFamily="34" charset="0"/>
                <a:ea typeface="Aptos" pitchFamily="34" charset="-122"/>
                <a:cs typeface="Aptos" pitchFamily="34" charset="-120"/>
              </a:rPr>
              <a:t>Hands-on care and exercise carry the patient forward.</a:t>
            </a:r>
            <a:endParaRPr lang="en-US" sz="1150" dirty="0"/>
          </a:p>
        </p:txBody>
      </p:sp>
      <p:sp>
        <p:nvSpPr>
          <p:cNvPr id="22" name="Shape 19"/>
          <p:cNvSpPr/>
          <p:nvPr/>
        </p:nvSpPr>
        <p:spPr>
          <a:xfrm>
            <a:off x="4846320" y="5440680"/>
            <a:ext cx="6675120" cy="0"/>
          </a:xfrm>
          <a:prstGeom prst="line">
            <a:avLst/>
          </a:prstGeom>
          <a:noFill/>
          <a:ln w="15240">
            <a:solidFill>
              <a:srgbClr val="16B8C4"/>
            </a:solidFill>
            <a:prstDash val="solid"/>
          </a:ln>
        </p:spPr>
      </p:sp>
      <p:sp>
        <p:nvSpPr>
          <p:cNvPr id="23" name="Text 20"/>
          <p:cNvSpPr/>
          <p:nvPr/>
        </p:nvSpPr>
        <p:spPr>
          <a:xfrm>
            <a:off x="4846320" y="5623560"/>
            <a:ext cx="1417320" cy="201168"/>
          </a:xfrm>
          <a:prstGeom prst="rect">
            <a:avLst/>
          </a:prstGeom>
          <a:noFill/>
          <a:ln/>
        </p:spPr>
        <p:txBody>
          <a:bodyPr wrap="square" lIns="0" tIns="0" rIns="0" bIns="0" rtlCol="0" anchor="ctr">
            <a:normAutofit/>
          </a:bodyPr>
          <a:lstStyle/>
          <a:p>
            <a:pPr algn="l" indent="0" marL="0">
              <a:buNone/>
            </a:pPr>
            <a:r>
              <a:rPr lang="en-US" sz="1000" b="1" dirty="0">
                <a:solidFill>
                  <a:srgbClr val="6B7785"/>
                </a:solidFill>
                <a:latin typeface="Aptos" pitchFamily="34" charset="0"/>
                <a:ea typeface="Aptos" pitchFamily="34" charset="-122"/>
                <a:cs typeface="Aptos" pitchFamily="34" charset="-120"/>
              </a:rPr>
              <a:t>Business implication</a:t>
            </a:r>
            <a:endParaRPr lang="en-US" sz="1000" dirty="0"/>
          </a:p>
        </p:txBody>
      </p:sp>
      <p:sp>
        <p:nvSpPr>
          <p:cNvPr id="24" name="Text 21"/>
          <p:cNvSpPr/>
          <p:nvPr/>
        </p:nvSpPr>
        <p:spPr>
          <a:xfrm>
            <a:off x="6236208" y="5614416"/>
            <a:ext cx="5166360" cy="274320"/>
          </a:xfrm>
          <a:prstGeom prst="rect">
            <a:avLst/>
          </a:prstGeom>
          <a:noFill/>
          <a:ln/>
        </p:spPr>
        <p:txBody>
          <a:bodyPr wrap="square" lIns="0" tIns="0" rIns="0" bIns="0" rtlCol="0" anchor="ctr">
            <a:normAutofit/>
          </a:bodyPr>
          <a:lstStyle/>
          <a:p>
            <a:pPr algn="l" indent="0" marL="0">
              <a:buNone/>
            </a:pPr>
            <a:r>
              <a:rPr lang="en-US" sz="1250" b="1" dirty="0">
                <a:solidFill>
                  <a:srgbClr val="102A43"/>
                </a:solidFill>
                <a:latin typeface="Aptos" pitchFamily="34" charset="0"/>
                <a:ea typeface="Aptos" pitchFamily="34" charset="-122"/>
                <a:cs typeface="Aptos" pitchFamily="34" charset="-120"/>
              </a:rPr>
              <a:t>A clearer pathway supports repeat visits, stronger referrals and a premium sports-rehab identity.</a:t>
            </a:r>
            <a:endParaRPr lang="en-US" sz="1250" dirty="0"/>
          </a:p>
        </p:txBody>
      </p:sp>
      <p:sp>
        <p:nvSpPr>
          <p:cNvPr id="25" name="Slide Number Placeholder 0"/>
          <p:cNvSpPr>
            <a:spLocks noGrp="1"/>
          </p:cNvSpPr>
          <p:nvPr>
            <p:ph type="sldNum" sz="quarter" idx="4294967295"/>
          </p:nvPr>
        </p:nvSpPr>
        <p:spPr>
          <a:xfrm>
            <a:off x="11841480" y="6492240"/>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785"/>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4389120" cy="201168"/>
          </a:xfrm>
          <a:prstGeom prst="rect">
            <a:avLst/>
          </a:prstGeom>
          <a:noFill/>
          <a:ln/>
        </p:spPr>
        <p:txBody>
          <a:bodyPr wrap="square" lIns="0" tIns="0" rIns="0" bIns="0" rtlCol="0" anchor="ctr">
            <a:normAutofit/>
          </a:bodyPr>
          <a:lstStyle/>
          <a:p>
            <a:pPr algn="l" indent="0" marL="0">
              <a:buNone/>
            </a:pPr>
            <a:r>
              <a:rPr lang="en-US" sz="950" b="1" dirty="0">
                <a:solidFill>
                  <a:srgbClr val="16B8C4"/>
                </a:solidFill>
                <a:latin typeface="Aptos" pitchFamily="34" charset="0"/>
                <a:ea typeface="Aptos" pitchFamily="34" charset="-122"/>
                <a:cs typeface="Aptos" pitchFamily="34" charset="-120"/>
              </a:rPr>
              <a:t>USE CASE 02</a:t>
            </a:r>
            <a:endParaRPr lang="en-US" sz="950" dirty="0"/>
          </a:p>
        </p:txBody>
      </p:sp>
      <p:sp>
        <p:nvSpPr>
          <p:cNvPr id="3" name="Text 1"/>
          <p:cNvSpPr/>
          <p:nvPr/>
        </p:nvSpPr>
        <p:spPr>
          <a:xfrm>
            <a:off x="548640" y="658368"/>
            <a:ext cx="10789920" cy="512064"/>
          </a:xfrm>
          <a:prstGeom prst="rect">
            <a:avLst/>
          </a:prstGeom>
          <a:noFill/>
          <a:ln/>
        </p:spPr>
        <p:txBody>
          <a:bodyPr wrap="square" lIns="0" tIns="0" rIns="0" bIns="0" rtlCol="0" anchor="ctr">
            <a:normAutofit/>
          </a:bodyPr>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MSK and pain clinic: make the treatment feel purposeful</a:t>
            </a:r>
            <a:endParaRPr lang="en-US" sz="2800" dirty="0"/>
          </a:p>
        </p:txBody>
      </p:sp>
      <p:sp>
        <p:nvSpPr>
          <p:cNvPr id="4" name="Text 2"/>
          <p:cNvSpPr/>
          <p:nvPr/>
        </p:nvSpPr>
        <p:spPr>
          <a:xfrm>
            <a:off x="548640" y="1207008"/>
            <a:ext cx="10515600" cy="292608"/>
          </a:xfrm>
          <a:prstGeom prst="rect">
            <a:avLst/>
          </a:prstGeom>
          <a:noFill/>
          <a:ln/>
        </p:spPr>
        <p:txBody>
          <a:bodyPr wrap="square" lIns="0" tIns="0" rIns="0" bIns="0" rtlCol="0" anchor="ctr">
            <a:normAutofit/>
          </a:bodyPr>
          <a:lstStyle/>
          <a:p>
            <a:pPr algn="l" indent="0" marL="0">
              <a:buNone/>
            </a:pPr>
            <a:r>
              <a:rPr lang="en-US" sz="1250" dirty="0">
                <a:solidFill>
                  <a:srgbClr val="6B7785"/>
                </a:solidFill>
                <a:latin typeface="Aptos" pitchFamily="34" charset="0"/>
                <a:ea typeface="Aptos" pitchFamily="34" charset="-122"/>
                <a:cs typeface="Aptos" pitchFamily="34" charset="-120"/>
              </a:rPr>
              <a:t>The patient experience matters because it influences trust, adherence and perceived value.</a:t>
            </a:r>
            <a:endParaRPr lang="en-US" sz="1250" dirty="0"/>
          </a:p>
        </p:txBody>
      </p:sp>
      <p:sp>
        <p:nvSpPr>
          <p:cNvPr id="5" name="Shape 3"/>
          <p:cNvSpPr/>
          <p:nvPr/>
        </p:nvSpPr>
        <p:spPr>
          <a:xfrm>
            <a:off x="621792" y="1828800"/>
            <a:ext cx="10972800" cy="914400"/>
          </a:xfrm>
          <a:prstGeom prst="roundRect">
            <a:avLst>
              <a:gd name="adj" fmla="val 8000"/>
            </a:avLst>
          </a:prstGeom>
          <a:solidFill>
            <a:srgbClr val="102A43"/>
          </a:solidFill>
          <a:ln w="12700">
            <a:solidFill>
              <a:srgbClr val="102A43"/>
            </a:solidFill>
            <a:prstDash val="solid"/>
          </a:ln>
        </p:spPr>
      </p:sp>
      <p:sp>
        <p:nvSpPr>
          <p:cNvPr id="6" name="Text 4"/>
          <p:cNvSpPr/>
          <p:nvPr/>
        </p:nvSpPr>
        <p:spPr>
          <a:xfrm>
            <a:off x="896112" y="2057400"/>
            <a:ext cx="1508760" cy="182880"/>
          </a:xfrm>
          <a:prstGeom prst="rect">
            <a:avLst/>
          </a:prstGeom>
          <a:noFill/>
          <a:ln/>
        </p:spPr>
        <p:txBody>
          <a:bodyPr wrap="square" lIns="0" tIns="0" rIns="0" bIns="0" rtlCol="0" anchor="ctr">
            <a:normAutofit/>
          </a:bodyPr>
          <a:lstStyle/>
          <a:p>
            <a:pPr algn="l" indent="0" marL="0">
              <a:buNone/>
            </a:pPr>
            <a:r>
              <a:rPr lang="en-US" sz="900" b="1" dirty="0">
                <a:solidFill>
                  <a:srgbClr val="16B8C4"/>
                </a:solidFill>
                <a:latin typeface="Aptos" pitchFamily="34" charset="0"/>
                <a:ea typeface="Aptos" pitchFamily="34" charset="-122"/>
                <a:cs typeface="Aptos" pitchFamily="34" charset="-120"/>
              </a:rPr>
              <a:t>PATIENT LANGUAGE</a:t>
            </a:r>
            <a:endParaRPr lang="en-US" sz="900" dirty="0"/>
          </a:p>
        </p:txBody>
      </p:sp>
      <p:sp>
        <p:nvSpPr>
          <p:cNvPr id="7" name="Text 5"/>
          <p:cNvSpPr/>
          <p:nvPr/>
        </p:nvSpPr>
        <p:spPr>
          <a:xfrm>
            <a:off x="2606040" y="1993392"/>
            <a:ext cx="8183880" cy="320040"/>
          </a:xfrm>
          <a:prstGeom prst="rect">
            <a:avLst/>
          </a:prstGeom>
          <a:noFill/>
          <a:ln/>
        </p:spPr>
        <p:txBody>
          <a:bodyPr wrap="square" lIns="0" tIns="0" rIns="0" bIns="0" rtlCol="0" anchor="ctr">
            <a:normAutofit/>
          </a:bodyPr>
          <a:lstStyle/>
          <a:p>
            <a:pPr algn="l" indent="0" marL="0">
              <a:buNone/>
            </a:pPr>
            <a:r>
              <a:rPr lang="en-US" sz="2000" b="1" dirty="0">
                <a:solidFill>
                  <a:srgbClr val="FFFFFF"/>
                </a:solidFill>
                <a:latin typeface="Aptos Display" pitchFamily="34" charset="0"/>
                <a:ea typeface="Aptos Display" pitchFamily="34" charset="-122"/>
                <a:cs typeface="Aptos Display" pitchFamily="34" charset="-120"/>
              </a:rPr>
              <a:t>“I want something that feels active, targeted and worth coming back for.”</a:t>
            </a:r>
            <a:endParaRPr lang="en-US" sz="2000" dirty="0"/>
          </a:p>
        </p:txBody>
      </p:sp>
      <p:sp>
        <p:nvSpPr>
          <p:cNvPr id="8" name="Shape 6"/>
          <p:cNvSpPr/>
          <p:nvPr/>
        </p:nvSpPr>
        <p:spPr>
          <a:xfrm>
            <a:off x="658368" y="3246120"/>
            <a:ext cx="384048" cy="384048"/>
          </a:xfrm>
          <a:prstGeom prst="ellipse">
            <a:avLst/>
          </a:prstGeom>
          <a:solidFill>
            <a:srgbClr val="2F6BFF"/>
          </a:solidFill>
          <a:ln w="12700">
            <a:solidFill>
              <a:srgbClr val="2F6BFF"/>
            </a:solidFill>
            <a:prstDash val="solid"/>
          </a:ln>
        </p:spPr>
      </p:sp>
      <p:sp>
        <p:nvSpPr>
          <p:cNvPr id="9" name="Text 7"/>
          <p:cNvSpPr/>
          <p:nvPr/>
        </p:nvSpPr>
        <p:spPr>
          <a:xfrm>
            <a:off x="658368" y="3255264"/>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1</a:t>
            </a:r>
            <a:endParaRPr lang="en-US" sz="1600" dirty="0"/>
          </a:p>
        </p:txBody>
      </p:sp>
      <p:sp>
        <p:nvSpPr>
          <p:cNvPr id="10" name="Text 8"/>
          <p:cNvSpPr/>
          <p:nvPr/>
        </p:nvSpPr>
        <p:spPr>
          <a:xfrm>
            <a:off x="658368" y="3794760"/>
            <a:ext cx="2148840" cy="256032"/>
          </a:xfrm>
          <a:prstGeom prst="rect">
            <a:avLst/>
          </a:prstGeom>
          <a:noFill/>
          <a:ln/>
        </p:spPr>
        <p:txBody>
          <a:bodyPr wrap="square" lIns="0" tIns="0" rIns="0" bIns="0" rtlCol="0" anchor="ctr">
            <a:normAutofit/>
          </a:bodyPr>
          <a:lstStyle/>
          <a:p>
            <a:pPr algn="l" indent="0" marL="0">
              <a:buNone/>
            </a:pPr>
            <a:r>
              <a:rPr lang="en-US" sz="1600" b="1" dirty="0">
                <a:solidFill>
                  <a:srgbClr val="102A43"/>
                </a:solidFill>
                <a:latin typeface="Aptos" pitchFamily="34" charset="0"/>
                <a:ea typeface="Aptos" pitchFamily="34" charset="-122"/>
                <a:cs typeface="Aptos" pitchFamily="34" charset="-120"/>
              </a:rPr>
              <a:t>Listen</a:t>
            </a:r>
            <a:endParaRPr lang="en-US" sz="1600" dirty="0"/>
          </a:p>
        </p:txBody>
      </p:sp>
      <p:sp>
        <p:nvSpPr>
          <p:cNvPr id="11" name="Text 9"/>
          <p:cNvSpPr/>
          <p:nvPr/>
        </p:nvSpPr>
        <p:spPr>
          <a:xfrm>
            <a:off x="658368" y="4160520"/>
            <a:ext cx="2240280" cy="731520"/>
          </a:xfrm>
          <a:prstGeom prst="rect">
            <a:avLst/>
          </a:prstGeom>
          <a:noFill/>
          <a:ln/>
        </p:spPr>
        <p:txBody>
          <a:bodyPr wrap="square" lIns="0" tIns="0" rIns="0" bIns="0" rtlCol="0" anchor="t">
            <a:normAutofit/>
          </a:bodyPr>
          <a:lstStyle/>
          <a:p>
            <a:pPr algn="l" indent="0" marL="0">
              <a:buNone/>
            </a:pPr>
            <a:r>
              <a:rPr lang="en-US" sz="1100" dirty="0">
                <a:solidFill>
                  <a:srgbClr val="203040"/>
                </a:solidFill>
                <a:latin typeface="Aptos" pitchFamily="34" charset="0"/>
                <a:ea typeface="Aptos" pitchFamily="34" charset="-122"/>
                <a:cs typeface="Aptos" pitchFamily="34" charset="-120"/>
              </a:rPr>
              <a:t>Understand pain behavior, irritability, goals and previous treatment.</a:t>
            </a:r>
            <a:endParaRPr lang="en-US" sz="1100" dirty="0"/>
          </a:p>
        </p:txBody>
      </p:sp>
      <p:sp>
        <p:nvSpPr>
          <p:cNvPr id="12" name="Shape 10"/>
          <p:cNvSpPr/>
          <p:nvPr/>
        </p:nvSpPr>
        <p:spPr>
          <a:xfrm>
            <a:off x="2834640" y="3438144"/>
            <a:ext cx="502920" cy="0"/>
          </a:xfrm>
          <a:prstGeom prst="line">
            <a:avLst/>
          </a:prstGeom>
          <a:noFill/>
          <a:ln w="15240">
            <a:solidFill>
              <a:srgbClr val="D7E0E8"/>
            </a:solidFill>
            <a:prstDash val="solid"/>
          </a:ln>
        </p:spPr>
      </p:sp>
      <p:sp>
        <p:nvSpPr>
          <p:cNvPr id="13" name="Text 11"/>
          <p:cNvSpPr/>
          <p:nvPr/>
        </p:nvSpPr>
        <p:spPr>
          <a:xfrm>
            <a:off x="2990088" y="3310128"/>
            <a:ext cx="182880" cy="274320"/>
          </a:xfrm>
          <a:prstGeom prst="rect">
            <a:avLst/>
          </a:prstGeom>
          <a:noFill/>
          <a:ln/>
        </p:spPr>
        <p:txBody>
          <a:bodyPr wrap="square" lIns="0" tIns="0" rIns="0" bIns="0" rtlCol="0" anchor="ctr">
            <a:normAutofit/>
          </a:bodyPr>
          <a:lstStyle/>
          <a:p>
            <a:pPr algn="ctr" indent="0" marL="0">
              <a:buNone/>
            </a:pPr>
            <a:r>
              <a:rPr lang="en-US" sz="2400" dirty="0">
                <a:solidFill>
                  <a:srgbClr val="6B7785"/>
                </a:solidFill>
                <a:latin typeface="Aptos" pitchFamily="34" charset="0"/>
                <a:ea typeface="Aptos" pitchFamily="34" charset="-122"/>
                <a:cs typeface="Aptos" pitchFamily="34" charset="-120"/>
              </a:rPr>
              <a:t>›</a:t>
            </a:r>
            <a:endParaRPr lang="en-US" sz="2400" dirty="0"/>
          </a:p>
        </p:txBody>
      </p:sp>
      <p:sp>
        <p:nvSpPr>
          <p:cNvPr id="14" name="Shape 12"/>
          <p:cNvSpPr/>
          <p:nvPr/>
        </p:nvSpPr>
        <p:spPr>
          <a:xfrm>
            <a:off x="3447288" y="3246120"/>
            <a:ext cx="384048" cy="384048"/>
          </a:xfrm>
          <a:prstGeom prst="ellipse">
            <a:avLst/>
          </a:prstGeom>
          <a:solidFill>
            <a:srgbClr val="16B8C4"/>
          </a:solidFill>
          <a:ln w="12700">
            <a:solidFill>
              <a:srgbClr val="16B8C4"/>
            </a:solidFill>
            <a:prstDash val="solid"/>
          </a:ln>
        </p:spPr>
      </p:sp>
      <p:sp>
        <p:nvSpPr>
          <p:cNvPr id="15" name="Text 13"/>
          <p:cNvSpPr/>
          <p:nvPr/>
        </p:nvSpPr>
        <p:spPr>
          <a:xfrm>
            <a:off x="3447288" y="3255264"/>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2</a:t>
            </a:r>
            <a:endParaRPr lang="en-US" sz="1600" dirty="0"/>
          </a:p>
        </p:txBody>
      </p:sp>
      <p:sp>
        <p:nvSpPr>
          <p:cNvPr id="16" name="Text 14"/>
          <p:cNvSpPr/>
          <p:nvPr/>
        </p:nvSpPr>
        <p:spPr>
          <a:xfrm>
            <a:off x="3447288" y="3794760"/>
            <a:ext cx="2148840" cy="256032"/>
          </a:xfrm>
          <a:prstGeom prst="rect">
            <a:avLst/>
          </a:prstGeom>
          <a:noFill/>
          <a:ln/>
        </p:spPr>
        <p:txBody>
          <a:bodyPr wrap="square" lIns="0" tIns="0" rIns="0" bIns="0" rtlCol="0" anchor="ctr">
            <a:normAutofit/>
          </a:bodyPr>
          <a:lstStyle/>
          <a:p>
            <a:pPr algn="l" indent="0" marL="0">
              <a:buNone/>
            </a:pPr>
            <a:r>
              <a:rPr lang="en-US" sz="1600" b="1" dirty="0">
                <a:solidFill>
                  <a:srgbClr val="102A43"/>
                </a:solidFill>
                <a:latin typeface="Aptos" pitchFamily="34" charset="0"/>
                <a:ea typeface="Aptos" pitchFamily="34" charset="-122"/>
                <a:cs typeface="Aptos" pitchFamily="34" charset="-120"/>
              </a:rPr>
              <a:t>Match</a:t>
            </a:r>
            <a:endParaRPr lang="en-US" sz="1600" dirty="0"/>
          </a:p>
        </p:txBody>
      </p:sp>
      <p:sp>
        <p:nvSpPr>
          <p:cNvPr id="17" name="Text 15"/>
          <p:cNvSpPr/>
          <p:nvPr/>
        </p:nvSpPr>
        <p:spPr>
          <a:xfrm>
            <a:off x="3447288" y="4160520"/>
            <a:ext cx="2240280" cy="731520"/>
          </a:xfrm>
          <a:prstGeom prst="rect">
            <a:avLst/>
          </a:prstGeom>
          <a:noFill/>
          <a:ln/>
        </p:spPr>
        <p:txBody>
          <a:bodyPr wrap="square" lIns="0" tIns="0" rIns="0" bIns="0" rtlCol="0" anchor="t">
            <a:normAutofit/>
          </a:bodyPr>
          <a:lstStyle/>
          <a:p>
            <a:pPr algn="l" indent="0" marL="0">
              <a:buNone/>
            </a:pPr>
            <a:r>
              <a:rPr lang="en-US" sz="1100" dirty="0">
                <a:solidFill>
                  <a:srgbClr val="203040"/>
                </a:solidFill>
                <a:latin typeface="Aptos" pitchFamily="34" charset="0"/>
                <a:ea typeface="Aptos" pitchFamily="34" charset="-122"/>
                <a:cs typeface="Aptos" pitchFamily="34" charset="-120"/>
              </a:rPr>
              <a:t>Choose CT9 for versatility or HIRO TT for focused intensity and depth.</a:t>
            </a:r>
            <a:endParaRPr lang="en-US" sz="1100" dirty="0"/>
          </a:p>
        </p:txBody>
      </p:sp>
      <p:sp>
        <p:nvSpPr>
          <p:cNvPr id="18" name="Shape 16"/>
          <p:cNvSpPr/>
          <p:nvPr/>
        </p:nvSpPr>
        <p:spPr>
          <a:xfrm>
            <a:off x="5623560" y="3438144"/>
            <a:ext cx="502920" cy="0"/>
          </a:xfrm>
          <a:prstGeom prst="line">
            <a:avLst/>
          </a:prstGeom>
          <a:noFill/>
          <a:ln w="15240">
            <a:solidFill>
              <a:srgbClr val="D7E0E8"/>
            </a:solidFill>
            <a:prstDash val="solid"/>
          </a:ln>
        </p:spPr>
      </p:sp>
      <p:sp>
        <p:nvSpPr>
          <p:cNvPr id="19" name="Text 17"/>
          <p:cNvSpPr/>
          <p:nvPr/>
        </p:nvSpPr>
        <p:spPr>
          <a:xfrm>
            <a:off x="5779008" y="3310128"/>
            <a:ext cx="182880" cy="274320"/>
          </a:xfrm>
          <a:prstGeom prst="rect">
            <a:avLst/>
          </a:prstGeom>
          <a:noFill/>
          <a:ln/>
        </p:spPr>
        <p:txBody>
          <a:bodyPr wrap="square" lIns="0" tIns="0" rIns="0" bIns="0" rtlCol="0" anchor="ctr">
            <a:normAutofit/>
          </a:bodyPr>
          <a:lstStyle/>
          <a:p>
            <a:pPr algn="ctr" indent="0" marL="0">
              <a:buNone/>
            </a:pPr>
            <a:r>
              <a:rPr lang="en-US" sz="2400" dirty="0">
                <a:solidFill>
                  <a:srgbClr val="6B7785"/>
                </a:solidFill>
                <a:latin typeface="Aptos" pitchFamily="34" charset="0"/>
                <a:ea typeface="Aptos" pitchFamily="34" charset="-122"/>
                <a:cs typeface="Aptos" pitchFamily="34" charset="-120"/>
              </a:rPr>
              <a:t>›</a:t>
            </a:r>
            <a:endParaRPr lang="en-US" sz="2400" dirty="0"/>
          </a:p>
        </p:txBody>
      </p:sp>
      <p:sp>
        <p:nvSpPr>
          <p:cNvPr id="20" name="Shape 18"/>
          <p:cNvSpPr/>
          <p:nvPr/>
        </p:nvSpPr>
        <p:spPr>
          <a:xfrm>
            <a:off x="6236208" y="3246120"/>
            <a:ext cx="384048" cy="384048"/>
          </a:xfrm>
          <a:prstGeom prst="ellipse">
            <a:avLst/>
          </a:prstGeom>
          <a:solidFill>
            <a:srgbClr val="F47C6C"/>
          </a:solidFill>
          <a:ln w="12700">
            <a:solidFill>
              <a:srgbClr val="F47C6C"/>
            </a:solidFill>
            <a:prstDash val="solid"/>
          </a:ln>
        </p:spPr>
      </p:sp>
      <p:sp>
        <p:nvSpPr>
          <p:cNvPr id="21" name="Text 19"/>
          <p:cNvSpPr/>
          <p:nvPr/>
        </p:nvSpPr>
        <p:spPr>
          <a:xfrm>
            <a:off x="6236208" y="3255264"/>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3</a:t>
            </a:r>
            <a:endParaRPr lang="en-US" sz="1600" dirty="0"/>
          </a:p>
        </p:txBody>
      </p:sp>
      <p:sp>
        <p:nvSpPr>
          <p:cNvPr id="22" name="Text 20"/>
          <p:cNvSpPr/>
          <p:nvPr/>
        </p:nvSpPr>
        <p:spPr>
          <a:xfrm>
            <a:off x="6236208" y="3794760"/>
            <a:ext cx="2148840" cy="256032"/>
          </a:xfrm>
          <a:prstGeom prst="rect">
            <a:avLst/>
          </a:prstGeom>
          <a:noFill/>
          <a:ln/>
        </p:spPr>
        <p:txBody>
          <a:bodyPr wrap="square" lIns="0" tIns="0" rIns="0" bIns="0" rtlCol="0" anchor="ctr">
            <a:normAutofit/>
          </a:bodyPr>
          <a:lstStyle/>
          <a:p>
            <a:pPr algn="l" indent="0" marL="0">
              <a:buNone/>
            </a:pPr>
            <a:r>
              <a:rPr lang="en-US" sz="1600" b="1" dirty="0">
                <a:solidFill>
                  <a:srgbClr val="102A43"/>
                </a:solidFill>
                <a:latin typeface="Aptos" pitchFamily="34" charset="0"/>
                <a:ea typeface="Aptos" pitchFamily="34" charset="-122"/>
                <a:cs typeface="Aptos" pitchFamily="34" charset="-120"/>
              </a:rPr>
              <a:t>Explain</a:t>
            </a:r>
            <a:endParaRPr lang="en-US" sz="1600" dirty="0"/>
          </a:p>
        </p:txBody>
      </p:sp>
      <p:sp>
        <p:nvSpPr>
          <p:cNvPr id="23" name="Text 21"/>
          <p:cNvSpPr/>
          <p:nvPr/>
        </p:nvSpPr>
        <p:spPr>
          <a:xfrm>
            <a:off x="6236208" y="4160520"/>
            <a:ext cx="2240280" cy="731520"/>
          </a:xfrm>
          <a:prstGeom prst="rect">
            <a:avLst/>
          </a:prstGeom>
          <a:noFill/>
          <a:ln/>
        </p:spPr>
        <p:txBody>
          <a:bodyPr wrap="square" lIns="0" tIns="0" rIns="0" bIns="0" rtlCol="0" anchor="t">
            <a:normAutofit/>
          </a:bodyPr>
          <a:lstStyle/>
          <a:p>
            <a:pPr algn="l" indent="0" marL="0">
              <a:buNone/>
            </a:pPr>
            <a:r>
              <a:rPr lang="en-US" sz="1100" dirty="0">
                <a:solidFill>
                  <a:srgbClr val="203040"/>
                </a:solidFill>
                <a:latin typeface="Aptos" pitchFamily="34" charset="0"/>
                <a:ea typeface="Aptos" pitchFamily="34" charset="-122"/>
                <a:cs typeface="Aptos" pitchFamily="34" charset="-120"/>
              </a:rPr>
              <a:t>Tell the patient what they may feel and what the treatment is designed to support.</a:t>
            </a:r>
            <a:endParaRPr lang="en-US" sz="1100" dirty="0"/>
          </a:p>
        </p:txBody>
      </p:sp>
      <p:sp>
        <p:nvSpPr>
          <p:cNvPr id="24" name="Shape 22"/>
          <p:cNvSpPr/>
          <p:nvPr/>
        </p:nvSpPr>
        <p:spPr>
          <a:xfrm>
            <a:off x="8412480" y="3438144"/>
            <a:ext cx="502920" cy="0"/>
          </a:xfrm>
          <a:prstGeom prst="line">
            <a:avLst/>
          </a:prstGeom>
          <a:noFill/>
          <a:ln w="15240">
            <a:solidFill>
              <a:srgbClr val="D7E0E8"/>
            </a:solidFill>
            <a:prstDash val="solid"/>
          </a:ln>
        </p:spPr>
      </p:sp>
      <p:sp>
        <p:nvSpPr>
          <p:cNvPr id="25" name="Text 23"/>
          <p:cNvSpPr/>
          <p:nvPr/>
        </p:nvSpPr>
        <p:spPr>
          <a:xfrm>
            <a:off x="8567928" y="3310128"/>
            <a:ext cx="182880" cy="274320"/>
          </a:xfrm>
          <a:prstGeom prst="rect">
            <a:avLst/>
          </a:prstGeom>
          <a:noFill/>
          <a:ln/>
        </p:spPr>
        <p:txBody>
          <a:bodyPr wrap="square" lIns="0" tIns="0" rIns="0" bIns="0" rtlCol="0" anchor="ctr">
            <a:normAutofit/>
          </a:bodyPr>
          <a:lstStyle/>
          <a:p>
            <a:pPr algn="ctr" indent="0" marL="0">
              <a:buNone/>
            </a:pPr>
            <a:r>
              <a:rPr lang="en-US" sz="2400" dirty="0">
                <a:solidFill>
                  <a:srgbClr val="6B7785"/>
                </a:solidFill>
                <a:latin typeface="Aptos" pitchFamily="34" charset="0"/>
                <a:ea typeface="Aptos" pitchFamily="34" charset="-122"/>
                <a:cs typeface="Aptos" pitchFamily="34" charset="-120"/>
              </a:rPr>
              <a:t>›</a:t>
            </a:r>
            <a:endParaRPr lang="en-US" sz="2400" dirty="0"/>
          </a:p>
        </p:txBody>
      </p:sp>
      <p:sp>
        <p:nvSpPr>
          <p:cNvPr id="26" name="Shape 24"/>
          <p:cNvSpPr/>
          <p:nvPr/>
        </p:nvSpPr>
        <p:spPr>
          <a:xfrm>
            <a:off x="9025128" y="3246120"/>
            <a:ext cx="384048" cy="384048"/>
          </a:xfrm>
          <a:prstGeom prst="ellipse">
            <a:avLst/>
          </a:prstGeom>
          <a:solidFill>
            <a:srgbClr val="1D8A70"/>
          </a:solidFill>
          <a:ln w="12700">
            <a:solidFill>
              <a:srgbClr val="1D8A70"/>
            </a:solidFill>
            <a:prstDash val="solid"/>
          </a:ln>
        </p:spPr>
      </p:sp>
      <p:sp>
        <p:nvSpPr>
          <p:cNvPr id="27" name="Text 25"/>
          <p:cNvSpPr/>
          <p:nvPr/>
        </p:nvSpPr>
        <p:spPr>
          <a:xfrm>
            <a:off x="9025128" y="3255264"/>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4</a:t>
            </a:r>
            <a:endParaRPr lang="en-US" sz="1600" dirty="0"/>
          </a:p>
        </p:txBody>
      </p:sp>
      <p:sp>
        <p:nvSpPr>
          <p:cNvPr id="28" name="Text 26"/>
          <p:cNvSpPr/>
          <p:nvPr/>
        </p:nvSpPr>
        <p:spPr>
          <a:xfrm>
            <a:off x="9025128" y="3794760"/>
            <a:ext cx="2148840" cy="256032"/>
          </a:xfrm>
          <a:prstGeom prst="rect">
            <a:avLst/>
          </a:prstGeom>
          <a:noFill/>
          <a:ln/>
        </p:spPr>
        <p:txBody>
          <a:bodyPr wrap="square" lIns="0" tIns="0" rIns="0" bIns="0" rtlCol="0" anchor="ctr">
            <a:normAutofit/>
          </a:bodyPr>
          <a:lstStyle/>
          <a:p>
            <a:pPr algn="l" indent="0" marL="0">
              <a:buNone/>
            </a:pPr>
            <a:r>
              <a:rPr lang="en-US" sz="1600" b="1" dirty="0">
                <a:solidFill>
                  <a:srgbClr val="102A43"/>
                </a:solidFill>
                <a:latin typeface="Aptos" pitchFamily="34" charset="0"/>
                <a:ea typeface="Aptos" pitchFamily="34" charset="-122"/>
                <a:cs typeface="Aptos" pitchFamily="34" charset="-120"/>
              </a:rPr>
              <a:t>Progress</a:t>
            </a:r>
            <a:endParaRPr lang="en-US" sz="1600" dirty="0"/>
          </a:p>
        </p:txBody>
      </p:sp>
      <p:sp>
        <p:nvSpPr>
          <p:cNvPr id="29" name="Text 27"/>
          <p:cNvSpPr/>
          <p:nvPr/>
        </p:nvSpPr>
        <p:spPr>
          <a:xfrm>
            <a:off x="9025128" y="4160520"/>
            <a:ext cx="2240280" cy="731520"/>
          </a:xfrm>
          <a:prstGeom prst="rect">
            <a:avLst/>
          </a:prstGeom>
          <a:noFill/>
          <a:ln/>
        </p:spPr>
        <p:txBody>
          <a:bodyPr wrap="square" lIns="0" tIns="0" rIns="0" bIns="0" rtlCol="0" anchor="t">
            <a:normAutofit/>
          </a:bodyPr>
          <a:lstStyle/>
          <a:p>
            <a:pPr algn="l" indent="0" marL="0">
              <a:buNone/>
            </a:pPr>
            <a:r>
              <a:rPr lang="en-US" sz="1100" dirty="0">
                <a:solidFill>
                  <a:srgbClr val="203040"/>
                </a:solidFill>
                <a:latin typeface="Aptos" pitchFamily="34" charset="0"/>
                <a:ea typeface="Aptos" pitchFamily="34" charset="-122"/>
                <a:cs typeface="Aptos" pitchFamily="34" charset="-120"/>
              </a:rPr>
              <a:t>Link the session to movement, self-management and a measurable next step.</a:t>
            </a:r>
            <a:endParaRPr lang="en-US" sz="1100" dirty="0"/>
          </a:p>
        </p:txBody>
      </p:sp>
      <p:sp>
        <p:nvSpPr>
          <p:cNvPr id="30" name="Shape 28"/>
          <p:cNvSpPr/>
          <p:nvPr/>
        </p:nvSpPr>
        <p:spPr>
          <a:xfrm>
            <a:off x="1371600" y="5440680"/>
            <a:ext cx="9418320" cy="530352"/>
          </a:xfrm>
          <a:prstGeom prst="roundRect">
            <a:avLst>
              <a:gd name="adj" fmla="val 13793"/>
            </a:avLst>
          </a:prstGeom>
          <a:solidFill>
            <a:srgbClr val="DFF5F6"/>
          </a:solidFill>
          <a:ln w="12700">
            <a:solidFill>
              <a:srgbClr val="B8E8EA"/>
            </a:solidFill>
            <a:prstDash val="solid"/>
          </a:ln>
        </p:spPr>
      </p:sp>
      <p:sp>
        <p:nvSpPr>
          <p:cNvPr id="31" name="Text 29"/>
          <p:cNvSpPr/>
          <p:nvPr/>
        </p:nvSpPr>
        <p:spPr>
          <a:xfrm>
            <a:off x="1645920" y="5605272"/>
            <a:ext cx="8869680" cy="219456"/>
          </a:xfrm>
          <a:prstGeom prst="rect">
            <a:avLst/>
          </a:prstGeom>
          <a:noFill/>
          <a:ln/>
        </p:spPr>
        <p:txBody>
          <a:bodyPr wrap="square" lIns="0" tIns="0" rIns="0" bIns="0" rtlCol="0" anchor="ctr">
            <a:normAutofit/>
          </a:bodyPr>
          <a:lstStyle/>
          <a:p>
            <a:pPr algn="ctr" indent="0" marL="0">
              <a:buNone/>
            </a:pPr>
            <a:r>
              <a:rPr lang="en-US" sz="1350" b="1" dirty="0">
                <a:solidFill>
                  <a:srgbClr val="102A43"/>
                </a:solidFill>
                <a:latin typeface="Aptos" pitchFamily="34" charset="0"/>
                <a:ea typeface="Aptos" pitchFamily="34" charset="-122"/>
                <a:cs typeface="Aptos" pitchFamily="34" charset="-120"/>
              </a:rPr>
              <a:t>The differentiator is not only the device. It is the clinician’s ability to turn the device into a confident conversation.</a:t>
            </a:r>
            <a:endParaRPr lang="en-US" sz="1350" dirty="0"/>
          </a:p>
        </p:txBody>
      </p:sp>
      <p:sp>
        <p:nvSpPr>
          <p:cNvPr id="25" name="Slide Number Placeholder 0"/>
          <p:cNvSpPr>
            <a:spLocks noGrp="1"/>
          </p:cNvSpPr>
          <p:nvPr>
            <p:ph type="sldNum" sz="quarter" idx="4294967295"/>
          </p:nvPr>
        </p:nvSpPr>
        <p:spPr>
          <a:xfrm>
            <a:off x="11841480" y="6492240"/>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785"/>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4389120" cy="201168"/>
          </a:xfrm>
          <a:prstGeom prst="rect">
            <a:avLst/>
          </a:prstGeom>
          <a:noFill/>
          <a:ln/>
        </p:spPr>
        <p:txBody>
          <a:bodyPr wrap="square" lIns="0" tIns="0" rIns="0" bIns="0" rtlCol="0" anchor="ctr">
            <a:normAutofit/>
          </a:bodyPr>
          <a:lstStyle/>
          <a:p>
            <a:pPr algn="l" indent="0" marL="0">
              <a:buNone/>
            </a:pPr>
            <a:r>
              <a:rPr lang="en-US" sz="950" b="1" dirty="0">
                <a:solidFill>
                  <a:srgbClr val="16B8C4"/>
                </a:solidFill>
                <a:latin typeface="Aptos" pitchFamily="34" charset="0"/>
                <a:ea typeface="Aptos" pitchFamily="34" charset="-122"/>
                <a:cs typeface="Aptos" pitchFamily="34" charset="-120"/>
              </a:rPr>
              <a:t>BUSINESS VALUE</a:t>
            </a:r>
            <a:endParaRPr lang="en-US" sz="950" dirty="0"/>
          </a:p>
        </p:txBody>
      </p:sp>
      <p:sp>
        <p:nvSpPr>
          <p:cNvPr id="3" name="Text 1"/>
          <p:cNvSpPr/>
          <p:nvPr/>
        </p:nvSpPr>
        <p:spPr>
          <a:xfrm>
            <a:off x="548640" y="658368"/>
            <a:ext cx="10789920" cy="512064"/>
          </a:xfrm>
          <a:prstGeom prst="rect">
            <a:avLst/>
          </a:prstGeom>
          <a:noFill/>
          <a:ln/>
        </p:spPr>
        <p:txBody>
          <a:bodyPr wrap="square" lIns="0" tIns="0" rIns="0" bIns="0" rtlCol="0" anchor="ctr">
            <a:normAutofit/>
          </a:bodyPr>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Why a clinic owner should care</a:t>
            </a:r>
            <a:endParaRPr lang="en-US" sz="2800" dirty="0"/>
          </a:p>
        </p:txBody>
      </p:sp>
      <p:sp>
        <p:nvSpPr>
          <p:cNvPr id="4" name="Text 2"/>
          <p:cNvSpPr/>
          <p:nvPr/>
        </p:nvSpPr>
        <p:spPr>
          <a:xfrm>
            <a:off x="548640" y="1207008"/>
            <a:ext cx="10515600" cy="292608"/>
          </a:xfrm>
          <a:prstGeom prst="rect">
            <a:avLst/>
          </a:prstGeom>
          <a:noFill/>
          <a:ln/>
        </p:spPr>
        <p:txBody>
          <a:bodyPr wrap="square" lIns="0" tIns="0" rIns="0" bIns="0" rtlCol="0" anchor="ctr">
            <a:normAutofit/>
          </a:bodyPr>
          <a:lstStyle/>
          <a:p>
            <a:pPr algn="l" indent="0" marL="0">
              <a:buNone/>
            </a:pPr>
            <a:r>
              <a:rPr lang="en-US" sz="1250" dirty="0">
                <a:solidFill>
                  <a:srgbClr val="6B7785"/>
                </a:solidFill>
                <a:latin typeface="Aptos" pitchFamily="34" charset="0"/>
                <a:ea typeface="Aptos" pitchFamily="34" charset="-122"/>
                <a:cs typeface="Aptos" pitchFamily="34" charset="-120"/>
              </a:rPr>
              <a:t>A strong sales conversation connects clinical capability to utilization, differentiation and repeatable revenue.</a:t>
            </a:r>
            <a:endParaRPr lang="en-US" sz="1250" dirty="0"/>
          </a:p>
        </p:txBody>
      </p:sp>
      <p:sp>
        <p:nvSpPr>
          <p:cNvPr id="5" name="Shape 3"/>
          <p:cNvSpPr/>
          <p:nvPr/>
        </p:nvSpPr>
        <p:spPr>
          <a:xfrm>
            <a:off x="658368" y="1828800"/>
            <a:ext cx="5074920" cy="1078992"/>
          </a:xfrm>
          <a:prstGeom prst="roundRect">
            <a:avLst>
              <a:gd name="adj" fmla="val 6780"/>
            </a:avLst>
          </a:prstGeom>
          <a:solidFill>
            <a:srgbClr val="FFFFFF"/>
          </a:solidFill>
          <a:ln w="12700">
            <a:solidFill>
              <a:srgbClr val="D7E0E8"/>
            </a:solidFill>
            <a:prstDash val="solid"/>
          </a:ln>
        </p:spPr>
      </p:sp>
      <p:sp>
        <p:nvSpPr>
          <p:cNvPr id="6" name="Shape 4"/>
          <p:cNvSpPr/>
          <p:nvPr/>
        </p:nvSpPr>
        <p:spPr>
          <a:xfrm>
            <a:off x="914400" y="2084832"/>
            <a:ext cx="384048" cy="384048"/>
          </a:xfrm>
          <a:prstGeom prst="ellipse">
            <a:avLst/>
          </a:prstGeom>
          <a:solidFill>
            <a:srgbClr val="16B8C4"/>
          </a:solidFill>
          <a:ln w="12700">
            <a:solidFill>
              <a:srgbClr val="16B8C4"/>
            </a:solidFill>
            <a:prstDash val="solid"/>
          </a:ln>
        </p:spPr>
      </p:sp>
      <p:sp>
        <p:nvSpPr>
          <p:cNvPr id="7" name="Text 5"/>
          <p:cNvSpPr/>
          <p:nvPr/>
        </p:nvSpPr>
        <p:spPr>
          <a:xfrm>
            <a:off x="914400" y="2093976"/>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a:t>
            </a:r>
            <a:endParaRPr lang="en-US" sz="1600" dirty="0"/>
          </a:p>
        </p:txBody>
      </p:sp>
      <p:sp>
        <p:nvSpPr>
          <p:cNvPr id="8" name="Text 6"/>
          <p:cNvSpPr/>
          <p:nvPr/>
        </p:nvSpPr>
        <p:spPr>
          <a:xfrm>
            <a:off x="1463040" y="2029968"/>
            <a:ext cx="2057400" cy="228600"/>
          </a:xfrm>
          <a:prstGeom prst="rect">
            <a:avLst/>
          </a:prstGeom>
          <a:noFill/>
          <a:ln/>
        </p:spPr>
        <p:txBody>
          <a:bodyPr wrap="square" lIns="0" tIns="0" rIns="0" bIns="0" rtlCol="0" anchor="ctr">
            <a:normAutofit/>
          </a:bodyPr>
          <a:lstStyle/>
          <a:p>
            <a:pPr algn="l" indent="0" marL="0">
              <a:buNone/>
            </a:pPr>
            <a:r>
              <a:rPr lang="en-US" sz="1600" b="1" dirty="0">
                <a:solidFill>
                  <a:srgbClr val="102A43"/>
                </a:solidFill>
                <a:latin typeface="Aptos" pitchFamily="34" charset="0"/>
                <a:ea typeface="Aptos" pitchFamily="34" charset="-122"/>
                <a:cs typeface="Aptos" pitchFamily="34" charset="-120"/>
              </a:rPr>
              <a:t>Utilization</a:t>
            </a:r>
            <a:endParaRPr lang="en-US" sz="1600" dirty="0"/>
          </a:p>
        </p:txBody>
      </p:sp>
      <p:sp>
        <p:nvSpPr>
          <p:cNvPr id="9" name="Text 7"/>
          <p:cNvSpPr/>
          <p:nvPr/>
        </p:nvSpPr>
        <p:spPr>
          <a:xfrm>
            <a:off x="1463040" y="2350008"/>
            <a:ext cx="3886200" cy="329184"/>
          </a:xfrm>
          <a:prstGeom prst="rect">
            <a:avLst/>
          </a:prstGeom>
          <a:noFill/>
          <a:ln/>
        </p:spPr>
        <p:txBody>
          <a:bodyPr wrap="square" lIns="0" tIns="0" rIns="0" bIns="0" rtlCol="0" anchor="t">
            <a:normAutofit/>
          </a:bodyPr>
          <a:lstStyle/>
          <a:p>
            <a:pPr algn="l" indent="0" marL="0">
              <a:buNone/>
            </a:pPr>
            <a:r>
              <a:rPr lang="en-US" sz="1150" dirty="0">
                <a:solidFill>
                  <a:srgbClr val="203040"/>
                </a:solidFill>
                <a:latin typeface="Aptos" pitchFamily="34" charset="0"/>
                <a:ea typeface="Aptos" pitchFamily="34" charset="-122"/>
                <a:cs typeface="Aptos" pitchFamily="34" charset="-120"/>
              </a:rPr>
              <a:t>One device can support multiple clinicians, specialties and body areas.</a:t>
            </a:r>
            <a:endParaRPr lang="en-US" sz="1150" dirty="0"/>
          </a:p>
        </p:txBody>
      </p:sp>
      <p:sp>
        <p:nvSpPr>
          <p:cNvPr id="10" name="Shape 8"/>
          <p:cNvSpPr/>
          <p:nvPr/>
        </p:nvSpPr>
        <p:spPr>
          <a:xfrm>
            <a:off x="6190488" y="1828800"/>
            <a:ext cx="5074920" cy="1078992"/>
          </a:xfrm>
          <a:prstGeom prst="roundRect">
            <a:avLst>
              <a:gd name="adj" fmla="val 6780"/>
            </a:avLst>
          </a:prstGeom>
          <a:solidFill>
            <a:srgbClr val="FFFFFF"/>
          </a:solidFill>
          <a:ln w="12700">
            <a:solidFill>
              <a:srgbClr val="D7E0E8"/>
            </a:solidFill>
            <a:prstDash val="solid"/>
          </a:ln>
        </p:spPr>
      </p:sp>
      <p:sp>
        <p:nvSpPr>
          <p:cNvPr id="11" name="Shape 9"/>
          <p:cNvSpPr/>
          <p:nvPr/>
        </p:nvSpPr>
        <p:spPr>
          <a:xfrm>
            <a:off x="6446520" y="2084832"/>
            <a:ext cx="384048" cy="384048"/>
          </a:xfrm>
          <a:prstGeom prst="ellipse">
            <a:avLst/>
          </a:prstGeom>
          <a:solidFill>
            <a:srgbClr val="F47C6C"/>
          </a:solidFill>
          <a:ln w="12700">
            <a:solidFill>
              <a:srgbClr val="F47C6C"/>
            </a:solidFill>
            <a:prstDash val="solid"/>
          </a:ln>
        </p:spPr>
      </p:sp>
      <p:sp>
        <p:nvSpPr>
          <p:cNvPr id="12" name="Text 10"/>
          <p:cNvSpPr/>
          <p:nvPr/>
        </p:nvSpPr>
        <p:spPr>
          <a:xfrm>
            <a:off x="6446520" y="2093976"/>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a:t>
            </a:r>
            <a:endParaRPr lang="en-US" sz="1600" dirty="0"/>
          </a:p>
        </p:txBody>
      </p:sp>
      <p:sp>
        <p:nvSpPr>
          <p:cNvPr id="13" name="Text 11"/>
          <p:cNvSpPr/>
          <p:nvPr/>
        </p:nvSpPr>
        <p:spPr>
          <a:xfrm>
            <a:off x="6995160" y="2029968"/>
            <a:ext cx="2057400" cy="228600"/>
          </a:xfrm>
          <a:prstGeom prst="rect">
            <a:avLst/>
          </a:prstGeom>
          <a:noFill/>
          <a:ln/>
        </p:spPr>
        <p:txBody>
          <a:bodyPr wrap="square" lIns="0" tIns="0" rIns="0" bIns="0" rtlCol="0" anchor="ctr">
            <a:normAutofit/>
          </a:bodyPr>
          <a:lstStyle/>
          <a:p>
            <a:pPr algn="l" indent="0" marL="0">
              <a:buNone/>
            </a:pPr>
            <a:r>
              <a:rPr lang="en-US" sz="1600" b="1" dirty="0">
                <a:solidFill>
                  <a:srgbClr val="102A43"/>
                </a:solidFill>
                <a:latin typeface="Aptos" pitchFamily="34" charset="0"/>
                <a:ea typeface="Aptos" pitchFamily="34" charset="-122"/>
                <a:cs typeface="Aptos" pitchFamily="34" charset="-120"/>
              </a:rPr>
              <a:t>Differentiation</a:t>
            </a:r>
            <a:endParaRPr lang="en-US" sz="1600" dirty="0"/>
          </a:p>
        </p:txBody>
      </p:sp>
      <p:sp>
        <p:nvSpPr>
          <p:cNvPr id="14" name="Text 12"/>
          <p:cNvSpPr/>
          <p:nvPr/>
        </p:nvSpPr>
        <p:spPr>
          <a:xfrm>
            <a:off x="6995160" y="2350008"/>
            <a:ext cx="3886200" cy="329184"/>
          </a:xfrm>
          <a:prstGeom prst="rect">
            <a:avLst/>
          </a:prstGeom>
          <a:noFill/>
          <a:ln/>
        </p:spPr>
        <p:txBody>
          <a:bodyPr wrap="square" lIns="0" tIns="0" rIns="0" bIns="0" rtlCol="0" anchor="t">
            <a:normAutofit/>
          </a:bodyPr>
          <a:lstStyle/>
          <a:p>
            <a:pPr algn="l" indent="0" marL="0">
              <a:buNone/>
            </a:pPr>
            <a:r>
              <a:rPr lang="en-US" sz="1150" dirty="0">
                <a:solidFill>
                  <a:srgbClr val="203040"/>
                </a:solidFill>
                <a:latin typeface="Aptos" pitchFamily="34" charset="0"/>
                <a:ea typeface="Aptos" pitchFamily="34" charset="-122"/>
                <a:cs typeface="Aptos" pitchFamily="34" charset="-120"/>
              </a:rPr>
              <a:t>A visible, premium intervention can strengthen referrals and patient choice.</a:t>
            </a:r>
            <a:endParaRPr lang="en-US" sz="1150" dirty="0"/>
          </a:p>
        </p:txBody>
      </p:sp>
      <p:sp>
        <p:nvSpPr>
          <p:cNvPr id="15" name="Shape 13"/>
          <p:cNvSpPr/>
          <p:nvPr/>
        </p:nvSpPr>
        <p:spPr>
          <a:xfrm>
            <a:off x="658368" y="3246120"/>
            <a:ext cx="5074920" cy="1078992"/>
          </a:xfrm>
          <a:prstGeom prst="roundRect">
            <a:avLst>
              <a:gd name="adj" fmla="val 6780"/>
            </a:avLst>
          </a:prstGeom>
          <a:solidFill>
            <a:srgbClr val="FFFFFF"/>
          </a:solidFill>
          <a:ln w="12700">
            <a:solidFill>
              <a:srgbClr val="D7E0E8"/>
            </a:solidFill>
            <a:prstDash val="solid"/>
          </a:ln>
        </p:spPr>
      </p:sp>
      <p:sp>
        <p:nvSpPr>
          <p:cNvPr id="16" name="Shape 14"/>
          <p:cNvSpPr/>
          <p:nvPr/>
        </p:nvSpPr>
        <p:spPr>
          <a:xfrm>
            <a:off x="914400" y="3502152"/>
            <a:ext cx="384048" cy="384048"/>
          </a:xfrm>
          <a:prstGeom prst="ellipse">
            <a:avLst/>
          </a:prstGeom>
          <a:solidFill>
            <a:srgbClr val="2F6BFF"/>
          </a:solidFill>
          <a:ln w="12700">
            <a:solidFill>
              <a:srgbClr val="2F6BFF"/>
            </a:solidFill>
            <a:prstDash val="solid"/>
          </a:ln>
        </p:spPr>
      </p:sp>
      <p:sp>
        <p:nvSpPr>
          <p:cNvPr id="17" name="Text 15"/>
          <p:cNvSpPr/>
          <p:nvPr/>
        </p:nvSpPr>
        <p:spPr>
          <a:xfrm>
            <a:off x="914400" y="3511296"/>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463040" y="3447288"/>
            <a:ext cx="2057400" cy="228600"/>
          </a:xfrm>
          <a:prstGeom prst="rect">
            <a:avLst/>
          </a:prstGeom>
          <a:noFill/>
          <a:ln/>
        </p:spPr>
        <p:txBody>
          <a:bodyPr wrap="square" lIns="0" tIns="0" rIns="0" bIns="0" rtlCol="0" anchor="ctr">
            <a:normAutofit/>
          </a:bodyPr>
          <a:lstStyle/>
          <a:p>
            <a:pPr algn="l" indent="0" marL="0">
              <a:buNone/>
            </a:pPr>
            <a:r>
              <a:rPr lang="en-US" sz="1600" b="1" dirty="0">
                <a:solidFill>
                  <a:srgbClr val="102A43"/>
                </a:solidFill>
                <a:latin typeface="Aptos" pitchFamily="34" charset="0"/>
                <a:ea typeface="Aptos" pitchFamily="34" charset="-122"/>
                <a:cs typeface="Aptos" pitchFamily="34" charset="-120"/>
              </a:rPr>
              <a:t>Workflow</a:t>
            </a:r>
            <a:endParaRPr lang="en-US" sz="1600" dirty="0"/>
          </a:p>
        </p:txBody>
      </p:sp>
      <p:sp>
        <p:nvSpPr>
          <p:cNvPr id="19" name="Text 17"/>
          <p:cNvSpPr/>
          <p:nvPr/>
        </p:nvSpPr>
        <p:spPr>
          <a:xfrm>
            <a:off x="1463040" y="3767328"/>
            <a:ext cx="3886200" cy="329184"/>
          </a:xfrm>
          <a:prstGeom prst="rect">
            <a:avLst/>
          </a:prstGeom>
          <a:noFill/>
          <a:ln/>
        </p:spPr>
        <p:txBody>
          <a:bodyPr wrap="square" lIns="0" tIns="0" rIns="0" bIns="0" rtlCol="0" anchor="t">
            <a:normAutofit/>
          </a:bodyPr>
          <a:lstStyle/>
          <a:p>
            <a:pPr algn="l" indent="0" marL="0">
              <a:buNone/>
            </a:pPr>
            <a:r>
              <a:rPr lang="en-US" sz="1150" dirty="0">
                <a:solidFill>
                  <a:srgbClr val="203040"/>
                </a:solidFill>
                <a:latin typeface="Aptos" pitchFamily="34" charset="0"/>
                <a:ea typeface="Aptos" pitchFamily="34" charset="-122"/>
                <a:cs typeface="Aptos" pitchFamily="34" charset="-120"/>
              </a:rPr>
              <a:t>Preset protocols, accessories and a clear interface support staff adoption.</a:t>
            </a:r>
            <a:endParaRPr lang="en-US" sz="1150" dirty="0"/>
          </a:p>
        </p:txBody>
      </p:sp>
      <p:sp>
        <p:nvSpPr>
          <p:cNvPr id="20" name="Shape 18"/>
          <p:cNvSpPr/>
          <p:nvPr/>
        </p:nvSpPr>
        <p:spPr>
          <a:xfrm>
            <a:off x="6190488" y="3246120"/>
            <a:ext cx="5074920" cy="1078992"/>
          </a:xfrm>
          <a:prstGeom prst="roundRect">
            <a:avLst>
              <a:gd name="adj" fmla="val 6780"/>
            </a:avLst>
          </a:prstGeom>
          <a:solidFill>
            <a:srgbClr val="FFFFFF"/>
          </a:solidFill>
          <a:ln w="12700">
            <a:solidFill>
              <a:srgbClr val="D7E0E8"/>
            </a:solidFill>
            <a:prstDash val="solid"/>
          </a:ln>
        </p:spPr>
      </p:sp>
      <p:sp>
        <p:nvSpPr>
          <p:cNvPr id="21" name="Shape 19"/>
          <p:cNvSpPr/>
          <p:nvPr/>
        </p:nvSpPr>
        <p:spPr>
          <a:xfrm>
            <a:off x="6446520" y="3502152"/>
            <a:ext cx="384048" cy="384048"/>
          </a:xfrm>
          <a:prstGeom prst="ellipse">
            <a:avLst/>
          </a:prstGeom>
          <a:solidFill>
            <a:srgbClr val="1D8A70"/>
          </a:solidFill>
          <a:ln w="12700">
            <a:solidFill>
              <a:srgbClr val="1D8A70"/>
            </a:solidFill>
            <a:prstDash val="solid"/>
          </a:ln>
        </p:spPr>
      </p:sp>
      <p:sp>
        <p:nvSpPr>
          <p:cNvPr id="22" name="Text 20"/>
          <p:cNvSpPr/>
          <p:nvPr/>
        </p:nvSpPr>
        <p:spPr>
          <a:xfrm>
            <a:off x="6446520" y="3511296"/>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6995160" y="3447288"/>
            <a:ext cx="2057400" cy="228600"/>
          </a:xfrm>
          <a:prstGeom prst="rect">
            <a:avLst/>
          </a:prstGeom>
          <a:noFill/>
          <a:ln/>
        </p:spPr>
        <p:txBody>
          <a:bodyPr wrap="square" lIns="0" tIns="0" rIns="0" bIns="0" rtlCol="0" anchor="ctr">
            <a:normAutofit/>
          </a:bodyPr>
          <a:lstStyle/>
          <a:p>
            <a:pPr algn="l" indent="0" marL="0">
              <a:buNone/>
            </a:pPr>
            <a:r>
              <a:rPr lang="en-US" sz="1600" b="1" dirty="0">
                <a:solidFill>
                  <a:srgbClr val="102A43"/>
                </a:solidFill>
                <a:latin typeface="Aptos" pitchFamily="34" charset="0"/>
                <a:ea typeface="Aptos" pitchFamily="34" charset="-122"/>
                <a:cs typeface="Aptos" pitchFamily="34" charset="-120"/>
              </a:rPr>
              <a:t>Retention</a:t>
            </a:r>
            <a:endParaRPr lang="en-US" sz="1600" dirty="0"/>
          </a:p>
        </p:txBody>
      </p:sp>
      <p:sp>
        <p:nvSpPr>
          <p:cNvPr id="24" name="Text 22"/>
          <p:cNvSpPr/>
          <p:nvPr/>
        </p:nvSpPr>
        <p:spPr>
          <a:xfrm>
            <a:off x="6995160" y="3767328"/>
            <a:ext cx="3886200" cy="329184"/>
          </a:xfrm>
          <a:prstGeom prst="rect">
            <a:avLst/>
          </a:prstGeom>
          <a:noFill/>
          <a:ln/>
        </p:spPr>
        <p:txBody>
          <a:bodyPr wrap="square" lIns="0" tIns="0" rIns="0" bIns="0" rtlCol="0" anchor="t">
            <a:normAutofit/>
          </a:bodyPr>
          <a:lstStyle/>
          <a:p>
            <a:pPr algn="l" indent="0" marL="0">
              <a:buNone/>
            </a:pPr>
            <a:r>
              <a:rPr lang="en-US" sz="1150" dirty="0">
                <a:solidFill>
                  <a:srgbClr val="203040"/>
                </a:solidFill>
                <a:latin typeface="Aptos" pitchFamily="34" charset="0"/>
                <a:ea typeface="Aptos" pitchFamily="34" charset="-122"/>
                <a:cs typeface="Aptos" pitchFamily="34" charset="-120"/>
              </a:rPr>
              <a:t>A coherent treatment pathway gives patients a reason to return and progress.</a:t>
            </a:r>
            <a:endParaRPr lang="en-US" sz="1150" dirty="0"/>
          </a:p>
        </p:txBody>
      </p:sp>
      <p:sp>
        <p:nvSpPr>
          <p:cNvPr id="25" name="Shape 23"/>
          <p:cNvSpPr/>
          <p:nvPr/>
        </p:nvSpPr>
        <p:spPr>
          <a:xfrm>
            <a:off x="658368" y="4754880"/>
            <a:ext cx="11064240" cy="1143000"/>
          </a:xfrm>
          <a:prstGeom prst="roundRect">
            <a:avLst>
              <a:gd name="adj" fmla="val 6400"/>
            </a:avLst>
          </a:prstGeom>
          <a:solidFill>
            <a:srgbClr val="0B1F33"/>
          </a:solidFill>
          <a:ln w="12700">
            <a:solidFill>
              <a:srgbClr val="0B1F33"/>
            </a:solidFill>
            <a:prstDash val="solid"/>
          </a:ln>
        </p:spPr>
      </p:sp>
      <p:sp>
        <p:nvSpPr>
          <p:cNvPr id="26" name="Text 24"/>
          <p:cNvSpPr/>
          <p:nvPr/>
        </p:nvSpPr>
        <p:spPr>
          <a:xfrm>
            <a:off x="960120" y="5010912"/>
            <a:ext cx="1920240" cy="228600"/>
          </a:xfrm>
          <a:prstGeom prst="rect">
            <a:avLst/>
          </a:prstGeom>
          <a:noFill/>
          <a:ln/>
        </p:spPr>
        <p:txBody>
          <a:bodyPr wrap="square" lIns="0" tIns="0" rIns="0" bIns="0" rtlCol="0" anchor="ctr">
            <a:normAutofit/>
          </a:bodyPr>
          <a:lstStyle/>
          <a:p>
            <a:pPr algn="l" indent="0" marL="0">
              <a:buNone/>
            </a:pPr>
            <a:r>
              <a:rPr lang="en-US" sz="1600" b="1" dirty="0">
                <a:solidFill>
                  <a:srgbClr val="16B8C4"/>
                </a:solidFill>
                <a:latin typeface="Aptos" pitchFamily="34" charset="0"/>
                <a:ea typeface="Aptos" pitchFamily="34" charset="-122"/>
                <a:cs typeface="Aptos" pitchFamily="34" charset="-120"/>
              </a:rPr>
              <a:t>A simple ROI conversation</a:t>
            </a:r>
            <a:endParaRPr lang="en-US" sz="1600" dirty="0"/>
          </a:p>
        </p:txBody>
      </p:sp>
      <p:sp>
        <p:nvSpPr>
          <p:cNvPr id="27" name="Text 25"/>
          <p:cNvSpPr/>
          <p:nvPr/>
        </p:nvSpPr>
        <p:spPr>
          <a:xfrm>
            <a:off x="2907792" y="4956048"/>
            <a:ext cx="8183880" cy="347472"/>
          </a:xfrm>
          <a:prstGeom prst="rect">
            <a:avLst/>
          </a:prstGeom>
          <a:noFill/>
          <a:ln/>
        </p:spPr>
        <p:txBody>
          <a:bodyPr wrap="square" lIns="0" tIns="0" rIns="0" bIns="0" rtlCol="0" anchor="ctr">
            <a:normAutofit/>
          </a:bodyPr>
          <a:lstStyle/>
          <a:p>
            <a:pPr algn="l" indent="0" marL="0">
              <a:buNone/>
            </a:pPr>
            <a:r>
              <a:rPr lang="en-US" sz="1350" b="1" dirty="0">
                <a:solidFill>
                  <a:srgbClr val="FFFFFF"/>
                </a:solidFill>
                <a:latin typeface="Aptos" pitchFamily="34" charset="0"/>
                <a:ea typeface="Aptos" pitchFamily="34" charset="-122"/>
                <a:cs typeface="Aptos" pitchFamily="34" charset="-120"/>
              </a:rPr>
              <a:t>Start with patient volume → define the service line → estimate realistic treatment frequency → measure utilization and contribution margin.</a:t>
            </a:r>
            <a:endParaRPr lang="en-US" sz="1350" dirty="0"/>
          </a:p>
        </p:txBody>
      </p:sp>
      <p:sp>
        <p:nvSpPr>
          <p:cNvPr id="28" name="Text 26"/>
          <p:cNvSpPr/>
          <p:nvPr/>
        </p:nvSpPr>
        <p:spPr>
          <a:xfrm>
            <a:off x="2907792" y="5468112"/>
            <a:ext cx="7680960" cy="201168"/>
          </a:xfrm>
          <a:prstGeom prst="rect">
            <a:avLst/>
          </a:prstGeom>
          <a:noFill/>
          <a:ln/>
        </p:spPr>
        <p:txBody>
          <a:bodyPr wrap="square" lIns="0" tIns="0" rIns="0" bIns="0" rtlCol="0" anchor="ctr">
            <a:normAutofit/>
          </a:bodyPr>
          <a:lstStyle/>
          <a:p>
            <a:pPr algn="l" indent="0" marL="0">
              <a:buNone/>
            </a:pPr>
            <a:r>
              <a:rPr lang="en-US" sz="1000" dirty="0">
                <a:solidFill>
                  <a:srgbClr val="A8B8C8"/>
                </a:solidFill>
                <a:latin typeface="Aptos" pitchFamily="34" charset="0"/>
                <a:ea typeface="Aptos" pitchFamily="34" charset="-122"/>
                <a:cs typeface="Aptos" pitchFamily="34" charset="-120"/>
              </a:rPr>
              <a:t>I would use the clinic’s actual numbers, never a generic payback promise.</a:t>
            </a:r>
            <a:endParaRPr lang="en-US" sz="1000" dirty="0"/>
          </a:p>
        </p:txBody>
      </p:sp>
      <p:sp>
        <p:nvSpPr>
          <p:cNvPr id="25" name="Slide Number Placeholder 0"/>
          <p:cNvSpPr>
            <a:spLocks noGrp="1"/>
          </p:cNvSpPr>
          <p:nvPr>
            <p:ph type="sldNum" sz="quarter" idx="4294967295"/>
          </p:nvPr>
        </p:nvSpPr>
        <p:spPr>
          <a:xfrm>
            <a:off x="11841480" y="6492240"/>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785"/>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4389120" cy="201168"/>
          </a:xfrm>
          <a:prstGeom prst="rect">
            <a:avLst/>
          </a:prstGeom>
          <a:noFill/>
          <a:ln/>
        </p:spPr>
        <p:txBody>
          <a:bodyPr wrap="square" lIns="0" tIns="0" rIns="0" bIns="0" rtlCol="0" anchor="ctr">
            <a:normAutofit/>
          </a:bodyPr>
          <a:lstStyle/>
          <a:p>
            <a:pPr algn="l" indent="0" marL="0">
              <a:buNone/>
            </a:pPr>
            <a:r>
              <a:rPr lang="en-US" sz="950" b="1" dirty="0">
                <a:solidFill>
                  <a:srgbClr val="16B8C4"/>
                </a:solidFill>
                <a:latin typeface="Aptos" pitchFamily="34" charset="0"/>
                <a:ea typeface="Aptos" pitchFamily="34" charset="-122"/>
                <a:cs typeface="Aptos" pitchFamily="34" charset="-120"/>
              </a:rPr>
              <a:t>SALES APPROACH</a:t>
            </a:r>
            <a:endParaRPr lang="en-US" sz="950" dirty="0"/>
          </a:p>
        </p:txBody>
      </p:sp>
      <p:sp>
        <p:nvSpPr>
          <p:cNvPr id="3" name="Text 1"/>
          <p:cNvSpPr/>
          <p:nvPr/>
        </p:nvSpPr>
        <p:spPr>
          <a:xfrm>
            <a:off x="548640" y="658368"/>
            <a:ext cx="10789920" cy="512064"/>
          </a:xfrm>
          <a:prstGeom prst="rect">
            <a:avLst/>
          </a:prstGeom>
          <a:noFill/>
          <a:ln/>
        </p:spPr>
        <p:txBody>
          <a:bodyPr wrap="square" lIns="0" tIns="0" rIns="0" bIns="0" rtlCol="0" anchor="ctr">
            <a:normAutofit/>
          </a:bodyPr>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How I would run the first customer meeting</a:t>
            </a:r>
            <a:endParaRPr lang="en-US" sz="2800" dirty="0"/>
          </a:p>
        </p:txBody>
      </p:sp>
      <p:sp>
        <p:nvSpPr>
          <p:cNvPr id="4" name="Text 2"/>
          <p:cNvSpPr/>
          <p:nvPr/>
        </p:nvSpPr>
        <p:spPr>
          <a:xfrm>
            <a:off x="548640" y="1207008"/>
            <a:ext cx="10515600" cy="292608"/>
          </a:xfrm>
          <a:prstGeom prst="rect">
            <a:avLst/>
          </a:prstGeom>
          <a:noFill/>
          <a:ln/>
        </p:spPr>
        <p:txBody>
          <a:bodyPr wrap="square" lIns="0" tIns="0" rIns="0" bIns="0" rtlCol="0" anchor="ctr">
            <a:normAutofit/>
          </a:bodyPr>
          <a:lstStyle/>
          <a:p>
            <a:pPr algn="l" indent="0" marL="0">
              <a:buNone/>
            </a:pPr>
            <a:r>
              <a:rPr lang="en-US" sz="1250" dirty="0">
                <a:solidFill>
                  <a:srgbClr val="6B7785"/>
                </a:solidFill>
                <a:latin typeface="Aptos" pitchFamily="34" charset="0"/>
                <a:ea typeface="Aptos" pitchFamily="34" charset="-122"/>
                <a:cs typeface="Aptos" pitchFamily="34" charset="-120"/>
              </a:rPr>
              <a:t>A consultative sequence that earns the right to recommend.</a:t>
            </a:r>
            <a:endParaRPr lang="en-US" sz="1250" dirty="0"/>
          </a:p>
        </p:txBody>
      </p:sp>
      <p:sp>
        <p:nvSpPr>
          <p:cNvPr id="5" name="Shape 3"/>
          <p:cNvSpPr/>
          <p:nvPr/>
        </p:nvSpPr>
        <p:spPr>
          <a:xfrm>
            <a:off x="658368" y="1901952"/>
            <a:ext cx="384048" cy="384048"/>
          </a:xfrm>
          <a:prstGeom prst="ellipse">
            <a:avLst/>
          </a:prstGeom>
          <a:solidFill>
            <a:srgbClr val="2F6BFF"/>
          </a:solidFill>
          <a:ln w="12700">
            <a:solidFill>
              <a:srgbClr val="2F6BFF"/>
            </a:solidFill>
            <a:prstDash val="solid"/>
          </a:ln>
        </p:spPr>
      </p:sp>
      <p:sp>
        <p:nvSpPr>
          <p:cNvPr id="6" name="Text 4"/>
          <p:cNvSpPr/>
          <p:nvPr/>
        </p:nvSpPr>
        <p:spPr>
          <a:xfrm>
            <a:off x="658368" y="1911096"/>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1</a:t>
            </a:r>
            <a:endParaRPr lang="en-US" sz="1600" dirty="0"/>
          </a:p>
        </p:txBody>
      </p:sp>
      <p:sp>
        <p:nvSpPr>
          <p:cNvPr id="7" name="Text 5"/>
          <p:cNvSpPr/>
          <p:nvPr/>
        </p:nvSpPr>
        <p:spPr>
          <a:xfrm>
            <a:off x="658368" y="2468880"/>
            <a:ext cx="1554480" cy="256032"/>
          </a:xfrm>
          <a:prstGeom prst="rect">
            <a:avLst/>
          </a:prstGeom>
          <a:noFill/>
          <a:ln/>
        </p:spPr>
        <p:txBody>
          <a:bodyPr wrap="square" lIns="0" tIns="0" rIns="0" bIns="0" rtlCol="0" anchor="ctr">
            <a:normAutofit/>
          </a:bodyPr>
          <a:lstStyle/>
          <a:p>
            <a:pPr algn="l" indent="0" marL="0">
              <a:buNone/>
            </a:pPr>
            <a:r>
              <a:rPr lang="en-US" sz="1500" b="1" dirty="0">
                <a:solidFill>
                  <a:srgbClr val="102A43"/>
                </a:solidFill>
                <a:latin typeface="Aptos" pitchFamily="34" charset="0"/>
                <a:ea typeface="Aptos" pitchFamily="34" charset="-122"/>
                <a:cs typeface="Aptos" pitchFamily="34" charset="-120"/>
              </a:rPr>
              <a:t>Discover</a:t>
            </a:r>
            <a:endParaRPr lang="en-US" sz="1500" dirty="0"/>
          </a:p>
        </p:txBody>
      </p:sp>
      <p:sp>
        <p:nvSpPr>
          <p:cNvPr id="8" name="Text 6"/>
          <p:cNvSpPr/>
          <p:nvPr/>
        </p:nvSpPr>
        <p:spPr>
          <a:xfrm>
            <a:off x="658368" y="2852928"/>
            <a:ext cx="1874520" cy="960120"/>
          </a:xfrm>
          <a:prstGeom prst="rect">
            <a:avLst/>
          </a:prstGeom>
          <a:noFill/>
          <a:ln/>
        </p:spPr>
        <p:txBody>
          <a:bodyPr wrap="square" lIns="0" tIns="0" rIns="0" bIns="0" rtlCol="0" anchor="t">
            <a:normAutofit/>
          </a:bodyPr>
          <a:lstStyle/>
          <a:p>
            <a:pPr algn="l" indent="0" marL="0">
              <a:buNone/>
            </a:pPr>
            <a:r>
              <a:rPr lang="en-US" sz="1100" dirty="0">
                <a:solidFill>
                  <a:srgbClr val="203040"/>
                </a:solidFill>
                <a:latin typeface="Aptos" pitchFamily="34" charset="0"/>
                <a:ea typeface="Aptos" pitchFamily="34" charset="-122"/>
                <a:cs typeface="Aptos" pitchFamily="34" charset="-120"/>
              </a:rPr>
              <a:t>“Which patient group do you most want to grow?”</a:t>
            </a:r>
            <a:endParaRPr lang="en-US" sz="1100" dirty="0"/>
          </a:p>
        </p:txBody>
      </p:sp>
      <p:sp>
        <p:nvSpPr>
          <p:cNvPr id="9" name="Shape 7"/>
          <p:cNvSpPr/>
          <p:nvPr/>
        </p:nvSpPr>
        <p:spPr>
          <a:xfrm>
            <a:off x="2286000" y="2084832"/>
            <a:ext cx="502920" cy="0"/>
          </a:xfrm>
          <a:prstGeom prst="line">
            <a:avLst/>
          </a:prstGeom>
          <a:noFill/>
          <a:ln w="15240">
            <a:solidFill>
              <a:srgbClr val="D7E0E8"/>
            </a:solidFill>
            <a:prstDash val="solid"/>
          </a:ln>
        </p:spPr>
      </p:sp>
      <p:sp>
        <p:nvSpPr>
          <p:cNvPr id="10" name="Text 8"/>
          <p:cNvSpPr/>
          <p:nvPr/>
        </p:nvSpPr>
        <p:spPr>
          <a:xfrm>
            <a:off x="2468880" y="1938528"/>
            <a:ext cx="182880" cy="274320"/>
          </a:xfrm>
          <a:prstGeom prst="rect">
            <a:avLst/>
          </a:prstGeom>
          <a:noFill/>
          <a:ln/>
        </p:spPr>
        <p:txBody>
          <a:bodyPr wrap="square" lIns="0" tIns="0" rIns="0" bIns="0" rtlCol="0" anchor="ctr">
            <a:normAutofit/>
          </a:bodyPr>
          <a:lstStyle/>
          <a:p>
            <a:pPr algn="ctr" indent="0" marL="0">
              <a:buNone/>
            </a:pPr>
            <a:r>
              <a:rPr lang="en-US" sz="2400" dirty="0">
                <a:solidFill>
                  <a:srgbClr val="6B7785"/>
                </a:solidFill>
                <a:latin typeface="Aptos" pitchFamily="34" charset="0"/>
                <a:ea typeface="Aptos" pitchFamily="34" charset="-122"/>
                <a:cs typeface="Aptos" pitchFamily="34" charset="-120"/>
              </a:rPr>
              <a:t>›</a:t>
            </a:r>
            <a:endParaRPr lang="en-US" sz="2400" dirty="0"/>
          </a:p>
        </p:txBody>
      </p:sp>
      <p:sp>
        <p:nvSpPr>
          <p:cNvPr id="11" name="Shape 9"/>
          <p:cNvSpPr/>
          <p:nvPr/>
        </p:nvSpPr>
        <p:spPr>
          <a:xfrm>
            <a:off x="2916936" y="1901952"/>
            <a:ext cx="384048" cy="384048"/>
          </a:xfrm>
          <a:prstGeom prst="ellipse">
            <a:avLst/>
          </a:prstGeom>
          <a:solidFill>
            <a:srgbClr val="16B8C4"/>
          </a:solidFill>
          <a:ln w="12700">
            <a:solidFill>
              <a:srgbClr val="16B8C4"/>
            </a:solidFill>
            <a:prstDash val="solid"/>
          </a:ln>
        </p:spPr>
      </p:sp>
      <p:sp>
        <p:nvSpPr>
          <p:cNvPr id="12" name="Text 10"/>
          <p:cNvSpPr/>
          <p:nvPr/>
        </p:nvSpPr>
        <p:spPr>
          <a:xfrm>
            <a:off x="2916936" y="1911096"/>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2</a:t>
            </a:r>
            <a:endParaRPr lang="en-US" sz="1600" dirty="0"/>
          </a:p>
        </p:txBody>
      </p:sp>
      <p:sp>
        <p:nvSpPr>
          <p:cNvPr id="13" name="Text 11"/>
          <p:cNvSpPr/>
          <p:nvPr/>
        </p:nvSpPr>
        <p:spPr>
          <a:xfrm>
            <a:off x="2916936" y="2468880"/>
            <a:ext cx="1554480" cy="256032"/>
          </a:xfrm>
          <a:prstGeom prst="rect">
            <a:avLst/>
          </a:prstGeom>
          <a:noFill/>
          <a:ln/>
        </p:spPr>
        <p:txBody>
          <a:bodyPr wrap="square" lIns="0" tIns="0" rIns="0" bIns="0" rtlCol="0" anchor="ctr">
            <a:normAutofit/>
          </a:bodyPr>
          <a:lstStyle/>
          <a:p>
            <a:pPr algn="l" indent="0" marL="0">
              <a:buNone/>
            </a:pPr>
            <a:r>
              <a:rPr lang="en-US" sz="1500" b="1" dirty="0">
                <a:solidFill>
                  <a:srgbClr val="102A43"/>
                </a:solidFill>
                <a:latin typeface="Aptos" pitchFamily="34" charset="0"/>
                <a:ea typeface="Aptos" pitchFamily="34" charset="-122"/>
                <a:cs typeface="Aptos" pitchFamily="34" charset="-120"/>
              </a:rPr>
              <a:t>Qualify</a:t>
            </a:r>
            <a:endParaRPr lang="en-US" sz="1500" dirty="0"/>
          </a:p>
        </p:txBody>
      </p:sp>
      <p:sp>
        <p:nvSpPr>
          <p:cNvPr id="14" name="Text 12"/>
          <p:cNvSpPr/>
          <p:nvPr/>
        </p:nvSpPr>
        <p:spPr>
          <a:xfrm>
            <a:off x="2916936" y="2852928"/>
            <a:ext cx="1874520" cy="960120"/>
          </a:xfrm>
          <a:prstGeom prst="rect">
            <a:avLst/>
          </a:prstGeom>
          <a:noFill/>
          <a:ln/>
        </p:spPr>
        <p:txBody>
          <a:bodyPr wrap="square" lIns="0" tIns="0" rIns="0" bIns="0" rtlCol="0" anchor="t">
            <a:normAutofit/>
          </a:bodyPr>
          <a:lstStyle/>
          <a:p>
            <a:pPr algn="l" indent="0" marL="0">
              <a:buNone/>
            </a:pPr>
            <a:r>
              <a:rPr lang="en-US" sz="1100" dirty="0">
                <a:solidFill>
                  <a:srgbClr val="203040"/>
                </a:solidFill>
                <a:latin typeface="Aptos" pitchFamily="34" charset="0"/>
                <a:ea typeface="Aptos" pitchFamily="34" charset="-122"/>
                <a:cs typeface="Aptos" pitchFamily="34" charset="-120"/>
              </a:rPr>
              <a:t>“What does your current workflow handle well, and where is it limited?”</a:t>
            </a:r>
            <a:endParaRPr lang="en-US" sz="1100" dirty="0"/>
          </a:p>
        </p:txBody>
      </p:sp>
      <p:sp>
        <p:nvSpPr>
          <p:cNvPr id="15" name="Shape 13"/>
          <p:cNvSpPr/>
          <p:nvPr/>
        </p:nvSpPr>
        <p:spPr>
          <a:xfrm>
            <a:off x="4544568" y="2084832"/>
            <a:ext cx="502920" cy="0"/>
          </a:xfrm>
          <a:prstGeom prst="line">
            <a:avLst/>
          </a:prstGeom>
          <a:noFill/>
          <a:ln w="15240">
            <a:solidFill>
              <a:srgbClr val="D7E0E8"/>
            </a:solidFill>
            <a:prstDash val="solid"/>
          </a:ln>
        </p:spPr>
      </p:sp>
      <p:sp>
        <p:nvSpPr>
          <p:cNvPr id="16" name="Text 14"/>
          <p:cNvSpPr/>
          <p:nvPr/>
        </p:nvSpPr>
        <p:spPr>
          <a:xfrm>
            <a:off x="4727448" y="1938528"/>
            <a:ext cx="182880" cy="274320"/>
          </a:xfrm>
          <a:prstGeom prst="rect">
            <a:avLst/>
          </a:prstGeom>
          <a:noFill/>
          <a:ln/>
        </p:spPr>
        <p:txBody>
          <a:bodyPr wrap="square" lIns="0" tIns="0" rIns="0" bIns="0" rtlCol="0" anchor="ctr">
            <a:normAutofit/>
          </a:bodyPr>
          <a:lstStyle/>
          <a:p>
            <a:pPr algn="ctr" indent="0" marL="0">
              <a:buNone/>
            </a:pPr>
            <a:r>
              <a:rPr lang="en-US" sz="2400" dirty="0">
                <a:solidFill>
                  <a:srgbClr val="6B7785"/>
                </a:solidFill>
                <a:latin typeface="Aptos" pitchFamily="34" charset="0"/>
                <a:ea typeface="Aptos" pitchFamily="34" charset="-122"/>
                <a:cs typeface="Aptos" pitchFamily="34" charset="-120"/>
              </a:rPr>
              <a:t>›</a:t>
            </a:r>
            <a:endParaRPr lang="en-US" sz="2400" dirty="0"/>
          </a:p>
        </p:txBody>
      </p:sp>
      <p:sp>
        <p:nvSpPr>
          <p:cNvPr id="17" name="Shape 15"/>
          <p:cNvSpPr/>
          <p:nvPr/>
        </p:nvSpPr>
        <p:spPr>
          <a:xfrm>
            <a:off x="5175504" y="1901952"/>
            <a:ext cx="384048" cy="384048"/>
          </a:xfrm>
          <a:prstGeom prst="ellipse">
            <a:avLst/>
          </a:prstGeom>
          <a:solidFill>
            <a:srgbClr val="F47C6C"/>
          </a:solidFill>
          <a:ln w="12700">
            <a:solidFill>
              <a:srgbClr val="F47C6C"/>
            </a:solidFill>
            <a:prstDash val="solid"/>
          </a:ln>
        </p:spPr>
      </p:sp>
      <p:sp>
        <p:nvSpPr>
          <p:cNvPr id="18" name="Text 16"/>
          <p:cNvSpPr/>
          <p:nvPr/>
        </p:nvSpPr>
        <p:spPr>
          <a:xfrm>
            <a:off x="5175504" y="1911096"/>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3</a:t>
            </a:r>
            <a:endParaRPr lang="en-US" sz="1600" dirty="0"/>
          </a:p>
        </p:txBody>
      </p:sp>
      <p:sp>
        <p:nvSpPr>
          <p:cNvPr id="19" name="Text 17"/>
          <p:cNvSpPr/>
          <p:nvPr/>
        </p:nvSpPr>
        <p:spPr>
          <a:xfrm>
            <a:off x="5175504" y="2468880"/>
            <a:ext cx="1554480" cy="256032"/>
          </a:xfrm>
          <a:prstGeom prst="rect">
            <a:avLst/>
          </a:prstGeom>
          <a:noFill/>
          <a:ln/>
        </p:spPr>
        <p:txBody>
          <a:bodyPr wrap="square" lIns="0" tIns="0" rIns="0" bIns="0" rtlCol="0" anchor="ctr">
            <a:normAutofit/>
          </a:bodyPr>
          <a:lstStyle/>
          <a:p>
            <a:pPr algn="l" indent="0" marL="0">
              <a:buNone/>
            </a:pPr>
            <a:r>
              <a:rPr lang="en-US" sz="1500" b="1" dirty="0">
                <a:solidFill>
                  <a:srgbClr val="102A43"/>
                </a:solidFill>
                <a:latin typeface="Aptos" pitchFamily="34" charset="0"/>
                <a:ea typeface="Aptos" pitchFamily="34" charset="-122"/>
                <a:cs typeface="Aptos" pitchFamily="34" charset="-120"/>
              </a:rPr>
              <a:t>Demonstrate</a:t>
            </a:r>
            <a:endParaRPr lang="en-US" sz="1500" dirty="0"/>
          </a:p>
        </p:txBody>
      </p:sp>
      <p:sp>
        <p:nvSpPr>
          <p:cNvPr id="20" name="Text 18"/>
          <p:cNvSpPr/>
          <p:nvPr/>
        </p:nvSpPr>
        <p:spPr>
          <a:xfrm>
            <a:off x="5175504" y="2852928"/>
            <a:ext cx="1874520" cy="960120"/>
          </a:xfrm>
          <a:prstGeom prst="rect">
            <a:avLst/>
          </a:prstGeom>
          <a:noFill/>
          <a:ln/>
        </p:spPr>
        <p:txBody>
          <a:bodyPr wrap="square" lIns="0" tIns="0" rIns="0" bIns="0" rtlCol="0" anchor="t">
            <a:normAutofit/>
          </a:bodyPr>
          <a:lstStyle/>
          <a:p>
            <a:pPr algn="l" indent="0" marL="0">
              <a:buNone/>
            </a:pPr>
            <a:r>
              <a:rPr lang="en-US" sz="1100" dirty="0">
                <a:solidFill>
                  <a:srgbClr val="203040"/>
                </a:solidFill>
                <a:latin typeface="Aptos" pitchFamily="34" charset="0"/>
                <a:ea typeface="Aptos" pitchFamily="34" charset="-122"/>
                <a:cs typeface="Aptos" pitchFamily="34" charset="-120"/>
              </a:rPr>
              <a:t>Show the modality in the language of the clinic’s patient and staff.</a:t>
            </a:r>
            <a:endParaRPr lang="en-US" sz="1100" dirty="0"/>
          </a:p>
        </p:txBody>
      </p:sp>
      <p:sp>
        <p:nvSpPr>
          <p:cNvPr id="21" name="Shape 19"/>
          <p:cNvSpPr/>
          <p:nvPr/>
        </p:nvSpPr>
        <p:spPr>
          <a:xfrm>
            <a:off x="6803136" y="2084832"/>
            <a:ext cx="502920" cy="0"/>
          </a:xfrm>
          <a:prstGeom prst="line">
            <a:avLst/>
          </a:prstGeom>
          <a:noFill/>
          <a:ln w="15240">
            <a:solidFill>
              <a:srgbClr val="D7E0E8"/>
            </a:solidFill>
            <a:prstDash val="solid"/>
          </a:ln>
        </p:spPr>
      </p:sp>
      <p:sp>
        <p:nvSpPr>
          <p:cNvPr id="22" name="Text 20"/>
          <p:cNvSpPr/>
          <p:nvPr/>
        </p:nvSpPr>
        <p:spPr>
          <a:xfrm>
            <a:off x="6986016" y="1938528"/>
            <a:ext cx="182880" cy="274320"/>
          </a:xfrm>
          <a:prstGeom prst="rect">
            <a:avLst/>
          </a:prstGeom>
          <a:noFill/>
          <a:ln/>
        </p:spPr>
        <p:txBody>
          <a:bodyPr wrap="square" lIns="0" tIns="0" rIns="0" bIns="0" rtlCol="0" anchor="ctr">
            <a:normAutofit/>
          </a:bodyPr>
          <a:lstStyle/>
          <a:p>
            <a:pPr algn="ctr" indent="0" marL="0">
              <a:buNone/>
            </a:pPr>
            <a:r>
              <a:rPr lang="en-US" sz="2400" dirty="0">
                <a:solidFill>
                  <a:srgbClr val="6B7785"/>
                </a:solidFill>
                <a:latin typeface="Aptos" pitchFamily="34" charset="0"/>
                <a:ea typeface="Aptos" pitchFamily="34" charset="-122"/>
                <a:cs typeface="Aptos" pitchFamily="34" charset="-120"/>
              </a:rPr>
              <a:t>›</a:t>
            </a:r>
            <a:endParaRPr lang="en-US" sz="2400" dirty="0"/>
          </a:p>
        </p:txBody>
      </p:sp>
      <p:sp>
        <p:nvSpPr>
          <p:cNvPr id="23" name="Shape 21"/>
          <p:cNvSpPr/>
          <p:nvPr/>
        </p:nvSpPr>
        <p:spPr>
          <a:xfrm>
            <a:off x="7434072" y="1901952"/>
            <a:ext cx="384048" cy="384048"/>
          </a:xfrm>
          <a:prstGeom prst="ellipse">
            <a:avLst/>
          </a:prstGeom>
          <a:solidFill>
            <a:srgbClr val="1D8A70"/>
          </a:solidFill>
          <a:ln w="12700">
            <a:solidFill>
              <a:srgbClr val="1D8A70"/>
            </a:solidFill>
            <a:prstDash val="solid"/>
          </a:ln>
        </p:spPr>
      </p:sp>
      <p:sp>
        <p:nvSpPr>
          <p:cNvPr id="24" name="Text 22"/>
          <p:cNvSpPr/>
          <p:nvPr/>
        </p:nvSpPr>
        <p:spPr>
          <a:xfrm>
            <a:off x="7434072" y="1911096"/>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4</a:t>
            </a:r>
            <a:endParaRPr lang="en-US" sz="1600" dirty="0"/>
          </a:p>
        </p:txBody>
      </p:sp>
      <p:sp>
        <p:nvSpPr>
          <p:cNvPr id="25" name="Text 23"/>
          <p:cNvSpPr/>
          <p:nvPr/>
        </p:nvSpPr>
        <p:spPr>
          <a:xfrm>
            <a:off x="7434072" y="2468880"/>
            <a:ext cx="1554480" cy="256032"/>
          </a:xfrm>
          <a:prstGeom prst="rect">
            <a:avLst/>
          </a:prstGeom>
          <a:noFill/>
          <a:ln/>
        </p:spPr>
        <p:txBody>
          <a:bodyPr wrap="square" lIns="0" tIns="0" rIns="0" bIns="0" rtlCol="0" anchor="ctr">
            <a:normAutofit/>
          </a:bodyPr>
          <a:lstStyle/>
          <a:p>
            <a:pPr algn="l" indent="0" marL="0">
              <a:buNone/>
            </a:pPr>
            <a:r>
              <a:rPr lang="en-US" sz="1500" b="1" dirty="0">
                <a:solidFill>
                  <a:srgbClr val="102A43"/>
                </a:solidFill>
                <a:latin typeface="Aptos" pitchFamily="34" charset="0"/>
                <a:ea typeface="Aptos" pitchFamily="34" charset="-122"/>
                <a:cs typeface="Aptos" pitchFamily="34" charset="-120"/>
              </a:rPr>
              <a:t>Prove value</a:t>
            </a:r>
            <a:endParaRPr lang="en-US" sz="1500" dirty="0"/>
          </a:p>
        </p:txBody>
      </p:sp>
      <p:sp>
        <p:nvSpPr>
          <p:cNvPr id="26" name="Text 24"/>
          <p:cNvSpPr/>
          <p:nvPr/>
        </p:nvSpPr>
        <p:spPr>
          <a:xfrm>
            <a:off x="7434072" y="2852928"/>
            <a:ext cx="1874520" cy="960120"/>
          </a:xfrm>
          <a:prstGeom prst="rect">
            <a:avLst/>
          </a:prstGeom>
          <a:noFill/>
          <a:ln/>
        </p:spPr>
        <p:txBody>
          <a:bodyPr wrap="square" lIns="0" tIns="0" rIns="0" bIns="0" rtlCol="0" anchor="t">
            <a:normAutofit/>
          </a:bodyPr>
          <a:lstStyle/>
          <a:p>
            <a:pPr algn="l" indent="0" marL="0">
              <a:buNone/>
            </a:pPr>
            <a:r>
              <a:rPr lang="en-US" sz="1100" dirty="0">
                <a:solidFill>
                  <a:srgbClr val="203040"/>
                </a:solidFill>
                <a:latin typeface="Aptos" pitchFamily="34" charset="0"/>
                <a:ea typeface="Aptos" pitchFamily="34" charset="-122"/>
                <a:cs typeface="Aptos" pitchFamily="34" charset="-120"/>
              </a:rPr>
              <a:t>Use protocols, training, utilization and real clinic economics.</a:t>
            </a:r>
            <a:endParaRPr lang="en-US" sz="1100" dirty="0"/>
          </a:p>
        </p:txBody>
      </p:sp>
      <p:sp>
        <p:nvSpPr>
          <p:cNvPr id="27" name="Shape 25"/>
          <p:cNvSpPr/>
          <p:nvPr/>
        </p:nvSpPr>
        <p:spPr>
          <a:xfrm>
            <a:off x="9061704" y="2084832"/>
            <a:ext cx="502920" cy="0"/>
          </a:xfrm>
          <a:prstGeom prst="line">
            <a:avLst/>
          </a:prstGeom>
          <a:noFill/>
          <a:ln w="15240">
            <a:solidFill>
              <a:srgbClr val="D7E0E8"/>
            </a:solidFill>
            <a:prstDash val="solid"/>
          </a:ln>
        </p:spPr>
      </p:sp>
      <p:sp>
        <p:nvSpPr>
          <p:cNvPr id="28" name="Text 26"/>
          <p:cNvSpPr/>
          <p:nvPr/>
        </p:nvSpPr>
        <p:spPr>
          <a:xfrm>
            <a:off x="9244584" y="1938528"/>
            <a:ext cx="182880" cy="274320"/>
          </a:xfrm>
          <a:prstGeom prst="rect">
            <a:avLst/>
          </a:prstGeom>
          <a:noFill/>
          <a:ln/>
        </p:spPr>
        <p:txBody>
          <a:bodyPr wrap="square" lIns="0" tIns="0" rIns="0" bIns="0" rtlCol="0" anchor="ctr">
            <a:normAutofit/>
          </a:bodyPr>
          <a:lstStyle/>
          <a:p>
            <a:pPr algn="ctr" indent="0" marL="0">
              <a:buNone/>
            </a:pPr>
            <a:r>
              <a:rPr lang="en-US" sz="2400" dirty="0">
                <a:solidFill>
                  <a:srgbClr val="6B7785"/>
                </a:solidFill>
                <a:latin typeface="Aptos" pitchFamily="34" charset="0"/>
                <a:ea typeface="Aptos" pitchFamily="34" charset="-122"/>
                <a:cs typeface="Aptos" pitchFamily="34" charset="-120"/>
              </a:rPr>
              <a:t>›</a:t>
            </a:r>
            <a:endParaRPr lang="en-US" sz="2400" dirty="0"/>
          </a:p>
        </p:txBody>
      </p:sp>
      <p:sp>
        <p:nvSpPr>
          <p:cNvPr id="29" name="Shape 27"/>
          <p:cNvSpPr/>
          <p:nvPr/>
        </p:nvSpPr>
        <p:spPr>
          <a:xfrm>
            <a:off x="9692640" y="1901952"/>
            <a:ext cx="384048" cy="384048"/>
          </a:xfrm>
          <a:prstGeom prst="ellipse">
            <a:avLst/>
          </a:prstGeom>
          <a:solidFill>
            <a:srgbClr val="102A43"/>
          </a:solidFill>
          <a:ln w="12700">
            <a:solidFill>
              <a:srgbClr val="102A43"/>
            </a:solidFill>
            <a:prstDash val="solid"/>
          </a:ln>
        </p:spPr>
      </p:sp>
      <p:sp>
        <p:nvSpPr>
          <p:cNvPr id="30" name="Text 28"/>
          <p:cNvSpPr/>
          <p:nvPr/>
        </p:nvSpPr>
        <p:spPr>
          <a:xfrm>
            <a:off x="9692640" y="1911096"/>
            <a:ext cx="384048" cy="34747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5</a:t>
            </a:r>
            <a:endParaRPr lang="en-US" sz="1600" dirty="0"/>
          </a:p>
        </p:txBody>
      </p:sp>
      <p:sp>
        <p:nvSpPr>
          <p:cNvPr id="31" name="Text 29"/>
          <p:cNvSpPr/>
          <p:nvPr/>
        </p:nvSpPr>
        <p:spPr>
          <a:xfrm>
            <a:off x="9692640" y="2468880"/>
            <a:ext cx="1554480" cy="256032"/>
          </a:xfrm>
          <a:prstGeom prst="rect">
            <a:avLst/>
          </a:prstGeom>
          <a:noFill/>
          <a:ln/>
        </p:spPr>
        <p:txBody>
          <a:bodyPr wrap="square" lIns="0" tIns="0" rIns="0" bIns="0" rtlCol="0" anchor="ctr">
            <a:normAutofit/>
          </a:bodyPr>
          <a:lstStyle/>
          <a:p>
            <a:pPr algn="l" indent="0" marL="0">
              <a:buNone/>
            </a:pPr>
            <a:r>
              <a:rPr lang="en-US" sz="1500" b="1" dirty="0">
                <a:solidFill>
                  <a:srgbClr val="102A43"/>
                </a:solidFill>
                <a:latin typeface="Aptos" pitchFamily="34" charset="0"/>
                <a:ea typeface="Aptos" pitchFamily="34" charset="-122"/>
                <a:cs typeface="Aptos" pitchFamily="34" charset="-120"/>
              </a:rPr>
              <a:t>Close next step</a:t>
            </a:r>
            <a:endParaRPr lang="en-US" sz="1500" dirty="0"/>
          </a:p>
        </p:txBody>
      </p:sp>
      <p:sp>
        <p:nvSpPr>
          <p:cNvPr id="32" name="Text 30"/>
          <p:cNvSpPr/>
          <p:nvPr/>
        </p:nvSpPr>
        <p:spPr>
          <a:xfrm>
            <a:off x="9692640" y="2852928"/>
            <a:ext cx="1874520" cy="960120"/>
          </a:xfrm>
          <a:prstGeom prst="rect">
            <a:avLst/>
          </a:prstGeom>
          <a:noFill/>
          <a:ln/>
        </p:spPr>
        <p:txBody>
          <a:bodyPr wrap="square" lIns="0" tIns="0" rIns="0" bIns="0" rtlCol="0" anchor="t">
            <a:normAutofit/>
          </a:bodyPr>
          <a:lstStyle/>
          <a:p>
            <a:pPr algn="l" indent="0" marL="0">
              <a:buNone/>
            </a:pPr>
            <a:r>
              <a:rPr lang="en-US" sz="1100" dirty="0">
                <a:solidFill>
                  <a:srgbClr val="203040"/>
                </a:solidFill>
                <a:latin typeface="Aptos" pitchFamily="34" charset="0"/>
                <a:ea typeface="Aptos" pitchFamily="34" charset="-122"/>
                <a:cs typeface="Aptos" pitchFamily="34" charset="-120"/>
              </a:rPr>
              <a:t>Agree on a demo, clinical evaluation or business case.</a:t>
            </a:r>
            <a:endParaRPr lang="en-US" sz="1100" dirty="0"/>
          </a:p>
        </p:txBody>
      </p:sp>
      <p:sp>
        <p:nvSpPr>
          <p:cNvPr id="33" name="Shape 31"/>
          <p:cNvSpPr/>
          <p:nvPr/>
        </p:nvSpPr>
        <p:spPr>
          <a:xfrm>
            <a:off x="658368" y="4572000"/>
            <a:ext cx="11018520" cy="1234440"/>
          </a:xfrm>
          <a:prstGeom prst="roundRect">
            <a:avLst>
              <a:gd name="adj" fmla="val 5926"/>
            </a:avLst>
          </a:prstGeom>
          <a:solidFill>
            <a:srgbClr val="EAF2FF"/>
          </a:solidFill>
          <a:ln w="12700">
            <a:solidFill>
              <a:srgbClr val="C8D9FF"/>
            </a:solidFill>
            <a:prstDash val="solid"/>
          </a:ln>
        </p:spPr>
      </p:sp>
      <p:sp>
        <p:nvSpPr>
          <p:cNvPr id="34" name="Text 32"/>
          <p:cNvSpPr/>
          <p:nvPr/>
        </p:nvSpPr>
        <p:spPr>
          <a:xfrm>
            <a:off x="960120" y="4800600"/>
            <a:ext cx="3474720" cy="228600"/>
          </a:xfrm>
          <a:prstGeom prst="rect">
            <a:avLst/>
          </a:prstGeom>
          <a:noFill/>
          <a:ln/>
        </p:spPr>
        <p:txBody>
          <a:bodyPr wrap="square" lIns="0" tIns="0" rIns="0" bIns="0" rtlCol="0" anchor="ctr">
            <a:normAutofit/>
          </a:bodyPr>
          <a:lstStyle/>
          <a:p>
            <a:pPr algn="l" indent="0" marL="0">
              <a:buNone/>
            </a:pPr>
            <a:r>
              <a:rPr lang="en-US" sz="1100" b="1" dirty="0">
                <a:solidFill>
                  <a:srgbClr val="2F6BFF"/>
                </a:solidFill>
                <a:latin typeface="Aptos" pitchFamily="34" charset="0"/>
                <a:ea typeface="Aptos" pitchFamily="34" charset="-122"/>
                <a:cs typeface="Aptos" pitchFamily="34" charset="-120"/>
              </a:rPr>
              <a:t>If the interviewer asks for my objection handling:</a:t>
            </a:r>
            <a:endParaRPr lang="en-US" sz="1100" dirty="0"/>
          </a:p>
        </p:txBody>
      </p:sp>
      <p:sp>
        <p:nvSpPr>
          <p:cNvPr id="35" name="Text 33"/>
          <p:cNvSpPr/>
          <p:nvPr/>
        </p:nvSpPr>
        <p:spPr>
          <a:xfrm>
            <a:off x="960120" y="5138928"/>
            <a:ext cx="10012680" cy="438912"/>
          </a:xfrm>
          <a:prstGeom prst="rect">
            <a:avLst/>
          </a:prstGeom>
          <a:noFill/>
          <a:ln/>
        </p:spPr>
        <p:txBody>
          <a:bodyPr wrap="square" lIns="0" tIns="0" rIns="0" bIns="0" rtlCol="0" anchor="t">
            <a:normAutofit/>
          </a:bodyPr>
          <a:lstStyle/>
          <a:p>
            <a:pPr algn="l" indent="0" marL="0">
              <a:buNone/>
            </a:pPr>
            <a:r>
              <a:rPr lang="en-US" sz="1300" b="1" dirty="0">
                <a:solidFill>
                  <a:srgbClr val="102A43"/>
                </a:solidFill>
                <a:latin typeface="Aptos" pitchFamily="34" charset="0"/>
                <a:ea typeface="Aptos" pitchFamily="34" charset="-122"/>
                <a:cs typeface="Aptos" pitchFamily="34" charset="-120"/>
              </a:rPr>
              <a:t>“I would acknowledge the concern, clarify whether it is clinical, workflow or financial, then answer with evidence and a next step. For example: rather than defend the price, I would ask what utilization level would make the investment compelling and build the case from there.”</a:t>
            </a:r>
            <a:endParaRPr lang="en-US" sz="1300" dirty="0"/>
          </a:p>
        </p:txBody>
      </p:sp>
      <p:sp>
        <p:nvSpPr>
          <p:cNvPr id="25" name="Slide Number Placeholder 0"/>
          <p:cNvSpPr>
            <a:spLocks noGrp="1"/>
          </p:cNvSpPr>
          <p:nvPr>
            <p:ph type="sldNum" sz="quarter" idx="4294967295"/>
          </p:nvPr>
        </p:nvSpPr>
        <p:spPr>
          <a:xfrm>
            <a:off x="11841480" y="6492240"/>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785"/>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3"/>
        </a:solidFill>
      </p:bgPr>
    </p:bg>
    <p:spTree>
      <p:nvGrpSpPr>
        <p:cNvPr id="1" name=""/>
        <p:cNvGrpSpPr/>
        <p:nvPr/>
      </p:nvGrpSpPr>
      <p:grpSpPr>
        <a:xfrm>
          <a:off x="0" y="0"/>
          <a:ext cx="0" cy="0"/>
          <a:chOff x="0" y="0"/>
          <a:chExt cx="0" cy="0"/>
        </a:xfrm>
      </p:grpSpPr>
      <p:pic>
        <p:nvPicPr>
          <p:cNvPr id="2" name="Image 0" descr="G:\herott\assets\ct9-main.jpg">    </p:cNvPr>
          <p:cNvPicPr>
            <a:picLocks noChangeAspect="1"/>
          </p:cNvPicPr>
          <p:nvPr/>
        </p:nvPicPr>
        <p:blipFill>
          <a:blip r:embed="rId1">
            <a:alphaModFix amt="70000"/>
          </a:blip>
          <a:srcRect l="0" r="0" t="0" b="0"/>
          <a:stretch/>
        </p:blipFill>
        <p:spPr>
          <a:xfrm>
            <a:off x="6903720" y="0"/>
            <a:ext cx="5285232" cy="6858000"/>
          </a:xfrm>
          <a:prstGeom prst="rect">
            <a:avLst/>
          </a:prstGeom>
        </p:spPr>
      </p:pic>
      <p:sp>
        <p:nvSpPr>
          <p:cNvPr id="3" name="Shape 0"/>
          <p:cNvSpPr/>
          <p:nvPr/>
        </p:nvSpPr>
        <p:spPr>
          <a:xfrm>
            <a:off x="0" y="0"/>
            <a:ext cx="7955280" cy="6858000"/>
          </a:xfrm>
          <a:prstGeom prst="rect">
            <a:avLst/>
          </a:prstGeom>
          <a:solidFill>
            <a:srgbClr val="0B1F33"/>
          </a:solidFill>
          <a:ln w="12700">
            <a:solidFill>
              <a:srgbClr val="0B1F33"/>
            </a:solidFill>
            <a:prstDash val="solid"/>
          </a:ln>
        </p:spPr>
      </p:sp>
      <p:sp>
        <p:nvSpPr>
          <p:cNvPr id="4" name="Shape 1"/>
          <p:cNvSpPr/>
          <p:nvPr/>
        </p:nvSpPr>
        <p:spPr>
          <a:xfrm>
            <a:off x="6035040" y="0"/>
            <a:ext cx="1920240" cy="6858000"/>
          </a:xfrm>
          <a:prstGeom prst="rect">
            <a:avLst/>
          </a:prstGeom>
          <a:solidFill>
            <a:srgbClr val="0B1F33">
              <a:alpha val="85000"/>
            </a:srgbClr>
          </a:solidFill>
          <a:ln w="12700">
            <a:solidFill>
              <a:srgbClr val="0B1F33">
                <a:alpha val="0"/>
              </a:srgbClr>
            </a:solidFill>
            <a:prstDash val="solid"/>
          </a:ln>
        </p:spPr>
      </p:sp>
      <p:sp>
        <p:nvSpPr>
          <p:cNvPr id="5" name="Shape 2"/>
          <p:cNvSpPr/>
          <p:nvPr/>
        </p:nvSpPr>
        <p:spPr>
          <a:xfrm>
            <a:off x="640080" y="658368"/>
            <a:ext cx="1417320" cy="265176"/>
          </a:xfrm>
          <a:prstGeom prst="roundRect">
            <a:avLst>
              <a:gd name="adj" fmla="val 20690"/>
            </a:avLst>
          </a:prstGeom>
          <a:solidFill>
            <a:srgbClr val="16B8C4"/>
          </a:solidFill>
          <a:ln w="12700">
            <a:solidFill>
              <a:srgbClr val="16B8C4"/>
            </a:solidFill>
            <a:prstDash val="solid"/>
          </a:ln>
        </p:spPr>
      </p:sp>
      <p:sp>
        <p:nvSpPr>
          <p:cNvPr id="6" name="Text 3"/>
          <p:cNvSpPr/>
          <p:nvPr/>
        </p:nvSpPr>
        <p:spPr>
          <a:xfrm>
            <a:off x="713232" y="672084"/>
            <a:ext cx="1271016" cy="228600"/>
          </a:xfrm>
          <a:prstGeom prst="rect">
            <a:avLst/>
          </a:prstGeom>
          <a:noFill/>
          <a:ln/>
        </p:spPr>
        <p:txBody>
          <a:bodyPr wrap="square" lIns="0" tIns="0" rIns="0" bIns="0" rtlCol="0" anchor="ctr">
            <a:normAutofit/>
          </a:bodyPr>
          <a:lstStyle/>
          <a:p>
            <a:pPr algn="ctr" indent="0" marL="0">
              <a:buNone/>
            </a:pPr>
            <a:r>
              <a:rPr lang="en-US" sz="850" b="1" dirty="0">
                <a:solidFill>
                  <a:srgbClr val="0B1F33"/>
                </a:solidFill>
                <a:latin typeface="Aptos" pitchFamily="34" charset="0"/>
                <a:ea typeface="Aptos" pitchFamily="34" charset="-122"/>
                <a:cs typeface="Aptos" pitchFamily="34" charset="-120"/>
              </a:rPr>
              <a:t>THE TAKEAWAY</a:t>
            </a:r>
            <a:endParaRPr lang="en-US" sz="850" dirty="0"/>
          </a:p>
        </p:txBody>
      </p:sp>
      <p:sp>
        <p:nvSpPr>
          <p:cNvPr id="7" name="Text 4"/>
          <p:cNvSpPr/>
          <p:nvPr/>
        </p:nvSpPr>
        <p:spPr>
          <a:xfrm>
            <a:off x="640080" y="1463040"/>
            <a:ext cx="6126480" cy="548640"/>
          </a:xfrm>
          <a:prstGeom prst="rect">
            <a:avLst/>
          </a:prstGeom>
          <a:noFill/>
          <a:ln/>
        </p:spPr>
        <p:txBody>
          <a:bodyPr wrap="square" lIns="0" tIns="0" rIns="0" bIns="0" rtlCol="0" anchor="ctr">
            <a:normAutofit/>
          </a:bodyPr>
          <a:lstStyle/>
          <a:p>
            <a:pPr algn="l" indent="0" marL="0">
              <a:buNone/>
            </a:pPr>
            <a:r>
              <a:rPr lang="en-US" sz="3000" b="1" dirty="0">
                <a:solidFill>
                  <a:srgbClr val="FFFFFF"/>
                </a:solidFill>
                <a:latin typeface="Aptos Display" pitchFamily="34" charset="0"/>
                <a:ea typeface="Aptos Display" pitchFamily="34" charset="-122"/>
                <a:cs typeface="Aptos Display" pitchFamily="34" charset="-120"/>
              </a:rPr>
              <a:t>Recommend with clarity.</a:t>
            </a:r>
            <a:endParaRPr lang="en-US" sz="3000" dirty="0"/>
          </a:p>
        </p:txBody>
      </p:sp>
      <p:sp>
        <p:nvSpPr>
          <p:cNvPr id="8" name="Text 5"/>
          <p:cNvSpPr/>
          <p:nvPr/>
        </p:nvSpPr>
        <p:spPr>
          <a:xfrm>
            <a:off x="640080" y="2057400"/>
            <a:ext cx="6309360" cy="502920"/>
          </a:xfrm>
          <a:prstGeom prst="rect">
            <a:avLst/>
          </a:prstGeom>
          <a:noFill/>
          <a:ln/>
        </p:spPr>
        <p:txBody>
          <a:bodyPr wrap="square" lIns="0" tIns="0" rIns="0" bIns="0" rtlCol="0" anchor="ctr">
            <a:normAutofit/>
          </a:bodyPr>
          <a:lstStyle/>
          <a:p>
            <a:pPr algn="l" indent="0" marL="0">
              <a:buNone/>
            </a:pPr>
            <a:r>
              <a:rPr lang="en-US" sz="2500" b="1" dirty="0">
                <a:solidFill>
                  <a:srgbClr val="16B8C4"/>
                </a:solidFill>
                <a:latin typeface="Aptos Display" pitchFamily="34" charset="0"/>
                <a:ea typeface="Aptos Display" pitchFamily="34" charset="-122"/>
                <a:cs typeface="Aptos Display" pitchFamily="34" charset="-120"/>
              </a:rPr>
              <a:t>Sell the clinical pathway, not just the machine.</a:t>
            </a:r>
            <a:endParaRPr lang="en-US" sz="2500" dirty="0"/>
          </a:p>
        </p:txBody>
      </p:sp>
      <p:sp>
        <p:nvSpPr>
          <p:cNvPr id="9" name="Text 6"/>
          <p:cNvSpPr/>
          <p:nvPr/>
        </p:nvSpPr>
        <p:spPr>
          <a:xfrm>
            <a:off x="640080" y="2971800"/>
            <a:ext cx="5394960" cy="1097280"/>
          </a:xfrm>
          <a:prstGeom prst="rect">
            <a:avLst/>
          </a:prstGeom>
          <a:noFill/>
          <a:ln/>
        </p:spPr>
        <p:txBody>
          <a:bodyPr wrap="square" lIns="0" tIns="0" rIns="0" bIns="0" rtlCol="0" anchor="t">
            <a:normAutofit/>
          </a:bodyPr>
          <a:lstStyle/>
          <a:p>
            <a:pPr algn="l" indent="0" marL="0">
              <a:buNone/>
            </a:pPr>
            <a:r>
              <a:rPr lang="en-US" sz="1600" dirty="0">
                <a:solidFill>
                  <a:srgbClr val="DCE8F2"/>
                </a:solidFill>
                <a:latin typeface="Aptos" pitchFamily="34" charset="0"/>
                <a:ea typeface="Aptos" pitchFamily="34" charset="-122"/>
                <a:cs typeface="Aptos" pitchFamily="34" charset="-120"/>
              </a:rPr>
              <a:t>CT9 expands the clinic’s everyday capability. HIRO TT adds depth, intensity and a distinctive premium intervention. My job is to connect those capabilities to the right patient, the right workflow and the right business case.</a:t>
            </a:r>
            <a:endParaRPr lang="en-US" sz="1600" dirty="0"/>
          </a:p>
        </p:txBody>
      </p:sp>
      <p:sp>
        <p:nvSpPr>
          <p:cNvPr id="10" name="Shape 7"/>
          <p:cNvSpPr/>
          <p:nvPr/>
        </p:nvSpPr>
        <p:spPr>
          <a:xfrm>
            <a:off x="640080" y="4736592"/>
            <a:ext cx="4754880" cy="0"/>
          </a:xfrm>
          <a:prstGeom prst="line">
            <a:avLst/>
          </a:prstGeom>
          <a:noFill/>
          <a:ln w="16510">
            <a:solidFill>
              <a:srgbClr val="16B8C4"/>
            </a:solidFill>
            <a:prstDash val="solid"/>
          </a:ln>
        </p:spPr>
      </p:sp>
      <p:sp>
        <p:nvSpPr>
          <p:cNvPr id="11" name="Text 8"/>
          <p:cNvSpPr/>
          <p:nvPr/>
        </p:nvSpPr>
        <p:spPr>
          <a:xfrm>
            <a:off x="640080" y="4956048"/>
            <a:ext cx="4389120" cy="228600"/>
          </a:xfrm>
          <a:prstGeom prst="rect">
            <a:avLst/>
          </a:prstGeom>
          <a:noFill/>
          <a:ln/>
        </p:spPr>
        <p:txBody>
          <a:bodyPr wrap="square" lIns="0" tIns="0" rIns="0" bIns="0" rtlCol="0" anchor="ctr">
            <a:normAutofit/>
          </a:bodyPr>
          <a:lstStyle/>
          <a:p>
            <a:pPr algn="l" indent="0" marL="0">
              <a:buNone/>
            </a:pPr>
            <a:r>
              <a:rPr lang="en-US" sz="1200" b="1" dirty="0">
                <a:solidFill>
                  <a:srgbClr val="A8B8C8"/>
                </a:solidFill>
                <a:latin typeface="Aptos" pitchFamily="34" charset="0"/>
                <a:ea typeface="Aptos" pitchFamily="34" charset="-122"/>
                <a:cs typeface="Aptos" pitchFamily="34" charset="-120"/>
              </a:rPr>
              <a:t>My next step with a customer would be simple:</a:t>
            </a:r>
            <a:endParaRPr lang="en-US" sz="1200" dirty="0"/>
          </a:p>
        </p:txBody>
      </p:sp>
      <p:sp>
        <p:nvSpPr>
          <p:cNvPr id="12" name="Text 9"/>
          <p:cNvSpPr/>
          <p:nvPr/>
        </p:nvSpPr>
        <p:spPr>
          <a:xfrm>
            <a:off x="640080" y="5303520"/>
            <a:ext cx="5440680" cy="438912"/>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Aptos" pitchFamily="34" charset="0"/>
                <a:ea typeface="Aptos" pitchFamily="34" charset="-122"/>
                <a:cs typeface="Aptos" pitchFamily="34" charset="-120"/>
              </a:rPr>
              <a:t>identify the priority patient group, demonstrate the fit, and build the business case together.</a:t>
            </a:r>
            <a:endParaRPr lang="en-US" sz="1800" dirty="0"/>
          </a:p>
        </p:txBody>
      </p:sp>
      <p:sp>
        <p:nvSpPr>
          <p:cNvPr id="13" name="Text 10"/>
          <p:cNvSpPr/>
          <p:nvPr/>
        </p:nvSpPr>
        <p:spPr>
          <a:xfrm>
            <a:off x="640080" y="6199632"/>
            <a:ext cx="1828800" cy="228600"/>
          </a:xfrm>
          <a:prstGeom prst="rect">
            <a:avLst/>
          </a:prstGeom>
          <a:noFill/>
          <a:ln/>
        </p:spPr>
        <p:txBody>
          <a:bodyPr wrap="square" lIns="0" tIns="0" rIns="0" bIns="0" rtlCol="0" anchor="ctr">
            <a:normAutofit/>
          </a:bodyPr>
          <a:lstStyle/>
          <a:p>
            <a:pPr algn="l" indent="0" marL="0">
              <a:buNone/>
            </a:pPr>
            <a:r>
              <a:rPr lang="en-US" sz="1200" dirty="0">
                <a:solidFill>
                  <a:srgbClr val="A8B8C8"/>
                </a:solidFill>
                <a:latin typeface="Aptos" pitchFamily="34" charset="0"/>
                <a:ea typeface="Aptos" pitchFamily="34" charset="-122"/>
                <a:cs typeface="Aptos" pitchFamily="34" charset="-120"/>
              </a:rPr>
              <a:t>Thank you.</a:t>
            </a:r>
            <a:endParaRPr lang="en-US" sz="1200" dirty="0"/>
          </a:p>
        </p:txBody>
      </p:sp>
      <p:sp>
        <p:nvSpPr>
          <p:cNvPr id="25" name="Slide Number Placeholder 0"/>
          <p:cNvSpPr>
            <a:spLocks noGrp="1"/>
          </p:cNvSpPr>
          <p:nvPr>
            <p:ph type="sldNum" sz="quarter" idx="4294967295"/>
          </p:nvPr>
        </p:nvSpPr>
        <p:spPr>
          <a:xfrm>
            <a:off x="11841480" y="6492240"/>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785"/>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INDIBA CT9 and ASA Laser HIRO TT Hilterapia</dc:title>
  <dc:subject>Medical device sales interview presentation</dc:subject>
  <dc:creator>OpenAI</dc:creator>
  <cp:lastModifiedBy>OpenAI</cp:lastModifiedBy>
  <cp:revision>1</cp:revision>
  <dcterms:created xsi:type="dcterms:W3CDTF">2026-10-01T17:12:35Z</dcterms:created>
  <dcterms:modified xsi:type="dcterms:W3CDTF">2026-10-01T17:12:35Z</dcterms:modified>
</cp:coreProperties>
</file>